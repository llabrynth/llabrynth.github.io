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1" r:id="rId6"/>
    <p:sldId id="278" r:id="rId7"/>
    <p:sldId id="262" r:id="rId8"/>
    <p:sldId id="264" r:id="rId9"/>
    <p:sldId id="269" r:id="rId10"/>
    <p:sldId id="277" r:id="rId11"/>
    <p:sldId id="272" r:id="rId12"/>
    <p:sldId id="263" r:id="rId13"/>
    <p:sldId id="279" r:id="rId14"/>
    <p:sldId id="273" r:id="rId15"/>
    <p:sldId id="274" r:id="rId16"/>
    <p:sldId id="265" r:id="rId17"/>
    <p:sldId id="267" r:id="rId18"/>
    <p:sldId id="275" r:id="rId19"/>
    <p:sldId id="281" r:id="rId20"/>
    <p:sldId id="280" r:id="rId21"/>
    <p:sldId id="270" r:id="rId22"/>
    <p:sldId id="271" r:id="rId2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48"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236735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RTwP RPG. 생각하는 속도로 진행되는 전투. 발표를 시작합니다.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비전, 문제 정의, 개발 로드맵, 구현 방법, 시연 데모, 그리고 Q&amp;A 순서로 진행합니다.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저는 플레이어가 전략을 고민할 틈을 자동으로 만들어주는 전투를 만들고 싶었습니다. 유닛이 행동을 마치고 다음 명령을 기다리는 순간, 게임이 스스로 멈춥니다. 단순히 빠른 것도 느린 것도 아닌, 생각하는 속도로 진행되는 전투입니다. 실시간의 긴장감과 턴제의 전략성을 동시에 가져가는 것이 목표였습니다.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스타크래프트나 격투게임 같은 실시간 게임은 빠르지만 파티 전체를 동시에 조작하기 버겁고, 턴제는 전술적이지만 템포가 느립니다. 두 장르의 장점만 결합한 게임이 없었고, 그 답이 자동 정지 RTwP입니다. 플레이어가 멈추는 게 아니라 유닛이 멈춥니다.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콘텐츠를 추가하기 전에 코어 파이프라인이 제대로 작동하는지 먼저 검증했습니다. 1스테이지 완성을 첫 마일스톤으로 잡고, 그 이후 캐릭터, 보스, 저장, 폴리싱을 쌓는 방식으로 개발했습니다.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WBS는 시간 순서가 아니라 무엇을 만드는가, 즉 범위 기준으로 분해했습니다. 완료 기준은 산출물이 동작하고 통합 테스트를 통과한 상태입니다. 10개의 상위 작업 패키지 아래 39개 하위 패키지, 총 162개 산출물로 나뉘며 현재 148개를 완료해 약 91% 진척입니다. 전투 엔진, 진행·저장, UI, 씬 흐름, 코어 인프라, 품질 보증은 100% 완료했고, 캐릭터 시스템의 레벨업·스킬 효과, 보스 패턴, 챕터 밸런싱이 남은 작업입니다.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숫자로 요약하면 약 14주간 43개 섹션을 완료했고, 17개의 ADR로 설계 결정을 문서화했으며, 5개의 씬으로 게임이 구성됩니다.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TPS 고정 틱 시뮬레이션이 전투의 심장입니다. SimTick이 매 0.05초마다 모든 유닛의 행동, 판정, AI를 처리하고, 렌더 프레임은 보간으로 부드럽게 표현합니다. 살아있는 파티원 중 명령 대기가 한 명이라도 있으면 정지합니다.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17개의 ADR로 모든 중요한 설계 결정을 문서화했습니다. 특히 별표 표시한 RTwP 전투 방식, 코루틴에서 20 TPS 고정 틱 전환, EventBus 재구독 패턴 세 가지를 질의응답에서 깊이 다룰 준비를 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질의응답 핵심 ADR 세 가지입니다. ADR-0001 RTwP 채택은 전술적 포지셔닝과 실시간 긴장을 동시에 주기 위함이고, 살아있는 파티원이 명령 대기가 되면 자동 정지합니다. ADR-0010은 코루틴이 RTwP 정지와 불일치해 20 TPS 고정 틱으로 전환한 것이고, ADR-0002는 런타임 상태와 정적 데이터를 분리하기 위한 ScriptableObject 아키텍처입니다.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앱 구조입니다. Assets/Scripts 아래 Core, Data, Battle, UI, Audio, VFX, Replay, Tutorial로 책임별 디렉토리를 나눴고, Battle 안의 Tick이 20 TPS 시뮬레이션 엔진입니다. 씬은 MainMenu에서 튜토리얼, ChapterHub, Battle, Ending으로 흐르고 패배 시 Replay로 분기합니다.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Unity 6 URP 기반에 C#으로 개발했고, 데이터는 ScriptableObject, 저장은 Newtonsoft JSON, 입력은 New Input System, 적 이동은 AI NavMesh, 통신은 정적 EventBus를 사용했습니다. 모든 선택은 ADR로 문서화했고, 개발은 Unity MCP·Claude Code·Superpowers·Agent Skills로 AI 페어 프로그래밍 방식으로 진행했으며 Graphy로 성능을 모니터링했습니다.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프로젝트는 AI 페어 프로그래밍으로 개발했고, 네 개의 도구가 핵심이었습니다. Superpowers는 코드 작성 전에 설계와 테스트를 강제하는 개발 방법론이고, Agent Skills는 스펙부터 배포까지 개발 생애주기를 24개 스킬과 8개 슬래시 커맨드로 인코딩한 엔지니어링 스킬팩입니다. Unity MCP는 AI를 유니티 에디터에 직접 연결하는 통로이고, Graphify는 코드·문서·이미지를 읽어 지식 그래프를 만들어 흩어진 자료의 숨은 구조를 드러내는 멀티모달 Claude Code 스킬입니다.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 환경은 Unity 6에 URP 17.3, IDE는 Visual Studio 2022 또는 Rider, OS는 Windows 11입니다. 주요 패키지는 Input System, AI Navigation, Timeline, Newtonsoft JSON, Test Framework입니다. 설치는 git clone 후 Unity Hub에서 프로젝트를 열고 MainMenu 씬을 실행하면 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빌드와 배포 단계입니다. 개발 중에는 Unity 에디터 Play 모드로 즉시 실행하고, 빌드는 Build Settings에서 Windows 타겟으로 exe를 생성합니다. 배포는 빌드 결과물을 압축해 itch.io에 업로드하며, GitHub Actions로 자동 빌드도 고려하고 있습니다.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ScriptableObject, 상태는 MonoBehaviour, 통신은 EventBus. 세 레이어가 분리된 구조입니다. 입력에서 명령, 시뮬, 판정, 이벤트, 데이터 레이어로 이어지며 시뮬 레이어의 틱 엔진이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시행착오입니다. 코루틴 타이머가 일시정지 시 UI와 오디오까지 동결되어 고정 틱으로 전환했고, Animator가 Unity 6에서 수동 모드가 동작하지 않아 직접 샘플링하는 TickSpriteAnimator를 구현했으며, 씬 전환 시 EventBus 리스너가 누적되어 Clear 후 재구독 패턴으로 해결했습니다.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성능 최적화입니다. GC 스파이크를 막기 위해 Queue 기반 오브젝트 풀을 쓰고, 적 AI는 그룹 단위로 전략을 한 번에 계산하며, 애니메이션은 SimTick 단위로만 샘플링합니다. 정렬은 dirty 플래그로 변화 시에만 재정렬하고, 씬 로드는 페이드 중에 처리해 로딩 히칭을 가립니다.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코드 품질 관리입니다. 중요한 설계 결정은 17개 ADR로 문서화하고, 작업 완료마다 WBS를 자동 갱신하며 주차별 보고서를 남깁니다. 인터페이스 기반 설계와 단일 책임 분리를 적용했고, 무엇보다 AI 개발 도구들이 품질을 강제했습니다. Superpowers는 코드 작성 전에 설계와 TDD를 강제해 결함을 사전 차단하고, Agent Skills는 코드 리뷰·보안·단순화 같은 시니어 품질 게이트를 워크플로로 묶습니다. Unity MCP는 에디터에서 컴파일과 검증을 즉시 돌려 오류를 자가 수정하고, Graphify는 코드와 문서를 지식 그래프로 연결해 구조와 의존성을 일관되게 파악합니다.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단위 테스트 결과입니다. EditMode에서 순수 로직을 검증했고, 4개 파일에 24개 케이스가 모두 통과했습니다. 포지셔닝 판정 6개는 배후 1.4배, 측면 1.2배 배율을 검증하고, 데미지 계산 2개는 20 기준 28과 24를 확인합니다. 캐릭터 심화 9개는 전직 조건, 스킬 트리 선행 해금, 상태이상 속성을, 월드 난이도 7개는 레벨 스케일링과 단서 게이지를 검증합니다. 순수 로직은 자동화로 커버하고, RTwP 타이밍과 씬 전환은 수동 플레이로 검증했습니다.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프로젝트는 포트폴리오이자 완성된 게임입니다. RTwP 틱 엔진은 다른 규모의 RPG에도 이식할 수 있고, 무엇보다 복잡한 전투 디버깅과 AI 에이전트 엔지니어링 경험을 다른 프로젝트에도 그대로 적용할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유닛이 멈추면 게임이 멈춥니다. 선딜과 후딜을 계산하는 것이 전략입니다. 감사합니다.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5963900" y="914400"/>
            <a:ext cx="800100" cy="800100"/>
          </a:xfrm>
          <a:prstGeom prst="rect">
            <a:avLst/>
          </a:prstGeom>
          <a:solidFill>
            <a:srgbClr val="D97757"/>
          </a:solidFill>
          <a:ln/>
        </p:spPr>
        <p:txBody>
          <a:bodyPr/>
          <a:lstStyle/>
          <a:p>
            <a:endParaRPr lang="ko-KR" altLang="en-US"/>
          </a:p>
        </p:txBody>
      </p:sp>
      <p:sp>
        <p:nvSpPr>
          <p:cNvPr id="3" name="Shape 1"/>
          <p:cNvSpPr/>
          <p:nvPr/>
        </p:nvSpPr>
        <p:spPr>
          <a:xfrm>
            <a:off x="16249650" y="1238250"/>
            <a:ext cx="800100" cy="800100"/>
          </a:xfrm>
          <a:prstGeom prst="rect">
            <a:avLst/>
          </a:prstGeom>
          <a:ln w="19050">
            <a:solidFill>
              <a:srgbClr val="2E3C55"/>
            </a:solidFill>
            <a:prstDash val="solid"/>
          </a:ln>
        </p:spPr>
        <p:txBody>
          <a:bodyPr/>
          <a:lstStyle/>
          <a:p>
            <a:endParaRPr lang="ko-KR" altLang="en-US"/>
          </a:p>
        </p:txBody>
      </p:sp>
      <p:sp>
        <p:nvSpPr>
          <p:cNvPr id="4" name="Text 2"/>
          <p:cNvSpPr/>
          <p:nvPr/>
        </p:nvSpPr>
        <p:spPr>
          <a:xfrm>
            <a:off x="1524000" y="3487936"/>
            <a:ext cx="16764000" cy="292100"/>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8A9AB8"/>
                </a:solidFill>
                <a:latin typeface="JetBrains Mono" pitchFamily="34" charset="0"/>
                <a:ea typeface="JetBrains Mono" pitchFamily="34" charset="-122"/>
                <a:cs typeface="JetBrains Mono" pitchFamily="34" charset="-120"/>
              </a:rPr>
              <a:t>REAL-TIME WITH PAUSE · RPG</a:t>
            </a:r>
            <a:endParaRPr lang="en-US" sz="1500" dirty="0"/>
          </a:p>
        </p:txBody>
      </p:sp>
      <p:sp>
        <p:nvSpPr>
          <p:cNvPr id="5" name="Text 3"/>
          <p:cNvSpPr/>
          <p:nvPr/>
        </p:nvSpPr>
        <p:spPr>
          <a:xfrm>
            <a:off x="1524000" y="4065786"/>
            <a:ext cx="16764000" cy="1685528"/>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14100" b="1" kern="0" spc="-300" dirty="0">
                <a:solidFill>
                  <a:srgbClr val="F0EADB"/>
                </a:solidFill>
                <a:latin typeface="Noto Sans KR" pitchFamily="34" charset="0"/>
                <a:ea typeface="Noto Sans KR" pitchFamily="34" charset="-122"/>
                <a:cs typeface="Noto Sans KR" pitchFamily="34" charset="-120"/>
              </a:rPr>
              <a:t>RTwP RPG</a:t>
            </a:r>
            <a:endParaRPr lang="en-US" sz="14100" dirty="0"/>
          </a:p>
        </p:txBody>
      </p:sp>
      <p:sp>
        <p:nvSpPr>
          <p:cNvPr id="6" name="Text 4"/>
          <p:cNvSpPr/>
          <p:nvPr/>
        </p:nvSpPr>
        <p:spPr>
          <a:xfrm>
            <a:off x="1524000" y="6056114"/>
            <a:ext cx="16764000" cy="781050"/>
          </a:xfrm>
          <a:prstGeom prst="rect">
            <a:avLst/>
          </a:prstGeom>
          <a:noFill/>
          <a:ln/>
        </p:spPr>
        <p:txBody>
          <a:bodyPr wrap="square" lIns="25400" tIns="25400" rIns="25400" bIns="25400" rtlCol="0" anchor="t">
            <a:normAutofit/>
          </a:bodyPr>
          <a:lstStyle/>
          <a:p>
            <a:pPr marL="0" indent="0" algn="l">
              <a:buNone/>
            </a:pPr>
            <a:r>
              <a:rPr lang="ko-KR" altLang="en-US" sz="4050" b="1" kern="0" spc="-75" dirty="0">
                <a:solidFill>
                  <a:srgbClr val="D97757"/>
                </a:solidFill>
                <a:latin typeface="Noto Sans KR" pitchFamily="34" charset="0"/>
                <a:ea typeface="Noto Sans KR" pitchFamily="34" charset="-122"/>
                <a:cs typeface="Noto Sans KR" pitchFamily="34" charset="-120"/>
              </a:rPr>
              <a:t>전투와 조작의 이원화</a:t>
            </a:r>
            <a:endParaRPr lang="en-US" sz="4050" dirty="0"/>
          </a:p>
        </p:txBody>
      </p:sp>
      <p:sp>
        <p:nvSpPr>
          <p:cNvPr id="7" name="Text 5"/>
          <p:cNvSpPr/>
          <p:nvPr/>
        </p:nvSpPr>
        <p:spPr>
          <a:xfrm>
            <a:off x="1524000" y="9118600"/>
            <a:ext cx="1257300" cy="292100"/>
          </a:xfrm>
          <a:prstGeom prst="rect">
            <a:avLst/>
          </a:prstGeom>
          <a:noFill/>
          <a:ln/>
        </p:spPr>
        <p:txBody>
          <a:bodyPr wrap="square" lIns="25400" tIns="25400" rIns="25400" bIns="25400" rtlCol="0" anchor="t">
            <a:normAutofit/>
          </a:bodyPr>
          <a:lstStyle/>
          <a:p>
            <a:pPr marL="0" indent="0" algn="l">
              <a:buNone/>
            </a:pPr>
            <a:r>
              <a:rPr lang="en-US" sz="1500" dirty="0" err="1">
                <a:solidFill>
                  <a:srgbClr val="8A9AB8"/>
                </a:solidFill>
                <a:latin typeface="JetBrains Mono" pitchFamily="34" charset="0"/>
                <a:ea typeface="JetBrains Mono" pitchFamily="34" charset="-122"/>
                <a:cs typeface="JetBrains Mono" pitchFamily="34" charset="-120"/>
              </a:rPr>
              <a:t>발표자</a:t>
            </a:r>
            <a:r>
              <a:rPr lang="en-US" sz="1500" dirty="0">
                <a:solidFill>
                  <a:srgbClr val="8A9AB8"/>
                </a:solidFill>
                <a:latin typeface="JetBrains Mono" pitchFamily="34" charset="0"/>
                <a:ea typeface="JetBrains Mono" pitchFamily="34" charset="-122"/>
                <a:cs typeface="JetBrains Mono" pitchFamily="34" charset="-120"/>
              </a:rPr>
              <a:t> </a:t>
            </a:r>
            <a:r>
              <a:rPr lang="ko-KR" altLang="en-US" sz="1500" dirty="0">
                <a:solidFill>
                  <a:srgbClr val="F0EADB"/>
                </a:solidFill>
                <a:latin typeface="JetBrains Mono" pitchFamily="34" charset="0"/>
                <a:ea typeface="JetBrains Mono" pitchFamily="34" charset="-122"/>
                <a:cs typeface="JetBrains Mono" pitchFamily="34" charset="-120"/>
              </a:rPr>
              <a:t>유창완</a:t>
            </a:r>
            <a:endParaRPr lang="en-US" sz="1500" dirty="0"/>
          </a:p>
        </p:txBody>
      </p:sp>
      <p:sp>
        <p:nvSpPr>
          <p:cNvPr id="8" name="Text 6"/>
          <p:cNvSpPr/>
          <p:nvPr/>
        </p:nvSpPr>
        <p:spPr>
          <a:xfrm>
            <a:off x="3162300" y="9118600"/>
            <a:ext cx="190500" cy="292100"/>
          </a:xfrm>
          <a:prstGeom prst="rect">
            <a:avLst/>
          </a:prstGeom>
          <a:noFill/>
          <a:ln/>
        </p:spPr>
        <p:txBody>
          <a:bodyPr wrap="square" lIns="25400" tIns="25400" rIns="25400" bIns="25400" rtlCol="0" anchor="t">
            <a:normAutofit/>
          </a:bodyPr>
          <a:lstStyle/>
          <a:p>
            <a:pPr marL="0" indent="0" algn="l">
              <a:buNone/>
            </a:pPr>
            <a:r>
              <a:rPr lang="en-US" sz="1500" dirty="0">
                <a:solidFill>
                  <a:srgbClr val="2E3C55"/>
                </a:solidFill>
                <a:latin typeface="JetBrains Mono" pitchFamily="34" charset="0"/>
                <a:ea typeface="JetBrains Mono" pitchFamily="34" charset="-122"/>
                <a:cs typeface="JetBrains Mono" pitchFamily="34" charset="-120"/>
              </a:rPr>
              <a:t>|</a:t>
            </a:r>
            <a:endParaRPr lang="en-US" sz="1500" dirty="0"/>
          </a:p>
        </p:txBody>
      </p:sp>
      <p:sp>
        <p:nvSpPr>
          <p:cNvPr id="9" name="Text 7"/>
          <p:cNvSpPr/>
          <p:nvPr/>
        </p:nvSpPr>
        <p:spPr>
          <a:xfrm>
            <a:off x="3733800" y="9118600"/>
            <a:ext cx="1219200" cy="292100"/>
          </a:xfrm>
          <a:prstGeom prst="rect">
            <a:avLst/>
          </a:prstGeom>
          <a:noFill/>
          <a:ln/>
        </p:spPr>
        <p:txBody>
          <a:bodyPr wrap="square" lIns="25400" tIns="25400" rIns="25400" bIns="25400" rtlCol="0" anchor="t">
            <a:normAutofit/>
          </a:bodyPr>
          <a:lstStyle/>
          <a:p>
            <a:pPr marL="0" indent="0" algn="l">
              <a:buNone/>
            </a:pPr>
            <a:r>
              <a:rPr lang="en-US" sz="1500" dirty="0">
                <a:solidFill>
                  <a:srgbClr val="8A9AB8"/>
                </a:solidFill>
                <a:latin typeface="JetBrains Mono" pitchFamily="34" charset="0"/>
                <a:ea typeface="JetBrains Mono" pitchFamily="34" charset="-122"/>
                <a:cs typeface="JetBrains Mono" pitchFamily="34" charset="-120"/>
              </a:rPr>
              <a:t>2026·06·21</a:t>
            </a:r>
            <a:endParaRPr lang="en-US" sz="1500" dirty="0"/>
          </a:p>
        </p:txBody>
      </p:sp>
      <p:sp>
        <p:nvSpPr>
          <p:cNvPr id="10" name="Text 8"/>
          <p:cNvSpPr/>
          <p:nvPr/>
        </p:nvSpPr>
        <p:spPr>
          <a:xfrm>
            <a:off x="5334000" y="9118600"/>
            <a:ext cx="190500" cy="292100"/>
          </a:xfrm>
          <a:prstGeom prst="rect">
            <a:avLst/>
          </a:prstGeom>
          <a:noFill/>
          <a:ln/>
        </p:spPr>
        <p:txBody>
          <a:bodyPr wrap="square" lIns="25400" tIns="25400" rIns="25400" bIns="25400" rtlCol="0" anchor="t">
            <a:normAutofit/>
          </a:bodyPr>
          <a:lstStyle/>
          <a:p>
            <a:pPr marL="0" indent="0" algn="l">
              <a:buNone/>
            </a:pPr>
            <a:r>
              <a:rPr lang="en-US" sz="1500" dirty="0">
                <a:solidFill>
                  <a:srgbClr val="2E3C55"/>
                </a:solidFill>
                <a:latin typeface="JetBrains Mono" pitchFamily="34" charset="0"/>
                <a:ea typeface="JetBrains Mono" pitchFamily="34" charset="-122"/>
                <a:cs typeface="JetBrains Mono" pitchFamily="34" charset="-120"/>
              </a:rPr>
              <a:t>|</a:t>
            </a:r>
            <a:endParaRPr lang="en-US" sz="1500" dirty="0"/>
          </a:p>
        </p:txBody>
      </p:sp>
      <p:sp>
        <p:nvSpPr>
          <p:cNvPr id="11" name="Text 9"/>
          <p:cNvSpPr/>
          <p:nvPr/>
        </p:nvSpPr>
        <p:spPr>
          <a:xfrm>
            <a:off x="5905500" y="9118600"/>
            <a:ext cx="3646170" cy="292100"/>
          </a:xfrm>
          <a:prstGeom prst="rect">
            <a:avLst/>
          </a:prstGeom>
          <a:noFill/>
          <a:ln/>
        </p:spPr>
        <p:txBody>
          <a:bodyPr wrap="square" lIns="25400" tIns="25400" rIns="25400" bIns="25400" rtlCol="0" anchor="t">
            <a:normAutofit/>
          </a:bodyPr>
          <a:lstStyle/>
          <a:p>
            <a:pPr marL="0" indent="0" algn="l">
              <a:buNone/>
            </a:pPr>
            <a:r>
              <a:rPr lang="en-US" sz="1500" dirty="0">
                <a:solidFill>
                  <a:srgbClr val="79B8FF"/>
                </a:solidFill>
                <a:latin typeface="JetBrains Mono" pitchFamily="34" charset="0"/>
                <a:ea typeface="JetBrains Mono" pitchFamily="34" charset="-122"/>
                <a:cs typeface="JetBrains Mono" pitchFamily="34" charset="-120"/>
              </a:rPr>
              <a:t>github.com/llabrynth/RTwP_RPG</a:t>
            </a:r>
            <a:endParaRPr lang="en-US" sz="1500" dirty="0"/>
          </a:p>
        </p:txBody>
      </p:sp>
      <p:sp>
        <p:nvSpPr>
          <p:cNvPr id="12" name="Shape 10"/>
          <p:cNvSpPr/>
          <p:nvPr/>
        </p:nvSpPr>
        <p:spPr>
          <a:xfrm>
            <a:off x="0" y="10229850"/>
            <a:ext cx="18288000" cy="57150"/>
          </a:xfrm>
          <a:prstGeom prst="rect">
            <a:avLst/>
          </a:prstGeom>
          <a:solidFill>
            <a:srgbClr val="D97757">
              <a:alpha val="40000"/>
            </a:srgbClr>
          </a:solidFill>
          <a:ln/>
        </p:spPr>
        <p:txBody>
          <a:bodyPr/>
          <a:lstStyle/>
          <a:p>
            <a:endParaRPr lang="ko-KR"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02 / 16</a:t>
            </a:r>
            <a:endParaRPr lang="en-US" sz="1350" dirty="0"/>
          </a:p>
        </p:txBody>
      </p:sp>
      <p:sp>
        <p:nvSpPr>
          <p:cNvPr id="3" name="Text 1"/>
          <p:cNvSpPr/>
          <p:nvPr/>
        </p:nvSpPr>
        <p:spPr>
          <a:xfrm>
            <a:off x="8638183" y="609600"/>
            <a:ext cx="975420"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CONTENTS</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95400"/>
            <a:ext cx="18105120" cy="628650"/>
          </a:xfrm>
          <a:prstGeom prst="rect">
            <a:avLst/>
          </a:prstGeom>
          <a:noFill/>
          <a:ln/>
        </p:spPr>
        <p:txBody>
          <a:bodyPr wrap="square" lIns="25400" tIns="25400" rIns="25400" bIns="25400" rtlCol="0" anchor="t">
            <a:normAutofit lnSpcReduction="10000"/>
          </a:bodyPr>
          <a:lstStyle/>
          <a:p>
            <a:pPr marL="0" indent="0" algn="l">
              <a:buNone/>
            </a:pPr>
            <a:r>
              <a:rPr lang="en-US" sz="3900" b="1" kern="0" spc="-75" dirty="0">
                <a:solidFill>
                  <a:srgbClr val="F0EADB"/>
                </a:solidFill>
                <a:latin typeface="Noto Sans KR" pitchFamily="34" charset="0"/>
                <a:ea typeface="Noto Sans KR" pitchFamily="34" charset="-122"/>
                <a:cs typeface="Noto Sans KR" pitchFamily="34" charset="-120"/>
              </a:rPr>
              <a:t>목차</a:t>
            </a:r>
            <a:endParaRPr lang="en-US" sz="3900" dirty="0"/>
          </a:p>
        </p:txBody>
      </p:sp>
      <p:sp>
        <p:nvSpPr>
          <p:cNvPr id="6" name="Shape 4"/>
          <p:cNvSpPr/>
          <p:nvPr/>
        </p:nvSpPr>
        <p:spPr>
          <a:xfrm>
            <a:off x="914400" y="2266950"/>
            <a:ext cx="8096250" cy="2187575"/>
          </a:xfrm>
          <a:prstGeom prst="roundRect">
            <a:avLst>
              <a:gd name="adj" fmla="val 2612"/>
            </a:avLst>
          </a:prstGeom>
          <a:solidFill>
            <a:srgbClr val="1A2236"/>
          </a:solidFill>
          <a:ln/>
        </p:spPr>
        <p:txBody>
          <a:bodyPr/>
          <a:lstStyle/>
          <a:p>
            <a:endParaRPr lang="ko-KR" altLang="en-US"/>
          </a:p>
        </p:txBody>
      </p:sp>
      <p:sp>
        <p:nvSpPr>
          <p:cNvPr id="7" name="Shape 5"/>
          <p:cNvSpPr/>
          <p:nvPr/>
        </p:nvSpPr>
        <p:spPr>
          <a:xfrm>
            <a:off x="914400" y="2266950"/>
            <a:ext cx="8096250" cy="25400"/>
          </a:xfrm>
          <a:prstGeom prst="rect">
            <a:avLst/>
          </a:prstGeom>
          <a:solidFill>
            <a:srgbClr val="D97757"/>
          </a:solidFill>
          <a:ln/>
        </p:spPr>
        <p:txBody>
          <a:bodyPr/>
          <a:lstStyle/>
          <a:p>
            <a:endParaRPr lang="ko-KR" altLang="en-US"/>
          </a:p>
        </p:txBody>
      </p:sp>
      <p:sp>
        <p:nvSpPr>
          <p:cNvPr id="8" name="Text 6"/>
          <p:cNvSpPr/>
          <p:nvPr/>
        </p:nvSpPr>
        <p:spPr>
          <a:xfrm>
            <a:off x="1333500" y="3046413"/>
            <a:ext cx="670620" cy="692150"/>
          </a:xfrm>
          <a:prstGeom prst="rect">
            <a:avLst/>
          </a:prstGeom>
          <a:noFill/>
          <a:ln/>
        </p:spPr>
        <p:txBody>
          <a:bodyPr wrap="square" lIns="25400" tIns="25400" rIns="25400" bIns="25400" rtlCol="0" anchor="t">
            <a:normAutofit/>
          </a:bodyPr>
          <a:lstStyle/>
          <a:p>
            <a:pPr marL="0" indent="0" algn="l">
              <a:buNone/>
            </a:pPr>
            <a:r>
              <a:rPr lang="en-US" sz="3900" b="1" dirty="0">
                <a:solidFill>
                  <a:srgbClr val="D97757"/>
                </a:solidFill>
                <a:latin typeface="JetBrains Mono" pitchFamily="34" charset="0"/>
                <a:ea typeface="JetBrains Mono" pitchFamily="34" charset="-122"/>
                <a:cs typeface="JetBrains Mono" pitchFamily="34" charset="-120"/>
              </a:rPr>
              <a:t>01</a:t>
            </a:r>
            <a:endParaRPr lang="en-US" sz="3900" dirty="0"/>
          </a:p>
        </p:txBody>
      </p:sp>
      <p:sp>
        <p:nvSpPr>
          <p:cNvPr id="9" name="Text 7"/>
          <p:cNvSpPr/>
          <p:nvPr/>
        </p:nvSpPr>
        <p:spPr>
          <a:xfrm>
            <a:off x="2232720" y="3036888"/>
            <a:ext cx="693440" cy="42545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0EADB"/>
                </a:solidFill>
                <a:latin typeface="Noto Sans KR" pitchFamily="34" charset="0"/>
                <a:ea typeface="Noto Sans KR" pitchFamily="34" charset="-122"/>
                <a:cs typeface="Noto Sans KR" pitchFamily="34" charset="-120"/>
              </a:rPr>
              <a:t>비전</a:t>
            </a:r>
            <a:endParaRPr lang="en-US" sz="2550" dirty="0"/>
          </a:p>
        </p:txBody>
      </p:sp>
      <p:sp>
        <p:nvSpPr>
          <p:cNvPr id="10" name="Text 8"/>
          <p:cNvSpPr/>
          <p:nvPr/>
        </p:nvSpPr>
        <p:spPr>
          <a:xfrm>
            <a:off x="2232720" y="3481388"/>
            <a:ext cx="69344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JetBrains Mono" pitchFamily="34" charset="0"/>
                <a:ea typeface="JetBrains Mono" pitchFamily="34" charset="-122"/>
                <a:cs typeface="JetBrains Mono" pitchFamily="34" charset="-120"/>
              </a:rPr>
              <a:t>Vision</a:t>
            </a:r>
            <a:endParaRPr lang="en-US" sz="1350" dirty="0"/>
          </a:p>
        </p:txBody>
      </p:sp>
      <p:sp>
        <p:nvSpPr>
          <p:cNvPr id="11" name="Shape 9"/>
          <p:cNvSpPr/>
          <p:nvPr/>
        </p:nvSpPr>
        <p:spPr>
          <a:xfrm>
            <a:off x="9277350" y="2266950"/>
            <a:ext cx="8096250" cy="2187575"/>
          </a:xfrm>
          <a:prstGeom prst="roundRect">
            <a:avLst>
              <a:gd name="adj" fmla="val 2612"/>
            </a:avLst>
          </a:prstGeom>
          <a:solidFill>
            <a:srgbClr val="1A2236"/>
          </a:solidFill>
          <a:ln/>
        </p:spPr>
        <p:txBody>
          <a:bodyPr/>
          <a:lstStyle/>
          <a:p>
            <a:endParaRPr lang="ko-KR" altLang="en-US"/>
          </a:p>
        </p:txBody>
      </p:sp>
      <p:sp>
        <p:nvSpPr>
          <p:cNvPr id="12" name="Shape 10"/>
          <p:cNvSpPr/>
          <p:nvPr/>
        </p:nvSpPr>
        <p:spPr>
          <a:xfrm>
            <a:off x="9277350" y="2266950"/>
            <a:ext cx="8096250" cy="25400"/>
          </a:xfrm>
          <a:prstGeom prst="rect">
            <a:avLst/>
          </a:prstGeom>
          <a:solidFill>
            <a:srgbClr val="D97757"/>
          </a:solidFill>
          <a:ln/>
        </p:spPr>
        <p:txBody>
          <a:bodyPr/>
          <a:lstStyle/>
          <a:p>
            <a:endParaRPr lang="ko-KR" altLang="en-US"/>
          </a:p>
        </p:txBody>
      </p:sp>
      <p:sp>
        <p:nvSpPr>
          <p:cNvPr id="13" name="Text 11"/>
          <p:cNvSpPr/>
          <p:nvPr/>
        </p:nvSpPr>
        <p:spPr>
          <a:xfrm>
            <a:off x="9696450" y="3046413"/>
            <a:ext cx="670620" cy="692150"/>
          </a:xfrm>
          <a:prstGeom prst="rect">
            <a:avLst/>
          </a:prstGeom>
          <a:noFill/>
          <a:ln/>
        </p:spPr>
        <p:txBody>
          <a:bodyPr wrap="square" lIns="25400" tIns="25400" rIns="25400" bIns="25400" rtlCol="0" anchor="t">
            <a:normAutofit/>
          </a:bodyPr>
          <a:lstStyle/>
          <a:p>
            <a:pPr marL="0" indent="0" algn="l">
              <a:buNone/>
            </a:pPr>
            <a:r>
              <a:rPr lang="en-US" sz="3900" b="1" dirty="0">
                <a:solidFill>
                  <a:srgbClr val="D97757"/>
                </a:solidFill>
                <a:latin typeface="JetBrains Mono" pitchFamily="34" charset="0"/>
                <a:ea typeface="JetBrains Mono" pitchFamily="34" charset="-122"/>
                <a:cs typeface="JetBrains Mono" pitchFamily="34" charset="-120"/>
              </a:rPr>
              <a:t>02</a:t>
            </a:r>
            <a:endParaRPr lang="en-US" sz="3900" dirty="0"/>
          </a:p>
        </p:txBody>
      </p:sp>
      <p:sp>
        <p:nvSpPr>
          <p:cNvPr id="14" name="Text 12"/>
          <p:cNvSpPr/>
          <p:nvPr/>
        </p:nvSpPr>
        <p:spPr>
          <a:xfrm>
            <a:off x="10595670" y="3036888"/>
            <a:ext cx="1962090" cy="42545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0EADB"/>
                </a:solidFill>
                <a:latin typeface="Noto Sans KR" pitchFamily="34" charset="0"/>
                <a:ea typeface="Noto Sans KR" pitchFamily="34" charset="-122"/>
                <a:cs typeface="Noto Sans KR" pitchFamily="34" charset="-120"/>
              </a:rPr>
              <a:t>문제 정의</a:t>
            </a:r>
            <a:endParaRPr lang="en-US" sz="2550" dirty="0"/>
          </a:p>
        </p:txBody>
      </p:sp>
      <p:sp>
        <p:nvSpPr>
          <p:cNvPr id="15" name="Text 13"/>
          <p:cNvSpPr/>
          <p:nvPr/>
        </p:nvSpPr>
        <p:spPr>
          <a:xfrm>
            <a:off x="10595670" y="3481388"/>
            <a:ext cx="1313835" cy="26670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JetBrains Mono" pitchFamily="34" charset="0"/>
                <a:ea typeface="JetBrains Mono" pitchFamily="34" charset="-122"/>
                <a:cs typeface="JetBrains Mono" pitchFamily="34" charset="-120"/>
              </a:rPr>
              <a:t>The Problem</a:t>
            </a:r>
            <a:endParaRPr lang="en-US" sz="1350" dirty="0"/>
          </a:p>
        </p:txBody>
      </p:sp>
      <p:sp>
        <p:nvSpPr>
          <p:cNvPr id="16" name="Shape 14"/>
          <p:cNvSpPr/>
          <p:nvPr/>
        </p:nvSpPr>
        <p:spPr>
          <a:xfrm>
            <a:off x="914400" y="4721225"/>
            <a:ext cx="8096250" cy="2187575"/>
          </a:xfrm>
          <a:prstGeom prst="roundRect">
            <a:avLst>
              <a:gd name="adj" fmla="val 2612"/>
            </a:avLst>
          </a:prstGeom>
          <a:solidFill>
            <a:srgbClr val="1A2236"/>
          </a:solidFill>
          <a:ln/>
        </p:spPr>
        <p:txBody>
          <a:bodyPr/>
          <a:lstStyle/>
          <a:p>
            <a:endParaRPr lang="ko-KR" altLang="en-US"/>
          </a:p>
        </p:txBody>
      </p:sp>
      <p:sp>
        <p:nvSpPr>
          <p:cNvPr id="17" name="Shape 15"/>
          <p:cNvSpPr/>
          <p:nvPr/>
        </p:nvSpPr>
        <p:spPr>
          <a:xfrm>
            <a:off x="914400" y="4721225"/>
            <a:ext cx="8096250" cy="25400"/>
          </a:xfrm>
          <a:prstGeom prst="rect">
            <a:avLst/>
          </a:prstGeom>
          <a:solidFill>
            <a:srgbClr val="D97757"/>
          </a:solidFill>
          <a:ln/>
        </p:spPr>
        <p:txBody>
          <a:bodyPr/>
          <a:lstStyle/>
          <a:p>
            <a:endParaRPr lang="ko-KR" altLang="en-US"/>
          </a:p>
        </p:txBody>
      </p:sp>
      <p:sp>
        <p:nvSpPr>
          <p:cNvPr id="18" name="Text 16"/>
          <p:cNvSpPr/>
          <p:nvPr/>
        </p:nvSpPr>
        <p:spPr>
          <a:xfrm>
            <a:off x="1333500" y="5500688"/>
            <a:ext cx="670620" cy="692150"/>
          </a:xfrm>
          <a:prstGeom prst="rect">
            <a:avLst/>
          </a:prstGeom>
          <a:noFill/>
          <a:ln/>
        </p:spPr>
        <p:txBody>
          <a:bodyPr wrap="square" lIns="25400" tIns="25400" rIns="25400" bIns="25400" rtlCol="0" anchor="t">
            <a:normAutofit/>
          </a:bodyPr>
          <a:lstStyle/>
          <a:p>
            <a:pPr marL="0" indent="0" algn="l">
              <a:buNone/>
            </a:pPr>
            <a:r>
              <a:rPr lang="en-US" sz="3900" b="1" dirty="0">
                <a:solidFill>
                  <a:srgbClr val="D97757"/>
                </a:solidFill>
                <a:latin typeface="JetBrains Mono" pitchFamily="34" charset="0"/>
                <a:ea typeface="JetBrains Mono" pitchFamily="34" charset="-122"/>
                <a:cs typeface="JetBrains Mono" pitchFamily="34" charset="-120"/>
              </a:rPr>
              <a:t>03</a:t>
            </a:r>
            <a:endParaRPr lang="en-US" sz="3900" dirty="0"/>
          </a:p>
        </p:txBody>
      </p:sp>
      <p:sp>
        <p:nvSpPr>
          <p:cNvPr id="19" name="Text 17"/>
          <p:cNvSpPr/>
          <p:nvPr/>
        </p:nvSpPr>
        <p:spPr>
          <a:xfrm>
            <a:off x="2232720" y="5491163"/>
            <a:ext cx="2705040" cy="42545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0EADB"/>
                </a:solidFill>
                <a:latin typeface="Noto Sans KR" pitchFamily="34" charset="0"/>
                <a:ea typeface="Noto Sans KR" pitchFamily="34" charset="-122"/>
                <a:cs typeface="Noto Sans KR" pitchFamily="34" charset="-120"/>
              </a:rPr>
              <a:t>개발 로드맵</a:t>
            </a:r>
            <a:endParaRPr lang="en-US" sz="2550" dirty="0"/>
          </a:p>
        </p:txBody>
      </p:sp>
      <p:sp>
        <p:nvSpPr>
          <p:cNvPr id="20" name="Text 18"/>
          <p:cNvSpPr/>
          <p:nvPr/>
        </p:nvSpPr>
        <p:spPr>
          <a:xfrm>
            <a:off x="2232720" y="5935663"/>
            <a:ext cx="1621721" cy="26670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JetBrains Mono" pitchFamily="34" charset="0"/>
                <a:ea typeface="JetBrains Mono" pitchFamily="34" charset="-122"/>
                <a:cs typeface="JetBrains Mono" pitchFamily="34" charset="-120"/>
              </a:rPr>
              <a:t>Roadmap</a:t>
            </a:r>
            <a:endParaRPr lang="en-US" sz="1350" dirty="0"/>
          </a:p>
        </p:txBody>
      </p:sp>
      <p:sp>
        <p:nvSpPr>
          <p:cNvPr id="21" name="Shape 19"/>
          <p:cNvSpPr/>
          <p:nvPr/>
        </p:nvSpPr>
        <p:spPr>
          <a:xfrm>
            <a:off x="9277350" y="4721225"/>
            <a:ext cx="8096250" cy="2187575"/>
          </a:xfrm>
          <a:prstGeom prst="roundRect">
            <a:avLst>
              <a:gd name="adj" fmla="val 2612"/>
            </a:avLst>
          </a:prstGeom>
          <a:solidFill>
            <a:srgbClr val="1A2236"/>
          </a:solidFill>
          <a:ln/>
        </p:spPr>
        <p:txBody>
          <a:bodyPr/>
          <a:lstStyle/>
          <a:p>
            <a:endParaRPr lang="ko-KR" altLang="en-US"/>
          </a:p>
        </p:txBody>
      </p:sp>
      <p:sp>
        <p:nvSpPr>
          <p:cNvPr id="22" name="Shape 20"/>
          <p:cNvSpPr/>
          <p:nvPr/>
        </p:nvSpPr>
        <p:spPr>
          <a:xfrm>
            <a:off x="9277350" y="4721225"/>
            <a:ext cx="8096250" cy="25400"/>
          </a:xfrm>
          <a:prstGeom prst="rect">
            <a:avLst/>
          </a:prstGeom>
          <a:solidFill>
            <a:srgbClr val="D97757"/>
          </a:solidFill>
          <a:ln/>
        </p:spPr>
        <p:txBody>
          <a:bodyPr/>
          <a:lstStyle/>
          <a:p>
            <a:endParaRPr lang="ko-KR" altLang="en-US"/>
          </a:p>
        </p:txBody>
      </p:sp>
      <p:sp>
        <p:nvSpPr>
          <p:cNvPr id="23" name="Text 21"/>
          <p:cNvSpPr/>
          <p:nvPr/>
        </p:nvSpPr>
        <p:spPr>
          <a:xfrm>
            <a:off x="9696450" y="5500688"/>
            <a:ext cx="670620" cy="692150"/>
          </a:xfrm>
          <a:prstGeom prst="rect">
            <a:avLst/>
          </a:prstGeom>
          <a:noFill/>
          <a:ln/>
        </p:spPr>
        <p:txBody>
          <a:bodyPr wrap="square" lIns="25400" tIns="25400" rIns="25400" bIns="25400" rtlCol="0" anchor="t">
            <a:normAutofit/>
          </a:bodyPr>
          <a:lstStyle/>
          <a:p>
            <a:pPr marL="0" indent="0" algn="l">
              <a:buNone/>
            </a:pPr>
            <a:r>
              <a:rPr lang="en-US" sz="3900" b="1" dirty="0">
                <a:solidFill>
                  <a:srgbClr val="D97757"/>
                </a:solidFill>
                <a:latin typeface="JetBrains Mono" pitchFamily="34" charset="0"/>
                <a:ea typeface="JetBrains Mono" pitchFamily="34" charset="-122"/>
                <a:cs typeface="JetBrains Mono" pitchFamily="34" charset="-120"/>
              </a:rPr>
              <a:t>04</a:t>
            </a:r>
            <a:endParaRPr lang="en-US" sz="3900" dirty="0"/>
          </a:p>
        </p:txBody>
      </p:sp>
      <p:sp>
        <p:nvSpPr>
          <p:cNvPr id="24" name="Text 22"/>
          <p:cNvSpPr/>
          <p:nvPr/>
        </p:nvSpPr>
        <p:spPr>
          <a:xfrm>
            <a:off x="10595670" y="5491163"/>
            <a:ext cx="1584285" cy="425450"/>
          </a:xfrm>
          <a:prstGeom prst="rect">
            <a:avLst/>
          </a:prstGeom>
          <a:noFill/>
          <a:ln/>
        </p:spPr>
        <p:txBody>
          <a:bodyPr wrap="square" lIns="25400" tIns="25400" rIns="25400" bIns="25400" rtlCol="0" anchor="t">
            <a:normAutofit lnSpcReduction="10000"/>
          </a:bodyPr>
          <a:lstStyle/>
          <a:p>
            <a:pPr marL="0" indent="0" algn="l">
              <a:buNone/>
            </a:pPr>
            <a:r>
              <a:rPr lang="en-US" sz="2550" b="1" dirty="0" err="1">
                <a:solidFill>
                  <a:srgbClr val="F0EADB"/>
                </a:solidFill>
                <a:latin typeface="Noto Sans KR" pitchFamily="34" charset="0"/>
                <a:ea typeface="Noto Sans KR" pitchFamily="34" charset="-122"/>
                <a:cs typeface="Noto Sans KR" pitchFamily="34" charset="-120"/>
              </a:rPr>
              <a:t>구현</a:t>
            </a:r>
            <a:r>
              <a:rPr lang="en-US" sz="2550" b="1" dirty="0">
                <a:solidFill>
                  <a:srgbClr val="F0EADB"/>
                </a:solidFill>
                <a:latin typeface="Noto Sans KR" pitchFamily="34" charset="0"/>
                <a:ea typeface="Noto Sans KR" pitchFamily="34" charset="-122"/>
                <a:cs typeface="Noto Sans KR" pitchFamily="34" charset="-120"/>
              </a:rPr>
              <a:t> </a:t>
            </a:r>
            <a:r>
              <a:rPr lang="ko-KR" altLang="en-US" sz="2550" b="1" dirty="0">
                <a:solidFill>
                  <a:srgbClr val="F0EADB"/>
                </a:solidFill>
                <a:latin typeface="Noto Sans KR" pitchFamily="34" charset="0"/>
                <a:ea typeface="Noto Sans KR" pitchFamily="34" charset="-122"/>
                <a:cs typeface="Noto Sans KR" pitchFamily="34" charset="-120"/>
              </a:rPr>
              <a:t>과정</a:t>
            </a:r>
            <a:endParaRPr lang="en-US" sz="2550" dirty="0"/>
          </a:p>
        </p:txBody>
      </p:sp>
      <p:sp>
        <p:nvSpPr>
          <p:cNvPr id="25" name="Text 23"/>
          <p:cNvSpPr/>
          <p:nvPr/>
        </p:nvSpPr>
        <p:spPr>
          <a:xfrm>
            <a:off x="10595670" y="5935663"/>
            <a:ext cx="1584285" cy="26670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JetBrains Mono" pitchFamily="34" charset="0"/>
                <a:ea typeface="JetBrains Mono" pitchFamily="34" charset="-122"/>
                <a:cs typeface="JetBrains Mono" pitchFamily="34" charset="-120"/>
              </a:rPr>
              <a:t>Implementation</a:t>
            </a:r>
            <a:endParaRPr lang="en-US" sz="1350" dirty="0"/>
          </a:p>
        </p:txBody>
      </p:sp>
      <p:sp>
        <p:nvSpPr>
          <p:cNvPr id="26" name="Shape 24"/>
          <p:cNvSpPr/>
          <p:nvPr/>
        </p:nvSpPr>
        <p:spPr>
          <a:xfrm>
            <a:off x="914400" y="7175500"/>
            <a:ext cx="8096250" cy="2187575"/>
          </a:xfrm>
          <a:prstGeom prst="roundRect">
            <a:avLst>
              <a:gd name="adj" fmla="val 2612"/>
            </a:avLst>
          </a:prstGeom>
          <a:solidFill>
            <a:srgbClr val="1A2236"/>
          </a:solidFill>
          <a:ln/>
        </p:spPr>
        <p:txBody>
          <a:bodyPr/>
          <a:lstStyle/>
          <a:p>
            <a:endParaRPr lang="ko-KR" altLang="en-US"/>
          </a:p>
        </p:txBody>
      </p:sp>
      <p:sp>
        <p:nvSpPr>
          <p:cNvPr id="27" name="Shape 25"/>
          <p:cNvSpPr/>
          <p:nvPr/>
        </p:nvSpPr>
        <p:spPr>
          <a:xfrm>
            <a:off x="914400" y="7175500"/>
            <a:ext cx="8096250" cy="25400"/>
          </a:xfrm>
          <a:prstGeom prst="rect">
            <a:avLst/>
          </a:prstGeom>
          <a:solidFill>
            <a:srgbClr val="D97757"/>
          </a:solidFill>
          <a:ln/>
        </p:spPr>
        <p:txBody>
          <a:bodyPr/>
          <a:lstStyle/>
          <a:p>
            <a:endParaRPr lang="ko-KR" altLang="en-US"/>
          </a:p>
        </p:txBody>
      </p:sp>
      <p:sp>
        <p:nvSpPr>
          <p:cNvPr id="28" name="Text 26"/>
          <p:cNvSpPr/>
          <p:nvPr/>
        </p:nvSpPr>
        <p:spPr>
          <a:xfrm>
            <a:off x="1333500" y="7954963"/>
            <a:ext cx="670620" cy="692150"/>
          </a:xfrm>
          <a:prstGeom prst="rect">
            <a:avLst/>
          </a:prstGeom>
          <a:noFill/>
          <a:ln/>
        </p:spPr>
        <p:txBody>
          <a:bodyPr wrap="square" lIns="25400" tIns="25400" rIns="25400" bIns="25400" rtlCol="0" anchor="t">
            <a:normAutofit/>
          </a:bodyPr>
          <a:lstStyle/>
          <a:p>
            <a:pPr marL="0" indent="0" algn="l">
              <a:buNone/>
            </a:pPr>
            <a:r>
              <a:rPr lang="en-US" sz="3900" b="1" dirty="0">
                <a:solidFill>
                  <a:srgbClr val="D97757"/>
                </a:solidFill>
                <a:latin typeface="JetBrains Mono" pitchFamily="34" charset="0"/>
                <a:ea typeface="JetBrains Mono" pitchFamily="34" charset="-122"/>
                <a:cs typeface="JetBrains Mono" pitchFamily="34" charset="-120"/>
              </a:rPr>
              <a:t>05</a:t>
            </a:r>
            <a:endParaRPr lang="en-US" sz="3900" dirty="0"/>
          </a:p>
        </p:txBody>
      </p:sp>
      <p:sp>
        <p:nvSpPr>
          <p:cNvPr id="29" name="Text 27"/>
          <p:cNvSpPr/>
          <p:nvPr/>
        </p:nvSpPr>
        <p:spPr>
          <a:xfrm>
            <a:off x="2232720" y="7945438"/>
            <a:ext cx="1808057" cy="425450"/>
          </a:xfrm>
          <a:prstGeom prst="rect">
            <a:avLst/>
          </a:prstGeom>
          <a:noFill/>
          <a:ln/>
        </p:spPr>
        <p:txBody>
          <a:bodyPr wrap="square" lIns="25400" tIns="25400" rIns="25400" bIns="25400" rtlCol="0" anchor="t">
            <a:normAutofit lnSpcReduction="10000"/>
          </a:bodyPr>
          <a:lstStyle/>
          <a:p>
            <a:pPr marL="0" indent="0" algn="l">
              <a:buNone/>
            </a:pPr>
            <a:r>
              <a:rPr lang="ko-KR" altLang="en-US" sz="2550" b="1" dirty="0">
                <a:solidFill>
                  <a:srgbClr val="F0EADB"/>
                </a:solidFill>
                <a:latin typeface="Noto Sans KR" pitchFamily="34" charset="0"/>
                <a:ea typeface="Noto Sans KR" pitchFamily="34" charset="-122"/>
              </a:rPr>
              <a:t>결과</a:t>
            </a:r>
            <a:endParaRPr lang="en-US" sz="2550" dirty="0"/>
          </a:p>
        </p:txBody>
      </p:sp>
      <p:sp>
        <p:nvSpPr>
          <p:cNvPr id="30" name="Text 28"/>
          <p:cNvSpPr/>
          <p:nvPr/>
        </p:nvSpPr>
        <p:spPr>
          <a:xfrm>
            <a:off x="2232720" y="8389938"/>
            <a:ext cx="1313835" cy="26670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JetBrains Mono" pitchFamily="34" charset="0"/>
                <a:ea typeface="JetBrains Mono" pitchFamily="34" charset="-122"/>
                <a:cs typeface="JetBrains Mono" pitchFamily="34" charset="-120"/>
              </a:rPr>
              <a:t>result</a:t>
            </a:r>
            <a:endParaRPr lang="en-US" sz="1350" dirty="0"/>
          </a:p>
        </p:txBody>
      </p:sp>
      <p:sp>
        <p:nvSpPr>
          <p:cNvPr id="31" name="Shape 29"/>
          <p:cNvSpPr/>
          <p:nvPr/>
        </p:nvSpPr>
        <p:spPr>
          <a:xfrm>
            <a:off x="9277350" y="7175500"/>
            <a:ext cx="8096250" cy="2187575"/>
          </a:xfrm>
          <a:prstGeom prst="roundRect">
            <a:avLst>
              <a:gd name="adj" fmla="val 2612"/>
            </a:avLst>
          </a:prstGeom>
          <a:solidFill>
            <a:srgbClr val="1A2236"/>
          </a:solidFill>
          <a:ln/>
        </p:spPr>
        <p:txBody>
          <a:bodyPr/>
          <a:lstStyle/>
          <a:p>
            <a:endParaRPr lang="ko-KR" altLang="en-US"/>
          </a:p>
        </p:txBody>
      </p:sp>
      <p:sp>
        <p:nvSpPr>
          <p:cNvPr id="32" name="Shape 30"/>
          <p:cNvSpPr/>
          <p:nvPr/>
        </p:nvSpPr>
        <p:spPr>
          <a:xfrm>
            <a:off x="9277350" y="7175500"/>
            <a:ext cx="8096250" cy="25400"/>
          </a:xfrm>
          <a:prstGeom prst="rect">
            <a:avLst/>
          </a:prstGeom>
          <a:solidFill>
            <a:srgbClr val="D97757"/>
          </a:solidFill>
          <a:ln/>
        </p:spPr>
        <p:txBody>
          <a:bodyPr/>
          <a:lstStyle/>
          <a:p>
            <a:endParaRPr lang="ko-KR" altLang="en-US"/>
          </a:p>
        </p:txBody>
      </p:sp>
      <p:sp>
        <p:nvSpPr>
          <p:cNvPr id="33" name="Text 31"/>
          <p:cNvSpPr/>
          <p:nvPr/>
        </p:nvSpPr>
        <p:spPr>
          <a:xfrm>
            <a:off x="9696450" y="7954963"/>
            <a:ext cx="670620" cy="692150"/>
          </a:xfrm>
          <a:prstGeom prst="rect">
            <a:avLst/>
          </a:prstGeom>
          <a:noFill/>
          <a:ln/>
        </p:spPr>
        <p:txBody>
          <a:bodyPr wrap="square" lIns="25400" tIns="25400" rIns="25400" bIns="25400" rtlCol="0" anchor="t">
            <a:normAutofit/>
          </a:bodyPr>
          <a:lstStyle/>
          <a:p>
            <a:pPr marL="0" indent="0" algn="l">
              <a:buNone/>
            </a:pPr>
            <a:r>
              <a:rPr lang="en-US" sz="3900" b="1" dirty="0">
                <a:solidFill>
                  <a:srgbClr val="D97757"/>
                </a:solidFill>
                <a:latin typeface="JetBrains Mono" pitchFamily="34" charset="0"/>
                <a:ea typeface="JetBrains Mono" pitchFamily="34" charset="-122"/>
                <a:cs typeface="JetBrains Mono" pitchFamily="34" charset="-120"/>
              </a:rPr>
              <a:t>06</a:t>
            </a:r>
            <a:endParaRPr lang="en-US" sz="3900" dirty="0"/>
          </a:p>
        </p:txBody>
      </p:sp>
      <p:sp>
        <p:nvSpPr>
          <p:cNvPr id="34" name="Text 32"/>
          <p:cNvSpPr/>
          <p:nvPr/>
        </p:nvSpPr>
        <p:spPr>
          <a:xfrm>
            <a:off x="10595670" y="7945438"/>
            <a:ext cx="1002109" cy="42545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0EADB"/>
                </a:solidFill>
                <a:latin typeface="Noto Sans KR" pitchFamily="34" charset="0"/>
                <a:ea typeface="Noto Sans KR" pitchFamily="34" charset="-122"/>
                <a:cs typeface="Noto Sans KR" pitchFamily="34" charset="-120"/>
              </a:rPr>
              <a:t>Q &amp; A</a:t>
            </a:r>
            <a:endParaRPr lang="en-US" sz="2550" dirty="0"/>
          </a:p>
        </p:txBody>
      </p:sp>
      <p:sp>
        <p:nvSpPr>
          <p:cNvPr id="35" name="Text 33"/>
          <p:cNvSpPr/>
          <p:nvPr/>
        </p:nvSpPr>
        <p:spPr>
          <a:xfrm>
            <a:off x="10595670" y="8389938"/>
            <a:ext cx="1002109" cy="26670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JetBrains Mono" pitchFamily="34" charset="0"/>
                <a:ea typeface="JetBrains Mono" pitchFamily="34" charset="-122"/>
                <a:cs typeface="JetBrains Mono" pitchFamily="34" charset="-120"/>
              </a:rPr>
              <a:t>Questions</a:t>
            </a:r>
            <a:endParaRPr lang="en-US" sz="1350" dirty="0"/>
          </a:p>
        </p:txBody>
      </p:sp>
      <p:sp>
        <p:nvSpPr>
          <p:cNvPr id="36" name="Shape 34"/>
          <p:cNvSpPr/>
          <p:nvPr/>
        </p:nvSpPr>
        <p:spPr>
          <a:xfrm>
            <a:off x="914400" y="9667875"/>
            <a:ext cx="16459200" cy="9525"/>
          </a:xfrm>
          <a:prstGeom prst="rect">
            <a:avLst/>
          </a:prstGeom>
          <a:solidFill>
            <a:srgbClr val="D97757">
              <a:alpha val="30000"/>
            </a:srgbClr>
          </a:solidFill>
          <a:ln/>
        </p:spPr>
        <p:txBody>
          <a:bodyPr/>
          <a:lstStyle/>
          <a:p>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03 / 16</a:t>
            </a:r>
            <a:endParaRPr lang="en-US" sz="1350" dirty="0"/>
          </a:p>
        </p:txBody>
      </p:sp>
      <p:sp>
        <p:nvSpPr>
          <p:cNvPr id="3" name="Text 1"/>
          <p:cNvSpPr/>
          <p:nvPr/>
        </p:nvSpPr>
        <p:spPr>
          <a:xfrm>
            <a:off x="8750598" y="609600"/>
            <a:ext cx="750590"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VISION</a:t>
            </a:r>
            <a:endParaRPr lang="en-US" sz="1350" dirty="0"/>
          </a:p>
        </p:txBody>
      </p:sp>
      <p:sp>
        <p:nvSpPr>
          <p:cNvPr id="4" name="Text 2"/>
          <p:cNvSpPr/>
          <p:nvPr/>
        </p:nvSpPr>
        <p:spPr>
          <a:xfrm>
            <a:off x="16474379" y="609600"/>
            <a:ext cx="1334649"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6" name="Text 4"/>
          <p:cNvSpPr/>
          <p:nvPr/>
        </p:nvSpPr>
        <p:spPr>
          <a:xfrm>
            <a:off x="6064957" y="2946301"/>
            <a:ext cx="6158085" cy="2606873"/>
          </a:xfrm>
          <a:prstGeom prst="rect">
            <a:avLst/>
          </a:prstGeom>
          <a:noFill/>
          <a:ln/>
        </p:spPr>
        <p:txBody>
          <a:bodyPr wrap="square" lIns="25400" tIns="25400" rIns="25400" bIns="25400" rtlCol="0" anchor="t">
            <a:normAutofit/>
          </a:bodyPr>
          <a:lstStyle/>
          <a:p>
            <a:pPr marL="0" indent="0" algn="ctr">
              <a:lnSpc>
                <a:spcPct val="145000"/>
              </a:lnSpc>
              <a:buNone/>
            </a:pPr>
            <a:r>
              <a:rPr lang="ko-KR" altLang="en-US" sz="4650" b="1" kern="0" spc="-112" dirty="0" err="1">
                <a:solidFill>
                  <a:srgbClr val="F0EADB"/>
                </a:solidFill>
                <a:latin typeface="Noto Sans KR" pitchFamily="34" charset="0"/>
                <a:ea typeface="Noto Sans KR" pitchFamily="34" charset="-122"/>
                <a:cs typeface="Noto Sans KR" pitchFamily="34" charset="-120"/>
              </a:rPr>
              <a:t>전투은</a:t>
            </a:r>
            <a:r>
              <a:rPr lang="ko-KR" altLang="en-US" sz="4650" b="1" kern="0" spc="-112" dirty="0">
                <a:solidFill>
                  <a:srgbClr val="F0EADB"/>
                </a:solidFill>
                <a:latin typeface="Noto Sans KR" pitchFamily="34" charset="0"/>
                <a:ea typeface="Noto Sans KR" pitchFamily="34" charset="-122"/>
                <a:cs typeface="Noto Sans KR" pitchFamily="34" charset="-120"/>
              </a:rPr>
              <a:t> 긴박하지만</a:t>
            </a:r>
            <a:endParaRPr lang="en-US" altLang="ko-KR" sz="4650" b="1" kern="0" spc="-112" dirty="0">
              <a:solidFill>
                <a:srgbClr val="F0EADB"/>
              </a:solidFill>
              <a:latin typeface="Noto Sans KR" pitchFamily="34" charset="0"/>
              <a:ea typeface="Noto Sans KR" pitchFamily="34" charset="-122"/>
              <a:cs typeface="Noto Sans KR" pitchFamily="34" charset="-120"/>
            </a:endParaRPr>
          </a:p>
          <a:p>
            <a:pPr marL="0" indent="0" algn="ctr">
              <a:lnSpc>
                <a:spcPct val="145000"/>
              </a:lnSpc>
              <a:buNone/>
            </a:pPr>
            <a:r>
              <a:rPr lang="en-US" sz="4650" b="1" kern="0" spc="-112" dirty="0">
                <a:solidFill>
                  <a:srgbClr val="F0EADB"/>
                </a:solidFill>
                <a:latin typeface="Noto Sans KR" pitchFamily="34" charset="0"/>
                <a:ea typeface="Noto Sans KR" pitchFamily="34" charset="-122"/>
                <a:cs typeface="Noto Sans KR" pitchFamily="34" charset="-120"/>
              </a:rPr>
              <a:t> </a:t>
            </a:r>
            <a:r>
              <a:rPr lang="ko-KR" altLang="en-US" sz="4650" b="1" kern="0" spc="-112" dirty="0">
                <a:solidFill>
                  <a:srgbClr val="D97757"/>
                </a:solidFill>
                <a:latin typeface="Noto Sans KR" pitchFamily="34" charset="0"/>
                <a:ea typeface="Noto Sans KR" pitchFamily="34" charset="-122"/>
                <a:cs typeface="Noto Sans KR" pitchFamily="34" charset="-120"/>
              </a:rPr>
              <a:t>생각할 시간은 많습니다</a:t>
            </a:r>
            <a:r>
              <a:rPr lang="en-US" sz="4650" b="1" kern="0" spc="-112" dirty="0">
                <a:solidFill>
                  <a:srgbClr val="D97757"/>
                </a:solidFill>
                <a:latin typeface="Noto Sans KR" pitchFamily="34" charset="0"/>
                <a:ea typeface="Noto Sans KR" pitchFamily="34" charset="-122"/>
                <a:cs typeface="Noto Sans KR" pitchFamily="34" charset="-120"/>
              </a:rPr>
              <a:t>.</a:t>
            </a:r>
            <a:endParaRPr lang="en-US" sz="4650" dirty="0"/>
          </a:p>
        </p:txBody>
      </p:sp>
      <p:sp>
        <p:nvSpPr>
          <p:cNvPr id="8" name="Shape 6"/>
          <p:cNvSpPr/>
          <p:nvPr/>
        </p:nvSpPr>
        <p:spPr>
          <a:xfrm>
            <a:off x="6308725" y="6797775"/>
            <a:ext cx="5670451" cy="762000"/>
          </a:xfrm>
          <a:prstGeom prst="roundRect">
            <a:avLst>
              <a:gd name="adj" fmla="val 7500"/>
            </a:avLst>
          </a:prstGeom>
          <a:solidFill>
            <a:srgbClr val="D97757"/>
          </a:solidFill>
          <a:ln/>
        </p:spPr>
        <p:txBody>
          <a:bodyPr/>
          <a:lstStyle/>
          <a:p>
            <a:endParaRPr lang="ko-KR" altLang="en-US"/>
          </a:p>
        </p:txBody>
      </p:sp>
      <p:sp>
        <p:nvSpPr>
          <p:cNvPr id="10" name="Shape 8"/>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7" name="Text 5"/>
          <p:cNvSpPr/>
          <p:nvPr/>
        </p:nvSpPr>
        <p:spPr>
          <a:xfrm>
            <a:off x="6217950" y="6918425"/>
            <a:ext cx="5815886" cy="520700"/>
          </a:xfrm>
          <a:prstGeom prst="rect">
            <a:avLst/>
          </a:prstGeom>
          <a:noFill/>
          <a:ln/>
        </p:spPr>
        <p:txBody>
          <a:bodyPr wrap="square" lIns="25400" tIns="25400" rIns="25400" bIns="25400" rtlCol="0" anchor="t">
            <a:normAutofit lnSpcReduction="10000"/>
          </a:bodyPr>
          <a:lstStyle/>
          <a:p>
            <a:pPr marL="0" indent="0" algn="ctr">
              <a:lnSpc>
                <a:spcPct val="150000"/>
              </a:lnSpc>
              <a:buNone/>
            </a:pPr>
            <a:r>
              <a:rPr lang="en-US" sz="2400" dirty="0">
                <a:solidFill>
                  <a:schemeClr val="bg2">
                    <a:lumMod val="25000"/>
                  </a:schemeClr>
                </a:solidFill>
                <a:latin typeface="Noto Sans KR" pitchFamily="34" charset="0"/>
                <a:ea typeface="Noto Sans KR" pitchFamily="34" charset="-122"/>
                <a:cs typeface="Noto Sans KR" pitchFamily="34" charset="-120"/>
              </a:rPr>
              <a:t>실시간의 </a:t>
            </a:r>
            <a:r>
              <a:rPr lang="en-US" sz="2400" b="1" dirty="0">
                <a:solidFill>
                  <a:schemeClr val="bg2">
                    <a:lumMod val="25000"/>
                  </a:schemeClr>
                </a:solidFill>
                <a:latin typeface="Noto Sans KR" pitchFamily="34" charset="0"/>
                <a:ea typeface="Noto Sans KR" pitchFamily="34" charset="-122"/>
                <a:cs typeface="Noto Sans KR" pitchFamily="34" charset="-120"/>
              </a:rPr>
              <a:t>긴장감</a:t>
            </a:r>
            <a:r>
              <a:rPr lang="en-US" sz="2400" dirty="0">
                <a:solidFill>
                  <a:schemeClr val="bg2">
                    <a:lumMod val="25000"/>
                  </a:schemeClr>
                </a:solidFill>
                <a:latin typeface="Noto Sans KR" pitchFamily="34" charset="0"/>
                <a:ea typeface="Noto Sans KR" pitchFamily="34" charset="-122"/>
                <a:cs typeface="Noto Sans KR" pitchFamily="34" charset="-120"/>
              </a:rPr>
              <a:t>과 턴제의 </a:t>
            </a:r>
            <a:r>
              <a:rPr lang="en-US" sz="2400" b="1" dirty="0">
                <a:solidFill>
                  <a:schemeClr val="bg2">
                    <a:lumMod val="25000"/>
                  </a:schemeClr>
                </a:solidFill>
                <a:latin typeface="Noto Sans KR" pitchFamily="34" charset="0"/>
                <a:ea typeface="Noto Sans KR" pitchFamily="34" charset="-122"/>
                <a:cs typeface="Noto Sans KR" pitchFamily="34" charset="-120"/>
              </a:rPr>
              <a:t>전략성</a:t>
            </a:r>
            <a:r>
              <a:rPr lang="en-US" sz="2400" dirty="0">
                <a:solidFill>
                  <a:schemeClr val="bg2">
                    <a:lumMod val="25000"/>
                  </a:schemeClr>
                </a:solidFill>
                <a:latin typeface="Noto Sans KR" pitchFamily="34" charset="0"/>
                <a:ea typeface="Noto Sans KR" pitchFamily="34" charset="-122"/>
                <a:cs typeface="Noto Sans KR" pitchFamily="34" charset="-120"/>
              </a:rPr>
              <a:t>을 동시에</a:t>
            </a:r>
            <a:endParaRPr lang="en-US" sz="2400" dirty="0">
              <a:solidFill>
                <a:schemeClr val="bg2">
                  <a:lumMod val="25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04 / 22</a:t>
            </a:r>
            <a:endParaRPr lang="en-US" sz="1350" dirty="0"/>
          </a:p>
        </p:txBody>
      </p:sp>
      <p:sp>
        <p:nvSpPr>
          <p:cNvPr id="3" name="Text 1"/>
          <p:cNvSpPr/>
          <p:nvPr/>
        </p:nvSpPr>
        <p:spPr>
          <a:xfrm>
            <a:off x="8469610" y="609600"/>
            <a:ext cx="1360001"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THE PROBLEM</a:t>
            </a:r>
            <a:endParaRPr lang="en-US" sz="1350" dirty="0"/>
          </a:p>
        </p:txBody>
      </p:sp>
      <p:sp>
        <p:nvSpPr>
          <p:cNvPr id="4" name="Text 2"/>
          <p:cNvSpPr/>
          <p:nvPr/>
        </p:nvSpPr>
        <p:spPr>
          <a:xfrm>
            <a:off x="16474379" y="609600"/>
            <a:ext cx="1360001"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19200"/>
            <a:ext cx="18105120" cy="584200"/>
          </a:xfrm>
          <a:prstGeom prst="rect">
            <a:avLst/>
          </a:prstGeom>
          <a:noFill/>
          <a:ln/>
        </p:spPr>
        <p:txBody>
          <a:bodyPr wrap="square" lIns="25400" tIns="25400" rIns="25400" bIns="25400" rtlCol="0" anchor="t">
            <a:normAutofit lnSpcReduction="10000"/>
          </a:bodyPr>
          <a:lstStyle/>
          <a:p>
            <a:pPr marL="0" indent="0" algn="l">
              <a:buNone/>
            </a:pPr>
            <a:r>
              <a:rPr lang="en-US" sz="3600" b="1" kern="0" spc="-75" dirty="0">
                <a:solidFill>
                  <a:srgbClr val="F0EADB"/>
                </a:solidFill>
                <a:latin typeface="Noto Sans KR" pitchFamily="34" charset="0"/>
                <a:ea typeface="Noto Sans KR" pitchFamily="34" charset="-122"/>
                <a:cs typeface="Noto Sans KR" pitchFamily="34" charset="-120"/>
              </a:rPr>
              <a:t>두 장르의 장점만 결합한 게임이 </a:t>
            </a:r>
            <a:r>
              <a:rPr lang="en-US" sz="3600" b="1" kern="0" spc="-75" dirty="0">
                <a:solidFill>
                  <a:srgbClr val="D97757"/>
                </a:solidFill>
                <a:latin typeface="Noto Sans KR" pitchFamily="34" charset="0"/>
                <a:ea typeface="Noto Sans KR" pitchFamily="34" charset="-122"/>
                <a:cs typeface="Noto Sans KR" pitchFamily="34" charset="-120"/>
              </a:rPr>
              <a:t>없었다</a:t>
            </a:r>
            <a:endParaRPr lang="en-US" sz="3600" dirty="0"/>
          </a:p>
        </p:txBody>
      </p:sp>
      <p:sp>
        <p:nvSpPr>
          <p:cNvPr id="6" name="Text 4"/>
          <p:cNvSpPr/>
          <p:nvPr/>
        </p:nvSpPr>
        <p:spPr>
          <a:xfrm>
            <a:off x="914400" y="1822450"/>
            <a:ext cx="16344900" cy="362843"/>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650" dirty="0">
                <a:solidFill>
                  <a:srgbClr val="8A9AB8"/>
                </a:solidFill>
                <a:latin typeface="Noto Sans KR" pitchFamily="34" charset="0"/>
                <a:ea typeface="Noto Sans KR" pitchFamily="34" charset="-122"/>
                <a:cs typeface="Noto Sans KR" pitchFamily="34" charset="-120"/>
              </a:rPr>
              <a:t>실시간 게임(</a:t>
            </a:r>
            <a:r>
              <a:rPr lang="en-US" sz="1650" dirty="0">
                <a:solidFill>
                  <a:srgbClr val="F0EADB"/>
                </a:solidFill>
                <a:latin typeface="Noto Sans KR" pitchFamily="34" charset="0"/>
                <a:ea typeface="Noto Sans KR" pitchFamily="34" charset="-122"/>
                <a:cs typeface="Noto Sans KR" pitchFamily="34" charset="-120"/>
              </a:rPr>
              <a:t>스타크래프트·격투</a:t>
            </a:r>
            <a:r>
              <a:rPr lang="en-US" sz="1650" dirty="0">
                <a:solidFill>
                  <a:srgbClr val="8A9AB8"/>
                </a:solidFill>
                <a:latin typeface="Noto Sans KR" pitchFamily="34" charset="0"/>
                <a:ea typeface="Noto Sans KR" pitchFamily="34" charset="-122"/>
                <a:cs typeface="Noto Sans KR" pitchFamily="34" charset="-120"/>
              </a:rPr>
              <a:t>)은  전체를 동시에 </a:t>
            </a:r>
            <a:r>
              <a:rPr lang="en-US" sz="1650" dirty="0" err="1">
                <a:solidFill>
                  <a:srgbClr val="8A9AB8"/>
                </a:solidFill>
                <a:latin typeface="Noto Sans KR" pitchFamily="34" charset="0"/>
                <a:ea typeface="Noto Sans KR" pitchFamily="34" charset="-122"/>
                <a:cs typeface="Noto Sans KR" pitchFamily="34" charset="-120"/>
              </a:rPr>
              <a:t>조작하기</a:t>
            </a:r>
            <a:r>
              <a:rPr lang="en-US" sz="1650" dirty="0">
                <a:solidFill>
                  <a:srgbClr val="8A9AB8"/>
                </a:solidFill>
                <a:latin typeface="Noto Sans KR" pitchFamily="34" charset="0"/>
                <a:ea typeface="Noto Sans KR" pitchFamily="34" charset="-122"/>
                <a:cs typeface="Noto Sans KR" pitchFamily="34" charset="-120"/>
              </a:rPr>
              <a:t> </a:t>
            </a:r>
            <a:r>
              <a:rPr lang="en-US" sz="1650" dirty="0" err="1">
                <a:solidFill>
                  <a:srgbClr val="8A9AB8"/>
                </a:solidFill>
                <a:latin typeface="Noto Sans KR" pitchFamily="34" charset="0"/>
                <a:ea typeface="Noto Sans KR" pitchFamily="34" charset="-122"/>
                <a:cs typeface="Noto Sans KR" pitchFamily="34" charset="-120"/>
              </a:rPr>
              <a:t>버겁고</a:t>
            </a:r>
            <a:r>
              <a:rPr lang="en-US" sz="1650" dirty="0">
                <a:solidFill>
                  <a:srgbClr val="8A9AB8"/>
                </a:solidFill>
                <a:latin typeface="Noto Sans KR" pitchFamily="34" charset="0"/>
                <a:ea typeface="Noto Sans KR" pitchFamily="34" charset="-122"/>
                <a:cs typeface="Noto Sans KR" pitchFamily="34" charset="-120"/>
              </a:rPr>
              <a:t> </a:t>
            </a:r>
            <a:r>
              <a:rPr lang="ko-KR" altLang="en-US" sz="1650" dirty="0">
                <a:solidFill>
                  <a:srgbClr val="8A9AB8"/>
                </a:solidFill>
                <a:latin typeface="Noto Sans KR" pitchFamily="34" charset="0"/>
                <a:ea typeface="Noto Sans KR" pitchFamily="34" charset="-122"/>
                <a:cs typeface="Noto Sans KR" pitchFamily="34" charset="-120"/>
              </a:rPr>
              <a:t>어렵습니다</a:t>
            </a:r>
            <a:r>
              <a:rPr lang="en-US" altLang="ko-KR" sz="1650" dirty="0">
                <a:solidFill>
                  <a:srgbClr val="8A9AB8"/>
                </a:solidFill>
                <a:latin typeface="Noto Sans KR" pitchFamily="34" charset="0"/>
                <a:ea typeface="Noto Sans KR" pitchFamily="34" charset="-122"/>
                <a:cs typeface="Noto Sans KR" pitchFamily="34" charset="-120"/>
              </a:rPr>
              <a:t>. </a:t>
            </a:r>
            <a:r>
              <a:rPr lang="en-US" sz="1650" dirty="0" err="1">
                <a:solidFill>
                  <a:srgbClr val="8A9AB8"/>
                </a:solidFill>
                <a:latin typeface="Noto Sans KR" pitchFamily="34" charset="0"/>
                <a:ea typeface="Noto Sans KR" pitchFamily="34" charset="-122"/>
                <a:cs typeface="Noto Sans KR" pitchFamily="34" charset="-120"/>
              </a:rPr>
              <a:t>턴제는</a:t>
            </a:r>
            <a:r>
              <a:rPr lang="en-US" sz="1650" dirty="0">
                <a:solidFill>
                  <a:srgbClr val="8A9AB8"/>
                </a:solidFill>
                <a:latin typeface="Noto Sans KR" pitchFamily="34" charset="0"/>
                <a:ea typeface="Noto Sans KR" pitchFamily="34" charset="-122"/>
                <a:cs typeface="Noto Sans KR" pitchFamily="34" charset="-120"/>
              </a:rPr>
              <a:t> </a:t>
            </a:r>
            <a:r>
              <a:rPr lang="en-US" sz="1650" dirty="0">
                <a:solidFill>
                  <a:srgbClr val="F0EADB"/>
                </a:solidFill>
                <a:latin typeface="Noto Sans KR" pitchFamily="34" charset="0"/>
                <a:ea typeface="Noto Sans KR" pitchFamily="34" charset="-122"/>
                <a:cs typeface="Noto Sans KR" pitchFamily="34" charset="-120"/>
              </a:rPr>
              <a:t>템포가 느립니다</a:t>
            </a:r>
            <a:r>
              <a:rPr lang="en-US" sz="1650" dirty="0">
                <a:solidFill>
                  <a:srgbClr val="8A9AB8"/>
                </a:solidFill>
                <a:latin typeface="Noto Sans KR" pitchFamily="34" charset="0"/>
                <a:ea typeface="Noto Sans KR" pitchFamily="34" charset="-122"/>
                <a:cs typeface="Noto Sans KR" pitchFamily="34" charset="-120"/>
              </a:rPr>
              <a:t>. 둘의 장점만 합친 게임은 없었습니다.</a:t>
            </a:r>
            <a:endParaRPr lang="en-US" sz="1650" dirty="0"/>
          </a:p>
        </p:txBody>
      </p:sp>
      <p:sp>
        <p:nvSpPr>
          <p:cNvPr id="7" name="Shape 5"/>
          <p:cNvSpPr/>
          <p:nvPr/>
        </p:nvSpPr>
        <p:spPr>
          <a:xfrm>
            <a:off x="914400" y="2375793"/>
            <a:ext cx="5080000" cy="7025382"/>
          </a:xfrm>
          <a:prstGeom prst="roundRect">
            <a:avLst>
              <a:gd name="adj" fmla="val 1500"/>
            </a:avLst>
          </a:prstGeom>
          <a:solidFill>
            <a:srgbClr val="1A2236"/>
          </a:solidFill>
          <a:ln/>
        </p:spPr>
        <p:txBody>
          <a:bodyPr/>
          <a:lstStyle/>
          <a:p>
            <a:endParaRPr lang="ko-KR" altLang="en-US"/>
          </a:p>
        </p:txBody>
      </p:sp>
      <p:sp>
        <p:nvSpPr>
          <p:cNvPr id="8" name="Text 6"/>
          <p:cNvSpPr/>
          <p:nvPr/>
        </p:nvSpPr>
        <p:spPr>
          <a:xfrm>
            <a:off x="1257300" y="2756793"/>
            <a:ext cx="4833620"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8A9AB8"/>
                </a:solidFill>
                <a:latin typeface="Noto Sans KR" pitchFamily="34" charset="0"/>
                <a:ea typeface="Noto Sans KR" pitchFamily="34" charset="-122"/>
                <a:cs typeface="Noto Sans KR" pitchFamily="34" charset="-120"/>
              </a:rPr>
              <a:t>턴제 RPG</a:t>
            </a:r>
            <a:endParaRPr lang="en-US" sz="2250" dirty="0"/>
          </a:p>
        </p:txBody>
      </p:sp>
      <p:sp>
        <p:nvSpPr>
          <p:cNvPr id="9" name="Shape 7"/>
          <p:cNvSpPr/>
          <p:nvPr/>
        </p:nvSpPr>
        <p:spPr>
          <a:xfrm>
            <a:off x="1257300" y="3982343"/>
            <a:ext cx="4394200" cy="9525"/>
          </a:xfrm>
          <a:prstGeom prst="rect">
            <a:avLst/>
          </a:prstGeom>
          <a:solidFill>
            <a:srgbClr val="2E3C55"/>
          </a:solidFill>
          <a:ln/>
        </p:spPr>
        <p:txBody>
          <a:bodyPr/>
          <a:lstStyle/>
          <a:p>
            <a:endParaRPr lang="ko-KR" altLang="en-US"/>
          </a:p>
        </p:txBody>
      </p:sp>
      <p:sp>
        <p:nvSpPr>
          <p:cNvPr id="10" name="Text 8"/>
          <p:cNvSpPr/>
          <p:nvPr/>
        </p:nvSpPr>
        <p:spPr>
          <a:xfrm>
            <a:off x="1257300" y="3537843"/>
            <a:ext cx="62835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8A9AB8"/>
                </a:solidFill>
                <a:latin typeface="Noto Sans KR" pitchFamily="34" charset="0"/>
                <a:ea typeface="Noto Sans KR" pitchFamily="34" charset="-122"/>
                <a:cs typeface="Noto Sans KR" pitchFamily="34" charset="-120"/>
              </a:rPr>
              <a:t>전략성</a:t>
            </a:r>
            <a:endParaRPr lang="en-US" sz="1575" dirty="0"/>
          </a:p>
        </p:txBody>
      </p:sp>
      <p:sp>
        <p:nvSpPr>
          <p:cNvPr id="11" name="Text 9"/>
          <p:cNvSpPr/>
          <p:nvPr/>
        </p:nvSpPr>
        <p:spPr>
          <a:xfrm>
            <a:off x="4965700" y="3537843"/>
            <a:ext cx="762000" cy="330200"/>
          </a:xfrm>
          <a:prstGeom prst="rect">
            <a:avLst/>
          </a:prstGeom>
          <a:noFill/>
          <a:ln/>
        </p:spPr>
        <p:txBody>
          <a:bodyPr wrap="square" lIns="25400" tIns="25400" rIns="25400" bIns="25400" rtlCol="0" anchor="t">
            <a:normAutofit/>
          </a:bodyPr>
          <a:lstStyle/>
          <a:p>
            <a:pPr marL="0" indent="0" algn="l">
              <a:buNone/>
            </a:pPr>
            <a:r>
              <a:rPr lang="en-US" sz="1575" kern="0" spc="225" dirty="0">
                <a:solidFill>
                  <a:srgbClr val="E8B84B"/>
                </a:solidFill>
                <a:latin typeface="Noto Sans KR" pitchFamily="34" charset="0"/>
                <a:ea typeface="Noto Sans KR" pitchFamily="34" charset="-122"/>
                <a:cs typeface="Noto Sans KR" pitchFamily="34" charset="-120"/>
              </a:rPr>
              <a:t>★★★</a:t>
            </a:r>
            <a:endParaRPr lang="en-US" sz="1575" dirty="0"/>
          </a:p>
        </p:txBody>
      </p:sp>
      <p:sp>
        <p:nvSpPr>
          <p:cNvPr id="12" name="Shape 10"/>
          <p:cNvSpPr/>
          <p:nvPr/>
        </p:nvSpPr>
        <p:spPr>
          <a:xfrm>
            <a:off x="1257300" y="4585593"/>
            <a:ext cx="4394200" cy="9525"/>
          </a:xfrm>
          <a:prstGeom prst="rect">
            <a:avLst/>
          </a:prstGeom>
          <a:solidFill>
            <a:srgbClr val="2E3C55"/>
          </a:solidFill>
          <a:ln/>
        </p:spPr>
        <p:txBody>
          <a:bodyPr/>
          <a:lstStyle/>
          <a:p>
            <a:endParaRPr lang="ko-KR" altLang="en-US"/>
          </a:p>
        </p:txBody>
      </p:sp>
      <p:sp>
        <p:nvSpPr>
          <p:cNvPr id="13" name="Text 11"/>
          <p:cNvSpPr/>
          <p:nvPr/>
        </p:nvSpPr>
        <p:spPr>
          <a:xfrm>
            <a:off x="1257300" y="4141093"/>
            <a:ext cx="44430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8A9AB8"/>
                </a:solidFill>
                <a:latin typeface="Noto Sans KR" pitchFamily="34" charset="0"/>
                <a:ea typeface="Noto Sans KR" pitchFamily="34" charset="-122"/>
                <a:cs typeface="Noto Sans KR" pitchFamily="34" charset="-120"/>
              </a:rPr>
              <a:t>템포</a:t>
            </a:r>
            <a:endParaRPr lang="en-US" sz="1575" dirty="0"/>
          </a:p>
        </p:txBody>
      </p:sp>
      <p:sp>
        <p:nvSpPr>
          <p:cNvPr id="14" name="Text 12"/>
          <p:cNvSpPr/>
          <p:nvPr/>
        </p:nvSpPr>
        <p:spPr>
          <a:xfrm>
            <a:off x="5283398" y="4141093"/>
            <a:ext cx="44430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느림</a:t>
            </a:r>
            <a:endParaRPr lang="en-US" sz="1575" dirty="0"/>
          </a:p>
        </p:txBody>
      </p:sp>
      <p:sp>
        <p:nvSpPr>
          <p:cNvPr id="15" name="Shape 13"/>
          <p:cNvSpPr/>
          <p:nvPr/>
        </p:nvSpPr>
        <p:spPr>
          <a:xfrm>
            <a:off x="1257300" y="5188843"/>
            <a:ext cx="4394200" cy="9525"/>
          </a:xfrm>
          <a:prstGeom prst="rect">
            <a:avLst/>
          </a:prstGeom>
          <a:solidFill>
            <a:srgbClr val="2E3C55"/>
          </a:solidFill>
          <a:ln/>
        </p:spPr>
        <p:txBody>
          <a:bodyPr/>
          <a:lstStyle/>
          <a:p>
            <a:endParaRPr lang="ko-KR" altLang="en-US"/>
          </a:p>
        </p:txBody>
      </p:sp>
      <p:sp>
        <p:nvSpPr>
          <p:cNvPr id="16" name="Text 14"/>
          <p:cNvSpPr/>
          <p:nvPr/>
        </p:nvSpPr>
        <p:spPr>
          <a:xfrm>
            <a:off x="1257300" y="4744343"/>
            <a:ext cx="868363" cy="330200"/>
          </a:xfrm>
          <a:prstGeom prst="rect">
            <a:avLst/>
          </a:prstGeom>
          <a:noFill/>
          <a:ln/>
        </p:spPr>
        <p:txBody>
          <a:bodyPr wrap="square" lIns="25400" tIns="25400" rIns="25400" bIns="25400" rtlCol="0" anchor="t">
            <a:normAutofit/>
          </a:bodyPr>
          <a:lstStyle/>
          <a:p>
            <a:pPr marL="0" indent="0" algn="l">
              <a:buNone/>
            </a:pPr>
            <a:r>
              <a:rPr lang="en-US" sz="1575" dirty="0">
                <a:solidFill>
                  <a:srgbClr val="8A9AB8"/>
                </a:solidFill>
                <a:latin typeface="Noto Sans KR" pitchFamily="34" charset="0"/>
                <a:ea typeface="Noto Sans KR" pitchFamily="34" charset="-122"/>
                <a:cs typeface="Noto Sans KR" pitchFamily="34" charset="-120"/>
              </a:rPr>
              <a:t>파티 관리</a:t>
            </a:r>
            <a:endParaRPr lang="en-US" sz="1575" dirty="0"/>
          </a:p>
        </p:txBody>
      </p:sp>
      <p:sp>
        <p:nvSpPr>
          <p:cNvPr id="17" name="Text 15"/>
          <p:cNvSpPr/>
          <p:nvPr/>
        </p:nvSpPr>
        <p:spPr>
          <a:xfrm>
            <a:off x="5283398" y="4744343"/>
            <a:ext cx="44430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완전</a:t>
            </a:r>
            <a:endParaRPr lang="en-US" sz="1575" dirty="0"/>
          </a:p>
        </p:txBody>
      </p:sp>
      <p:sp>
        <p:nvSpPr>
          <p:cNvPr id="18" name="Text 16"/>
          <p:cNvSpPr/>
          <p:nvPr/>
        </p:nvSpPr>
        <p:spPr>
          <a:xfrm>
            <a:off x="1257300" y="5347593"/>
            <a:ext cx="44430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8A9AB8"/>
                </a:solidFill>
                <a:latin typeface="Noto Sans KR" pitchFamily="34" charset="0"/>
                <a:ea typeface="Noto Sans KR" pitchFamily="34" charset="-122"/>
                <a:cs typeface="Noto Sans KR" pitchFamily="34" charset="-120"/>
              </a:rPr>
              <a:t>한계</a:t>
            </a:r>
            <a:endParaRPr lang="en-US" sz="1575" dirty="0"/>
          </a:p>
        </p:txBody>
      </p:sp>
      <p:sp>
        <p:nvSpPr>
          <p:cNvPr id="19" name="Text 17"/>
          <p:cNvSpPr/>
          <p:nvPr/>
        </p:nvSpPr>
        <p:spPr>
          <a:xfrm>
            <a:off x="5099348" y="5347593"/>
            <a:ext cx="62835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기다림</a:t>
            </a:r>
            <a:endParaRPr lang="en-US" sz="1575" dirty="0"/>
          </a:p>
        </p:txBody>
      </p:sp>
      <p:sp>
        <p:nvSpPr>
          <p:cNvPr id="20" name="Shape 18"/>
          <p:cNvSpPr/>
          <p:nvPr/>
        </p:nvSpPr>
        <p:spPr>
          <a:xfrm>
            <a:off x="6223000" y="2375793"/>
            <a:ext cx="5842000" cy="7025382"/>
          </a:xfrm>
          <a:prstGeom prst="roundRect">
            <a:avLst>
              <a:gd name="adj" fmla="val 1304"/>
            </a:avLst>
          </a:prstGeom>
          <a:solidFill>
            <a:srgbClr val="232D42"/>
          </a:solidFill>
          <a:ln w="19050">
            <a:solidFill>
              <a:srgbClr val="D97757"/>
            </a:solidFill>
            <a:prstDash val="solid"/>
          </a:ln>
          <a:effectLst>
            <a:outerShdw blurRad="457200" dist="152400" dir="5400000" algn="bl" rotWithShape="0">
              <a:srgbClr val="D97757">
                <a:alpha val="18000"/>
              </a:srgbClr>
            </a:outerShdw>
          </a:effectLst>
        </p:spPr>
        <p:txBody>
          <a:bodyPr/>
          <a:lstStyle/>
          <a:p>
            <a:endParaRPr lang="ko-KR" altLang="en-US"/>
          </a:p>
        </p:txBody>
      </p:sp>
      <p:sp>
        <p:nvSpPr>
          <p:cNvPr id="21" name="Shape 19"/>
          <p:cNvSpPr/>
          <p:nvPr/>
        </p:nvSpPr>
        <p:spPr>
          <a:xfrm>
            <a:off x="8631535" y="2232918"/>
            <a:ext cx="1024930" cy="311150"/>
          </a:xfrm>
          <a:prstGeom prst="roundRect">
            <a:avLst>
              <a:gd name="adj" fmla="val 50000"/>
            </a:avLst>
          </a:prstGeom>
          <a:solidFill>
            <a:srgbClr val="D97757"/>
          </a:solidFill>
          <a:ln/>
        </p:spPr>
        <p:txBody>
          <a:bodyPr/>
          <a:lstStyle/>
          <a:p>
            <a:endParaRPr lang="ko-KR" altLang="en-US"/>
          </a:p>
        </p:txBody>
      </p:sp>
      <p:sp>
        <p:nvSpPr>
          <p:cNvPr id="22" name="Text 20"/>
          <p:cNvSpPr/>
          <p:nvPr/>
        </p:nvSpPr>
        <p:spPr>
          <a:xfrm>
            <a:off x="8841085" y="2290068"/>
            <a:ext cx="682030" cy="234950"/>
          </a:xfrm>
          <a:prstGeom prst="rect">
            <a:avLst/>
          </a:prstGeom>
          <a:noFill/>
          <a:ln/>
        </p:spPr>
        <p:txBody>
          <a:bodyPr wrap="square" lIns="25400" tIns="25400" rIns="25400" bIns="25400" rtlCol="0" anchor="t">
            <a:normAutofit/>
          </a:bodyPr>
          <a:lstStyle/>
          <a:p>
            <a:pPr marL="0" indent="0" algn="l">
              <a:buNone/>
            </a:pPr>
            <a:r>
              <a:rPr lang="en-US" sz="1200" b="1" kern="0" spc="75" dirty="0">
                <a:solidFill>
                  <a:srgbClr val="0D1117"/>
                </a:solidFill>
                <a:latin typeface="JetBrains Mono" pitchFamily="34" charset="0"/>
                <a:ea typeface="JetBrains Mono" pitchFamily="34" charset="-122"/>
                <a:cs typeface="JetBrains Mono" pitchFamily="34" charset="-120"/>
              </a:rPr>
              <a:t>이 게임</a:t>
            </a:r>
            <a:endParaRPr lang="en-US" sz="1200" dirty="0"/>
          </a:p>
        </p:txBody>
      </p:sp>
      <p:sp>
        <p:nvSpPr>
          <p:cNvPr id="23" name="Text 21"/>
          <p:cNvSpPr/>
          <p:nvPr/>
        </p:nvSpPr>
        <p:spPr>
          <a:xfrm>
            <a:off x="6584950" y="2775843"/>
            <a:ext cx="5629910"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D97757"/>
                </a:solidFill>
                <a:latin typeface="Noto Sans KR" pitchFamily="34" charset="0"/>
                <a:ea typeface="Noto Sans KR" pitchFamily="34" charset="-122"/>
                <a:cs typeface="Noto Sans KR" pitchFamily="34" charset="-120"/>
              </a:rPr>
              <a:t>RTwP</a:t>
            </a:r>
            <a:endParaRPr lang="en-US" sz="2250" dirty="0"/>
          </a:p>
        </p:txBody>
      </p:sp>
      <p:sp>
        <p:nvSpPr>
          <p:cNvPr id="24" name="Shape 22"/>
          <p:cNvSpPr/>
          <p:nvPr/>
        </p:nvSpPr>
        <p:spPr>
          <a:xfrm>
            <a:off x="6584950" y="4001393"/>
            <a:ext cx="5118100" cy="9525"/>
          </a:xfrm>
          <a:prstGeom prst="rect">
            <a:avLst/>
          </a:prstGeom>
          <a:solidFill>
            <a:srgbClr val="2E3C55"/>
          </a:solidFill>
          <a:ln/>
        </p:spPr>
        <p:txBody>
          <a:bodyPr/>
          <a:lstStyle/>
          <a:p>
            <a:endParaRPr lang="ko-KR" altLang="en-US"/>
          </a:p>
        </p:txBody>
      </p:sp>
      <p:sp>
        <p:nvSpPr>
          <p:cNvPr id="25" name="Text 23"/>
          <p:cNvSpPr/>
          <p:nvPr/>
        </p:nvSpPr>
        <p:spPr>
          <a:xfrm>
            <a:off x="6584950" y="3556893"/>
            <a:ext cx="62835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8A9AB8"/>
                </a:solidFill>
                <a:latin typeface="Noto Sans KR" pitchFamily="34" charset="0"/>
                <a:ea typeface="Noto Sans KR" pitchFamily="34" charset="-122"/>
                <a:cs typeface="Noto Sans KR" pitchFamily="34" charset="-120"/>
              </a:rPr>
              <a:t>전략성</a:t>
            </a:r>
            <a:endParaRPr lang="en-US" sz="1575" dirty="0"/>
          </a:p>
        </p:txBody>
      </p:sp>
      <p:sp>
        <p:nvSpPr>
          <p:cNvPr id="26" name="Text 24"/>
          <p:cNvSpPr/>
          <p:nvPr/>
        </p:nvSpPr>
        <p:spPr>
          <a:xfrm>
            <a:off x="11017251" y="3556893"/>
            <a:ext cx="762000" cy="330200"/>
          </a:xfrm>
          <a:prstGeom prst="rect">
            <a:avLst/>
          </a:prstGeom>
          <a:noFill/>
          <a:ln/>
        </p:spPr>
        <p:txBody>
          <a:bodyPr wrap="square" lIns="25400" tIns="25400" rIns="25400" bIns="25400" rtlCol="0" anchor="t">
            <a:normAutofit/>
          </a:bodyPr>
          <a:lstStyle/>
          <a:p>
            <a:pPr marL="0" indent="0" algn="l">
              <a:buNone/>
            </a:pPr>
            <a:r>
              <a:rPr lang="en-US" sz="1575" kern="0" spc="225" dirty="0">
                <a:solidFill>
                  <a:srgbClr val="E8B84B"/>
                </a:solidFill>
                <a:latin typeface="Noto Sans KR" pitchFamily="34" charset="0"/>
                <a:ea typeface="Noto Sans KR" pitchFamily="34" charset="-122"/>
                <a:cs typeface="Noto Sans KR" pitchFamily="34" charset="-120"/>
              </a:rPr>
              <a:t>★★★</a:t>
            </a:r>
            <a:endParaRPr lang="en-US" sz="1575" dirty="0"/>
          </a:p>
        </p:txBody>
      </p:sp>
      <p:sp>
        <p:nvSpPr>
          <p:cNvPr id="27" name="Shape 25"/>
          <p:cNvSpPr/>
          <p:nvPr/>
        </p:nvSpPr>
        <p:spPr>
          <a:xfrm>
            <a:off x="6584950" y="4604643"/>
            <a:ext cx="5118100" cy="9525"/>
          </a:xfrm>
          <a:prstGeom prst="rect">
            <a:avLst/>
          </a:prstGeom>
          <a:solidFill>
            <a:srgbClr val="2E3C55"/>
          </a:solidFill>
          <a:ln/>
        </p:spPr>
        <p:txBody>
          <a:bodyPr/>
          <a:lstStyle/>
          <a:p>
            <a:endParaRPr lang="ko-KR" altLang="en-US"/>
          </a:p>
        </p:txBody>
      </p:sp>
      <p:sp>
        <p:nvSpPr>
          <p:cNvPr id="28" name="Text 26"/>
          <p:cNvSpPr/>
          <p:nvPr/>
        </p:nvSpPr>
        <p:spPr>
          <a:xfrm>
            <a:off x="6584950" y="4160143"/>
            <a:ext cx="44430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8A9AB8"/>
                </a:solidFill>
                <a:latin typeface="Noto Sans KR" pitchFamily="34" charset="0"/>
                <a:ea typeface="Noto Sans KR" pitchFamily="34" charset="-122"/>
                <a:cs typeface="Noto Sans KR" pitchFamily="34" charset="-120"/>
              </a:rPr>
              <a:t>템포</a:t>
            </a:r>
            <a:endParaRPr lang="en-US" sz="1575" dirty="0"/>
          </a:p>
        </p:txBody>
      </p:sp>
      <p:sp>
        <p:nvSpPr>
          <p:cNvPr id="29" name="Text 27"/>
          <p:cNvSpPr/>
          <p:nvPr/>
        </p:nvSpPr>
        <p:spPr>
          <a:xfrm>
            <a:off x="11365408" y="4169668"/>
            <a:ext cx="1061542" cy="336550"/>
          </a:xfrm>
          <a:prstGeom prst="rect">
            <a:avLst/>
          </a:prstGeom>
          <a:noFill/>
          <a:ln/>
        </p:spPr>
        <p:txBody>
          <a:bodyPr wrap="square" lIns="25400" tIns="25400" rIns="25400" bIns="25400" rtlCol="0" anchor="t">
            <a:normAutofit/>
          </a:bodyPr>
          <a:lstStyle/>
          <a:p>
            <a:pPr marL="0" indent="0" algn="l">
              <a:buNone/>
            </a:pPr>
            <a:r>
              <a:rPr lang="ko-KR" altLang="en-US" sz="1575" b="1" dirty="0">
                <a:solidFill>
                  <a:srgbClr val="D97757"/>
                </a:solidFill>
                <a:latin typeface="Noto Sans KR" pitchFamily="34" charset="0"/>
                <a:ea typeface="Noto Sans KR" pitchFamily="34" charset="-122"/>
              </a:rPr>
              <a:t>빠름</a:t>
            </a:r>
            <a:r>
              <a:rPr lang="en-US" altLang="ko-KR" sz="1575" b="1" dirty="0">
                <a:solidFill>
                  <a:srgbClr val="D97757"/>
                </a:solidFill>
                <a:latin typeface="Noto Sans KR" pitchFamily="34" charset="0"/>
                <a:ea typeface="Noto Sans KR" pitchFamily="34" charset="-122"/>
              </a:rPr>
              <a:t> </a:t>
            </a:r>
            <a:endParaRPr lang="en-US" sz="1575" dirty="0"/>
          </a:p>
        </p:txBody>
      </p:sp>
      <p:sp>
        <p:nvSpPr>
          <p:cNvPr id="30" name="Shape 28"/>
          <p:cNvSpPr/>
          <p:nvPr/>
        </p:nvSpPr>
        <p:spPr>
          <a:xfrm>
            <a:off x="6584950" y="5207893"/>
            <a:ext cx="5118100" cy="9525"/>
          </a:xfrm>
          <a:prstGeom prst="rect">
            <a:avLst/>
          </a:prstGeom>
          <a:solidFill>
            <a:srgbClr val="2E3C55"/>
          </a:solidFill>
          <a:ln/>
        </p:spPr>
        <p:txBody>
          <a:bodyPr/>
          <a:lstStyle/>
          <a:p>
            <a:endParaRPr lang="ko-KR" altLang="en-US"/>
          </a:p>
        </p:txBody>
      </p:sp>
      <p:sp>
        <p:nvSpPr>
          <p:cNvPr id="31" name="Text 29"/>
          <p:cNvSpPr/>
          <p:nvPr/>
        </p:nvSpPr>
        <p:spPr>
          <a:xfrm>
            <a:off x="6584950" y="4763393"/>
            <a:ext cx="868363" cy="330200"/>
          </a:xfrm>
          <a:prstGeom prst="rect">
            <a:avLst/>
          </a:prstGeom>
          <a:noFill/>
          <a:ln/>
        </p:spPr>
        <p:txBody>
          <a:bodyPr wrap="square" lIns="25400" tIns="25400" rIns="25400" bIns="25400" rtlCol="0" anchor="t">
            <a:normAutofit/>
          </a:bodyPr>
          <a:lstStyle/>
          <a:p>
            <a:pPr marL="0" indent="0" algn="l">
              <a:buNone/>
            </a:pPr>
            <a:r>
              <a:rPr lang="en-US" sz="1575" dirty="0">
                <a:solidFill>
                  <a:srgbClr val="8A9AB8"/>
                </a:solidFill>
                <a:latin typeface="Noto Sans KR" pitchFamily="34" charset="0"/>
                <a:ea typeface="Noto Sans KR" pitchFamily="34" charset="-122"/>
                <a:cs typeface="Noto Sans KR" pitchFamily="34" charset="-120"/>
              </a:rPr>
              <a:t>파티 관리</a:t>
            </a:r>
            <a:endParaRPr lang="en-US" sz="1575" dirty="0"/>
          </a:p>
        </p:txBody>
      </p:sp>
      <p:sp>
        <p:nvSpPr>
          <p:cNvPr id="32" name="Text 30"/>
          <p:cNvSpPr/>
          <p:nvPr/>
        </p:nvSpPr>
        <p:spPr>
          <a:xfrm>
            <a:off x="11357273" y="4763393"/>
            <a:ext cx="421977" cy="330200"/>
          </a:xfrm>
          <a:prstGeom prst="rect">
            <a:avLst/>
          </a:prstGeom>
          <a:noFill/>
          <a:ln/>
        </p:spPr>
        <p:txBody>
          <a:bodyPr wrap="square" lIns="25400" tIns="25400" rIns="25400" bIns="25400" rtlCol="0" anchor="t">
            <a:normAutofit/>
          </a:bodyPr>
          <a:lstStyle/>
          <a:p>
            <a:pPr marL="0" indent="0" algn="l">
              <a:buNone/>
            </a:pPr>
            <a:r>
              <a:rPr lang="en-US" sz="1575" b="1" dirty="0">
                <a:solidFill>
                  <a:srgbClr val="D97757"/>
                </a:solidFill>
                <a:latin typeface="Noto Sans KR" pitchFamily="34" charset="0"/>
                <a:ea typeface="Noto Sans KR" pitchFamily="34" charset="-122"/>
                <a:cs typeface="Noto Sans KR" pitchFamily="34" charset="-120"/>
              </a:rPr>
              <a:t>완전</a:t>
            </a:r>
            <a:endParaRPr lang="en-US" sz="1575" dirty="0"/>
          </a:p>
        </p:txBody>
      </p:sp>
      <p:sp>
        <p:nvSpPr>
          <p:cNvPr id="33" name="Text 31"/>
          <p:cNvSpPr/>
          <p:nvPr/>
        </p:nvSpPr>
        <p:spPr>
          <a:xfrm>
            <a:off x="6584950" y="5366643"/>
            <a:ext cx="62835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8A9AB8"/>
                </a:solidFill>
                <a:latin typeface="Noto Sans KR" pitchFamily="34" charset="0"/>
                <a:ea typeface="Noto Sans KR" pitchFamily="34" charset="-122"/>
                <a:cs typeface="Noto Sans KR" pitchFamily="34" charset="-120"/>
              </a:rPr>
              <a:t>차별점</a:t>
            </a:r>
            <a:endParaRPr lang="en-US" sz="1575" dirty="0"/>
          </a:p>
        </p:txBody>
      </p:sp>
      <p:sp>
        <p:nvSpPr>
          <p:cNvPr id="34" name="Text 32"/>
          <p:cNvSpPr/>
          <p:nvPr/>
        </p:nvSpPr>
        <p:spPr>
          <a:xfrm>
            <a:off x="10172511" y="5365691"/>
            <a:ext cx="2197290" cy="696626"/>
          </a:xfrm>
          <a:prstGeom prst="rect">
            <a:avLst/>
          </a:prstGeom>
          <a:noFill/>
          <a:ln/>
        </p:spPr>
        <p:txBody>
          <a:bodyPr wrap="square" lIns="25400" tIns="25400" rIns="25400" bIns="25400" rtlCol="0" anchor="t">
            <a:normAutofit/>
          </a:bodyPr>
          <a:lstStyle/>
          <a:p>
            <a:pPr marL="0" indent="0" algn="l">
              <a:buNone/>
            </a:pPr>
            <a:r>
              <a:rPr lang="ko-KR" altLang="en-US" sz="1575" b="1" dirty="0">
                <a:solidFill>
                  <a:srgbClr val="D97757"/>
                </a:solidFill>
                <a:latin typeface="Noto Sans KR" pitchFamily="34" charset="0"/>
                <a:ea typeface="Noto Sans KR" pitchFamily="34" charset="-122"/>
              </a:rPr>
              <a:t>완전한 조작과 속도</a:t>
            </a:r>
            <a:endParaRPr lang="en-US" sz="1575" dirty="0"/>
          </a:p>
        </p:txBody>
      </p:sp>
      <p:sp>
        <p:nvSpPr>
          <p:cNvPr id="35" name="Shape 33"/>
          <p:cNvSpPr/>
          <p:nvPr/>
        </p:nvSpPr>
        <p:spPr>
          <a:xfrm>
            <a:off x="12293601" y="2375793"/>
            <a:ext cx="5080000" cy="7025382"/>
          </a:xfrm>
          <a:prstGeom prst="roundRect">
            <a:avLst>
              <a:gd name="adj" fmla="val 1500"/>
            </a:avLst>
          </a:prstGeom>
          <a:solidFill>
            <a:srgbClr val="1A2236"/>
          </a:solidFill>
          <a:ln/>
        </p:spPr>
        <p:txBody>
          <a:bodyPr/>
          <a:lstStyle/>
          <a:p>
            <a:endParaRPr lang="ko-KR" altLang="en-US"/>
          </a:p>
        </p:txBody>
      </p:sp>
      <p:sp>
        <p:nvSpPr>
          <p:cNvPr id="36" name="Text 34"/>
          <p:cNvSpPr/>
          <p:nvPr/>
        </p:nvSpPr>
        <p:spPr>
          <a:xfrm>
            <a:off x="12636501" y="2756793"/>
            <a:ext cx="4833620" cy="381000"/>
          </a:xfrm>
          <a:prstGeom prst="rect">
            <a:avLst/>
          </a:prstGeom>
          <a:noFill/>
          <a:ln/>
        </p:spPr>
        <p:txBody>
          <a:bodyPr wrap="square" lIns="25400" tIns="25400" rIns="25400" bIns="25400" rtlCol="0" anchor="t">
            <a:normAutofit lnSpcReduction="10000"/>
          </a:bodyPr>
          <a:lstStyle/>
          <a:p>
            <a:pPr marL="0" indent="0" algn="l">
              <a:buNone/>
            </a:pPr>
            <a:r>
              <a:rPr lang="en-US" sz="2250" b="1" dirty="0" err="1">
                <a:solidFill>
                  <a:srgbClr val="8A9AB8"/>
                </a:solidFill>
                <a:latin typeface="Noto Sans KR" pitchFamily="34" charset="0"/>
                <a:ea typeface="Noto Sans KR" pitchFamily="34" charset="-122"/>
                <a:cs typeface="Noto Sans KR" pitchFamily="34" charset="-120"/>
              </a:rPr>
              <a:t>실시간</a:t>
            </a:r>
            <a:r>
              <a:rPr lang="en-US" sz="2250" b="1" dirty="0">
                <a:solidFill>
                  <a:srgbClr val="8A9AB8"/>
                </a:solidFill>
                <a:latin typeface="Noto Sans KR" pitchFamily="34" charset="0"/>
                <a:ea typeface="Noto Sans KR" pitchFamily="34" charset="-122"/>
                <a:cs typeface="Noto Sans KR" pitchFamily="34" charset="-120"/>
              </a:rPr>
              <a:t> · RTS/</a:t>
            </a:r>
            <a:r>
              <a:rPr lang="en-US" sz="2250" b="1" dirty="0" err="1">
                <a:solidFill>
                  <a:srgbClr val="8A9AB8"/>
                </a:solidFill>
                <a:latin typeface="Noto Sans KR" pitchFamily="34" charset="0"/>
                <a:ea typeface="Noto Sans KR" pitchFamily="34" charset="-122"/>
                <a:cs typeface="Noto Sans KR" pitchFamily="34" charset="-120"/>
              </a:rPr>
              <a:t>격투</a:t>
            </a:r>
            <a:endParaRPr lang="en-US" sz="2250" dirty="0"/>
          </a:p>
        </p:txBody>
      </p:sp>
      <p:sp>
        <p:nvSpPr>
          <p:cNvPr id="37" name="Shape 35"/>
          <p:cNvSpPr/>
          <p:nvPr/>
        </p:nvSpPr>
        <p:spPr>
          <a:xfrm>
            <a:off x="12636501" y="3982343"/>
            <a:ext cx="4394200" cy="9525"/>
          </a:xfrm>
          <a:prstGeom prst="rect">
            <a:avLst/>
          </a:prstGeom>
          <a:solidFill>
            <a:srgbClr val="2E3C55"/>
          </a:solidFill>
          <a:ln/>
        </p:spPr>
        <p:txBody>
          <a:bodyPr/>
          <a:lstStyle/>
          <a:p>
            <a:endParaRPr lang="ko-KR" altLang="en-US"/>
          </a:p>
        </p:txBody>
      </p:sp>
      <p:sp>
        <p:nvSpPr>
          <p:cNvPr id="38" name="Text 36"/>
          <p:cNvSpPr/>
          <p:nvPr/>
        </p:nvSpPr>
        <p:spPr>
          <a:xfrm>
            <a:off x="12636501" y="3537843"/>
            <a:ext cx="62835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8A9AB8"/>
                </a:solidFill>
                <a:latin typeface="Noto Sans KR" pitchFamily="34" charset="0"/>
                <a:ea typeface="Noto Sans KR" pitchFamily="34" charset="-122"/>
                <a:cs typeface="Noto Sans KR" pitchFamily="34" charset="-120"/>
              </a:rPr>
              <a:t>전략성</a:t>
            </a:r>
            <a:endParaRPr lang="en-US" sz="1575" dirty="0"/>
          </a:p>
        </p:txBody>
      </p:sp>
      <p:sp>
        <p:nvSpPr>
          <p:cNvPr id="39" name="Text 37"/>
          <p:cNvSpPr/>
          <p:nvPr/>
        </p:nvSpPr>
        <p:spPr>
          <a:xfrm>
            <a:off x="16573500" y="3537843"/>
            <a:ext cx="533400" cy="330200"/>
          </a:xfrm>
          <a:prstGeom prst="rect">
            <a:avLst/>
          </a:prstGeom>
          <a:noFill/>
          <a:ln/>
        </p:spPr>
        <p:txBody>
          <a:bodyPr wrap="square" lIns="25400" tIns="25400" rIns="25400" bIns="25400" rtlCol="0" anchor="t">
            <a:normAutofit/>
          </a:bodyPr>
          <a:lstStyle/>
          <a:p>
            <a:pPr marL="0" indent="0" algn="l">
              <a:buNone/>
            </a:pPr>
            <a:r>
              <a:rPr lang="en-US" sz="1575" kern="0" spc="225" dirty="0">
                <a:solidFill>
                  <a:srgbClr val="E8B84B"/>
                </a:solidFill>
                <a:latin typeface="Noto Sans KR" pitchFamily="34" charset="0"/>
                <a:ea typeface="Noto Sans KR" pitchFamily="34" charset="-122"/>
                <a:cs typeface="Noto Sans KR" pitchFamily="34" charset="-120"/>
              </a:rPr>
              <a:t>★★</a:t>
            </a:r>
            <a:endParaRPr lang="en-US" sz="1575" dirty="0"/>
          </a:p>
        </p:txBody>
      </p:sp>
      <p:sp>
        <p:nvSpPr>
          <p:cNvPr id="40" name="Shape 38"/>
          <p:cNvSpPr/>
          <p:nvPr/>
        </p:nvSpPr>
        <p:spPr>
          <a:xfrm>
            <a:off x="12636501" y="4585593"/>
            <a:ext cx="4394200" cy="9525"/>
          </a:xfrm>
          <a:prstGeom prst="rect">
            <a:avLst/>
          </a:prstGeom>
          <a:solidFill>
            <a:srgbClr val="2E3C55"/>
          </a:solidFill>
          <a:ln/>
        </p:spPr>
        <p:txBody>
          <a:bodyPr/>
          <a:lstStyle/>
          <a:p>
            <a:endParaRPr lang="ko-KR" altLang="en-US"/>
          </a:p>
        </p:txBody>
      </p:sp>
      <p:sp>
        <p:nvSpPr>
          <p:cNvPr id="41" name="Text 39"/>
          <p:cNvSpPr/>
          <p:nvPr/>
        </p:nvSpPr>
        <p:spPr>
          <a:xfrm>
            <a:off x="12636501" y="4141093"/>
            <a:ext cx="44430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8A9AB8"/>
                </a:solidFill>
                <a:latin typeface="Noto Sans KR" pitchFamily="34" charset="0"/>
                <a:ea typeface="Noto Sans KR" pitchFamily="34" charset="-122"/>
                <a:cs typeface="Noto Sans KR" pitchFamily="34" charset="-120"/>
              </a:rPr>
              <a:t>템포</a:t>
            </a:r>
            <a:endParaRPr lang="en-US" sz="1575" dirty="0"/>
          </a:p>
        </p:txBody>
      </p:sp>
      <p:sp>
        <p:nvSpPr>
          <p:cNvPr id="42" name="Text 40"/>
          <p:cNvSpPr/>
          <p:nvPr/>
        </p:nvSpPr>
        <p:spPr>
          <a:xfrm>
            <a:off x="16662599" y="4141093"/>
            <a:ext cx="44430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빠름</a:t>
            </a:r>
            <a:endParaRPr lang="en-US" sz="1575" dirty="0"/>
          </a:p>
        </p:txBody>
      </p:sp>
      <p:sp>
        <p:nvSpPr>
          <p:cNvPr id="43" name="Shape 41"/>
          <p:cNvSpPr/>
          <p:nvPr/>
        </p:nvSpPr>
        <p:spPr>
          <a:xfrm>
            <a:off x="12636501" y="5188843"/>
            <a:ext cx="4394200" cy="9525"/>
          </a:xfrm>
          <a:prstGeom prst="rect">
            <a:avLst/>
          </a:prstGeom>
          <a:solidFill>
            <a:srgbClr val="2E3C55"/>
          </a:solidFill>
          <a:ln/>
        </p:spPr>
        <p:txBody>
          <a:bodyPr/>
          <a:lstStyle/>
          <a:p>
            <a:endParaRPr lang="ko-KR" altLang="en-US"/>
          </a:p>
        </p:txBody>
      </p:sp>
      <p:sp>
        <p:nvSpPr>
          <p:cNvPr id="44" name="Text 42"/>
          <p:cNvSpPr/>
          <p:nvPr/>
        </p:nvSpPr>
        <p:spPr>
          <a:xfrm>
            <a:off x="12636501" y="4744343"/>
            <a:ext cx="868363" cy="330200"/>
          </a:xfrm>
          <a:prstGeom prst="rect">
            <a:avLst/>
          </a:prstGeom>
          <a:noFill/>
          <a:ln/>
        </p:spPr>
        <p:txBody>
          <a:bodyPr wrap="square" lIns="25400" tIns="25400" rIns="25400" bIns="25400" rtlCol="0" anchor="t">
            <a:normAutofit/>
          </a:bodyPr>
          <a:lstStyle/>
          <a:p>
            <a:pPr marL="0" indent="0" algn="l">
              <a:buNone/>
            </a:pPr>
            <a:r>
              <a:rPr lang="en-US" sz="1575" dirty="0">
                <a:solidFill>
                  <a:srgbClr val="8A9AB8"/>
                </a:solidFill>
                <a:latin typeface="Noto Sans KR" pitchFamily="34" charset="0"/>
                <a:ea typeface="Noto Sans KR" pitchFamily="34" charset="-122"/>
                <a:cs typeface="Noto Sans KR" pitchFamily="34" charset="-120"/>
              </a:rPr>
              <a:t>파티 관리</a:t>
            </a:r>
            <a:endParaRPr lang="en-US" sz="1575" dirty="0"/>
          </a:p>
        </p:txBody>
      </p:sp>
      <p:sp>
        <p:nvSpPr>
          <p:cNvPr id="45" name="Text 43"/>
          <p:cNvSpPr/>
          <p:nvPr/>
        </p:nvSpPr>
        <p:spPr>
          <a:xfrm>
            <a:off x="16478548" y="4744343"/>
            <a:ext cx="62835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어려움</a:t>
            </a:r>
            <a:endParaRPr lang="en-US" sz="1575" dirty="0"/>
          </a:p>
        </p:txBody>
      </p:sp>
      <p:sp>
        <p:nvSpPr>
          <p:cNvPr id="46" name="Text 44"/>
          <p:cNvSpPr/>
          <p:nvPr/>
        </p:nvSpPr>
        <p:spPr>
          <a:xfrm>
            <a:off x="12636501" y="5347593"/>
            <a:ext cx="44430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8A9AB8"/>
                </a:solidFill>
                <a:latin typeface="Noto Sans KR" pitchFamily="34" charset="0"/>
                <a:ea typeface="Noto Sans KR" pitchFamily="34" charset="-122"/>
                <a:cs typeface="Noto Sans KR" pitchFamily="34" charset="-120"/>
              </a:rPr>
              <a:t>한계</a:t>
            </a:r>
            <a:endParaRPr lang="en-US" sz="1575" dirty="0"/>
          </a:p>
        </p:txBody>
      </p:sp>
      <p:sp>
        <p:nvSpPr>
          <p:cNvPr id="47" name="Text 45"/>
          <p:cNvSpPr/>
          <p:nvPr/>
        </p:nvSpPr>
        <p:spPr>
          <a:xfrm>
            <a:off x="16238538" y="5347593"/>
            <a:ext cx="868363"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조작 부담</a:t>
            </a:r>
            <a:endParaRPr lang="en-US" sz="1575" dirty="0"/>
          </a:p>
        </p:txBody>
      </p:sp>
      <p:sp>
        <p:nvSpPr>
          <p:cNvPr id="48" name="Shape 46"/>
          <p:cNvSpPr/>
          <p:nvPr/>
        </p:nvSpPr>
        <p:spPr>
          <a:xfrm>
            <a:off x="914400" y="9667875"/>
            <a:ext cx="16459200" cy="9525"/>
          </a:xfrm>
          <a:prstGeom prst="rect">
            <a:avLst/>
          </a:prstGeom>
          <a:solidFill>
            <a:srgbClr val="D97757">
              <a:alpha val="30000"/>
            </a:srgbClr>
          </a:solidFill>
          <a:ln/>
        </p:spPr>
        <p:txBody>
          <a:bodyPr/>
          <a:lstStyle/>
          <a:p>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nvSpPr>
        <p:spPr>
          <a:xfrm>
            <a:off x="8694440" y="609600"/>
            <a:ext cx="1215914"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ROADMAP</a:t>
            </a:r>
            <a:endParaRPr lang="en-US" sz="1350" dirty="0"/>
          </a:p>
        </p:txBody>
      </p:sp>
      <p:sp>
        <p:nvSpPr>
          <p:cNvPr id="4" name="Text 2"/>
          <p:cNvSpPr/>
          <p:nvPr/>
        </p:nvSpPr>
        <p:spPr>
          <a:xfrm>
            <a:off x="16474379" y="609600"/>
            <a:ext cx="1215913"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57300"/>
            <a:ext cx="18105120" cy="628650"/>
          </a:xfrm>
          <a:prstGeom prst="rect">
            <a:avLst/>
          </a:prstGeom>
          <a:noFill/>
          <a:ln/>
        </p:spPr>
        <p:txBody>
          <a:bodyPr wrap="square" lIns="25400" tIns="25400" rIns="25400" bIns="25400" rtlCol="0" anchor="t">
            <a:normAutofit lnSpcReduction="10000"/>
          </a:bodyPr>
          <a:lstStyle/>
          <a:p>
            <a:pPr marL="0" indent="0" algn="l">
              <a:buNone/>
            </a:pPr>
            <a:r>
              <a:rPr lang="en-US" sz="3900" b="1" kern="0" spc="-75" dirty="0">
                <a:solidFill>
                  <a:srgbClr val="F0EADB"/>
                </a:solidFill>
                <a:latin typeface="Noto Sans KR" pitchFamily="34" charset="0"/>
                <a:ea typeface="Noto Sans KR" pitchFamily="34" charset="-122"/>
                <a:cs typeface="Noto Sans KR" pitchFamily="34" charset="-120"/>
              </a:rPr>
              <a:t>개발 로드맵 — </a:t>
            </a:r>
            <a:r>
              <a:rPr lang="en-US" sz="2400" b="1" kern="0" spc="-75" dirty="0">
                <a:solidFill>
                  <a:srgbClr val="8A9AB8"/>
                </a:solidFill>
                <a:latin typeface="Noto Sans KR" pitchFamily="34" charset="0"/>
                <a:ea typeface="Noto Sans KR" pitchFamily="34" charset="-122"/>
                <a:cs typeface="Noto Sans KR" pitchFamily="34" charset="-120"/>
              </a:rPr>
              <a:t>코어 먼저, 콘텐츠는 그 다음</a:t>
            </a:r>
            <a:endParaRPr lang="en-US" sz="3900" dirty="0"/>
          </a:p>
        </p:txBody>
      </p:sp>
      <p:sp>
        <p:nvSpPr>
          <p:cNvPr id="6" name="Shape 4"/>
          <p:cNvSpPr/>
          <p:nvPr/>
        </p:nvSpPr>
        <p:spPr>
          <a:xfrm>
            <a:off x="914400" y="3549353"/>
            <a:ext cx="4324846" cy="2791420"/>
          </a:xfrm>
          <a:prstGeom prst="roundRect">
            <a:avLst>
              <a:gd name="adj" fmla="val 2730"/>
            </a:avLst>
          </a:prstGeom>
          <a:solidFill>
            <a:srgbClr val="1A2236"/>
          </a:solidFill>
          <a:ln/>
        </p:spPr>
        <p:txBody>
          <a:bodyPr/>
          <a:lstStyle/>
          <a:p>
            <a:endParaRPr lang="ko-KR" altLang="en-US"/>
          </a:p>
        </p:txBody>
      </p:sp>
      <p:sp>
        <p:nvSpPr>
          <p:cNvPr id="7" name="Shape 5"/>
          <p:cNvSpPr/>
          <p:nvPr/>
        </p:nvSpPr>
        <p:spPr>
          <a:xfrm>
            <a:off x="914400" y="3549353"/>
            <a:ext cx="4324846" cy="38100"/>
          </a:xfrm>
          <a:prstGeom prst="rect">
            <a:avLst/>
          </a:prstGeom>
          <a:solidFill>
            <a:srgbClr val="D97757"/>
          </a:solidFill>
          <a:ln/>
        </p:spPr>
        <p:txBody>
          <a:bodyPr/>
          <a:lstStyle/>
          <a:p>
            <a:endParaRPr lang="ko-KR" altLang="en-US"/>
          </a:p>
        </p:txBody>
      </p:sp>
      <p:sp>
        <p:nvSpPr>
          <p:cNvPr id="8" name="Text 6"/>
          <p:cNvSpPr/>
          <p:nvPr/>
        </p:nvSpPr>
        <p:spPr>
          <a:xfrm>
            <a:off x="1238250" y="3892253"/>
            <a:ext cx="4044861" cy="254000"/>
          </a:xfrm>
          <a:prstGeom prst="rect">
            <a:avLst/>
          </a:prstGeom>
          <a:noFill/>
          <a:ln/>
        </p:spPr>
        <p:txBody>
          <a:bodyPr wrap="square" lIns="25400" tIns="25400" rIns="25400" bIns="25400" rtlCol="0" anchor="t">
            <a:normAutofit/>
          </a:bodyPr>
          <a:lstStyle/>
          <a:p>
            <a:pPr marL="0" indent="0" algn="l">
              <a:buNone/>
            </a:pPr>
            <a:r>
              <a:rPr lang="en-US" sz="1275" kern="0" spc="75" dirty="0">
                <a:solidFill>
                  <a:srgbClr val="D97757"/>
                </a:solidFill>
                <a:latin typeface="JetBrains Mono" pitchFamily="34" charset="0"/>
                <a:ea typeface="JetBrains Mono" pitchFamily="34" charset="-122"/>
                <a:cs typeface="JetBrains Mono" pitchFamily="34" charset="-120"/>
              </a:rPr>
              <a:t>1단계 · APR 05–09</a:t>
            </a:r>
            <a:endParaRPr lang="en-US" sz="1275" dirty="0"/>
          </a:p>
        </p:txBody>
      </p:sp>
      <p:sp>
        <p:nvSpPr>
          <p:cNvPr id="9" name="Text 7"/>
          <p:cNvSpPr/>
          <p:nvPr/>
        </p:nvSpPr>
        <p:spPr>
          <a:xfrm>
            <a:off x="1238250" y="4222452"/>
            <a:ext cx="4044861"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F0EADB"/>
                </a:solidFill>
                <a:latin typeface="Noto Sans KR" pitchFamily="34" charset="0"/>
                <a:ea typeface="Noto Sans KR" pitchFamily="34" charset="-122"/>
                <a:cs typeface="Noto Sans KR" pitchFamily="34" charset="-120"/>
              </a:rPr>
              <a:t>코어 전투 파이프라인</a:t>
            </a:r>
            <a:endParaRPr lang="en-US" sz="2250" dirty="0"/>
          </a:p>
        </p:txBody>
      </p:sp>
      <p:sp>
        <p:nvSpPr>
          <p:cNvPr id="10" name="Text 8"/>
          <p:cNvSpPr/>
          <p:nvPr/>
        </p:nvSpPr>
        <p:spPr>
          <a:xfrm>
            <a:off x="1238250" y="4717752"/>
            <a:ext cx="3787461" cy="685800"/>
          </a:xfrm>
          <a:prstGeom prst="rect">
            <a:avLst/>
          </a:prstGeom>
          <a:noFill/>
          <a:ln/>
        </p:spPr>
        <p:txBody>
          <a:bodyPr wrap="square" lIns="25400" tIns="25400" rIns="25400" bIns="25400" rtlCol="0" anchor="t">
            <a:normAutofit/>
          </a:bodyPr>
          <a:lstStyle/>
          <a:p>
            <a:pPr marL="0" indent="0" algn="l">
              <a:lnSpc>
                <a:spcPct val="170000"/>
              </a:lnSpc>
              <a:buNone/>
            </a:pPr>
            <a:r>
              <a:rPr lang="en-US" sz="1500" dirty="0">
                <a:solidFill>
                  <a:srgbClr val="F0EADB"/>
                </a:solidFill>
                <a:latin typeface="Noto Sans KR" pitchFamily="34" charset="0"/>
                <a:ea typeface="Noto Sans KR" pitchFamily="34" charset="-122"/>
                <a:cs typeface="Noto Sans KR" pitchFamily="34" charset="-120"/>
              </a:rPr>
              <a:t>Stage 0 · 기반 Stage 1 · 전투 기반</a:t>
            </a:r>
            <a:endParaRPr lang="en-US" sz="1500" dirty="0"/>
          </a:p>
        </p:txBody>
      </p:sp>
      <p:sp>
        <p:nvSpPr>
          <p:cNvPr id="11" name="Text 9"/>
          <p:cNvSpPr/>
          <p:nvPr/>
        </p:nvSpPr>
        <p:spPr>
          <a:xfrm>
            <a:off x="1238250" y="5517853"/>
            <a:ext cx="3787461" cy="556220"/>
          </a:xfrm>
          <a:prstGeom prst="rect">
            <a:avLst/>
          </a:prstGeom>
          <a:noFill/>
          <a:ln/>
        </p:spPr>
        <p:txBody>
          <a:bodyPr wrap="square" lIns="25400" tIns="25400" rIns="25400" bIns="25400" rtlCol="0" anchor="t">
            <a:normAutofit fontScale="92500" lnSpcReduction="20000"/>
          </a:bodyPr>
          <a:lstStyle/>
          <a:p>
            <a:pPr marL="0" indent="0" algn="l">
              <a:lnSpc>
                <a:spcPct val="160000"/>
              </a:lnSpc>
              <a:buNone/>
            </a:pPr>
            <a:r>
              <a:rPr lang="en-US" sz="1275" dirty="0">
                <a:solidFill>
                  <a:srgbClr val="8A9AB8"/>
                </a:solidFill>
                <a:latin typeface="Noto Sans KR" pitchFamily="34" charset="0"/>
                <a:ea typeface="Noto Sans KR" pitchFamily="34" charset="-122"/>
                <a:cs typeface="Noto Sans KR" pitchFamily="34" charset="-120"/>
              </a:rPr>
              <a:t>자동 정지 엔진 · 20 TPS 틱 · 전투 판정 · 적 AI · 비주얼 피드백</a:t>
            </a:r>
            <a:endParaRPr lang="en-US" sz="1275" dirty="0"/>
          </a:p>
        </p:txBody>
      </p:sp>
      <p:sp>
        <p:nvSpPr>
          <p:cNvPr id="12" name="Shape 10"/>
          <p:cNvSpPr/>
          <p:nvPr/>
        </p:nvSpPr>
        <p:spPr>
          <a:xfrm>
            <a:off x="5467846" y="3549353"/>
            <a:ext cx="6054825" cy="2791420"/>
          </a:xfrm>
          <a:prstGeom prst="roundRect">
            <a:avLst>
              <a:gd name="adj" fmla="val 2730"/>
            </a:avLst>
          </a:prstGeom>
          <a:solidFill>
            <a:srgbClr val="1A2236"/>
          </a:solidFill>
          <a:ln/>
        </p:spPr>
        <p:txBody>
          <a:bodyPr/>
          <a:lstStyle/>
          <a:p>
            <a:endParaRPr lang="ko-KR" altLang="en-US"/>
          </a:p>
        </p:txBody>
      </p:sp>
      <p:sp>
        <p:nvSpPr>
          <p:cNvPr id="13" name="Shape 11"/>
          <p:cNvSpPr/>
          <p:nvPr/>
        </p:nvSpPr>
        <p:spPr>
          <a:xfrm>
            <a:off x="5467846" y="3549353"/>
            <a:ext cx="6054825" cy="38100"/>
          </a:xfrm>
          <a:prstGeom prst="rect">
            <a:avLst/>
          </a:prstGeom>
          <a:solidFill>
            <a:srgbClr val="E8B84B"/>
          </a:solidFill>
          <a:ln/>
        </p:spPr>
        <p:txBody>
          <a:bodyPr/>
          <a:lstStyle/>
          <a:p>
            <a:endParaRPr lang="ko-KR" altLang="en-US"/>
          </a:p>
        </p:txBody>
      </p:sp>
      <p:sp>
        <p:nvSpPr>
          <p:cNvPr id="14" name="Text 12"/>
          <p:cNvSpPr/>
          <p:nvPr/>
        </p:nvSpPr>
        <p:spPr>
          <a:xfrm>
            <a:off x="5791696" y="3892253"/>
            <a:ext cx="5947837" cy="254000"/>
          </a:xfrm>
          <a:prstGeom prst="rect">
            <a:avLst/>
          </a:prstGeom>
          <a:noFill/>
          <a:ln/>
        </p:spPr>
        <p:txBody>
          <a:bodyPr wrap="square" lIns="25400" tIns="25400" rIns="25400" bIns="25400" rtlCol="0" anchor="t">
            <a:normAutofit/>
          </a:bodyPr>
          <a:lstStyle/>
          <a:p>
            <a:pPr marL="0" indent="0" algn="l">
              <a:buNone/>
            </a:pPr>
            <a:r>
              <a:rPr lang="en-US" sz="1275" kern="0" spc="75" dirty="0">
                <a:solidFill>
                  <a:srgbClr val="E8B84B"/>
                </a:solidFill>
                <a:latin typeface="JetBrains Mono" pitchFamily="34" charset="0"/>
                <a:ea typeface="JetBrains Mono" pitchFamily="34" charset="-122"/>
                <a:cs typeface="JetBrains Mono" pitchFamily="34" charset="-120"/>
              </a:rPr>
              <a:t>2단계 · APR 11 – MAY 16</a:t>
            </a:r>
            <a:endParaRPr lang="en-US" sz="1275" dirty="0"/>
          </a:p>
        </p:txBody>
      </p:sp>
      <p:sp>
        <p:nvSpPr>
          <p:cNvPr id="15" name="Text 13"/>
          <p:cNvSpPr/>
          <p:nvPr/>
        </p:nvSpPr>
        <p:spPr>
          <a:xfrm>
            <a:off x="5791696" y="4222452"/>
            <a:ext cx="5947837"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F0EADB"/>
                </a:solidFill>
                <a:latin typeface="Noto Sans KR" pitchFamily="34" charset="0"/>
                <a:ea typeface="Noto Sans KR" pitchFamily="34" charset="-122"/>
                <a:cs typeface="Noto Sans KR" pitchFamily="34" charset="-120"/>
              </a:rPr>
              <a:t>콘텐츠 레이어</a:t>
            </a:r>
            <a:endParaRPr lang="en-US" sz="2250" dirty="0"/>
          </a:p>
        </p:txBody>
      </p:sp>
      <p:sp>
        <p:nvSpPr>
          <p:cNvPr id="16" name="Text 14"/>
          <p:cNvSpPr/>
          <p:nvPr/>
        </p:nvSpPr>
        <p:spPr>
          <a:xfrm>
            <a:off x="5791696" y="4717752"/>
            <a:ext cx="5569338" cy="361950"/>
          </a:xfrm>
          <a:prstGeom prst="rect">
            <a:avLst/>
          </a:prstGeom>
          <a:noFill/>
          <a:ln/>
        </p:spPr>
        <p:txBody>
          <a:bodyPr wrap="square" lIns="25400" tIns="25400" rIns="25400" bIns="25400" rtlCol="0" anchor="t">
            <a:normAutofit fontScale="92500" lnSpcReduction="10000"/>
          </a:bodyPr>
          <a:lstStyle/>
          <a:p>
            <a:pPr marL="0" indent="0" algn="l">
              <a:lnSpc>
                <a:spcPct val="170000"/>
              </a:lnSpc>
              <a:buNone/>
            </a:pPr>
            <a:r>
              <a:rPr lang="en-US" sz="1500" dirty="0">
                <a:solidFill>
                  <a:srgbClr val="F0EADB"/>
                </a:solidFill>
                <a:latin typeface="Noto Sans KR" pitchFamily="34" charset="0"/>
                <a:ea typeface="Noto Sans KR" pitchFamily="34" charset="-122"/>
                <a:cs typeface="Noto Sans KR" pitchFamily="34" charset="-120"/>
              </a:rPr>
              <a:t>Stage </a:t>
            </a:r>
            <a:r>
              <a:rPr lang="ko-KR" altLang="en-US" sz="1500" dirty="0">
                <a:solidFill>
                  <a:srgbClr val="F0EADB"/>
                </a:solidFill>
                <a:latin typeface="Noto Sans KR" pitchFamily="34" charset="0"/>
                <a:ea typeface="Noto Sans KR" pitchFamily="34" charset="-122"/>
                <a:cs typeface="Noto Sans KR" pitchFamily="34" charset="-120"/>
              </a:rPr>
              <a:t>기반 검증</a:t>
            </a:r>
            <a:endParaRPr lang="en-US" altLang="ko-KR" sz="1500" dirty="0">
              <a:solidFill>
                <a:srgbClr val="F0EADB"/>
              </a:solidFill>
              <a:latin typeface="Noto Sans KR" pitchFamily="34" charset="0"/>
              <a:ea typeface="Noto Sans KR" pitchFamily="34" charset="-122"/>
              <a:cs typeface="Noto Sans KR" pitchFamily="34" charset="-120"/>
            </a:endParaRPr>
          </a:p>
        </p:txBody>
      </p:sp>
      <p:sp>
        <p:nvSpPr>
          <p:cNvPr id="17" name="Text 15"/>
          <p:cNvSpPr/>
          <p:nvPr/>
        </p:nvSpPr>
        <p:spPr>
          <a:xfrm>
            <a:off x="5791696" y="5194003"/>
            <a:ext cx="5947837" cy="297160"/>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275" dirty="0">
                <a:solidFill>
                  <a:srgbClr val="8A9AB8"/>
                </a:solidFill>
                <a:latin typeface="Noto Sans KR" pitchFamily="34" charset="0"/>
                <a:ea typeface="Noto Sans KR" pitchFamily="34" charset="-122"/>
                <a:cs typeface="Noto Sans KR" pitchFamily="34" charset="-120"/>
              </a:rPr>
              <a:t>캐릭터 심화 · 월드 확장 · 스토리/진행 시스템 · 폴리싱</a:t>
            </a:r>
            <a:endParaRPr lang="en-US" sz="1275" dirty="0"/>
          </a:p>
        </p:txBody>
      </p:sp>
      <p:sp>
        <p:nvSpPr>
          <p:cNvPr id="18" name="Shape 16"/>
          <p:cNvSpPr/>
          <p:nvPr/>
        </p:nvSpPr>
        <p:spPr>
          <a:xfrm>
            <a:off x="11751271" y="3549353"/>
            <a:ext cx="5622231" cy="2791420"/>
          </a:xfrm>
          <a:prstGeom prst="roundRect">
            <a:avLst>
              <a:gd name="adj" fmla="val 2730"/>
            </a:avLst>
          </a:prstGeom>
          <a:solidFill>
            <a:srgbClr val="1A2236"/>
          </a:solidFill>
          <a:ln/>
        </p:spPr>
        <p:txBody>
          <a:bodyPr/>
          <a:lstStyle/>
          <a:p>
            <a:endParaRPr lang="ko-KR" altLang="en-US"/>
          </a:p>
        </p:txBody>
      </p:sp>
      <p:sp>
        <p:nvSpPr>
          <p:cNvPr id="19" name="Shape 17"/>
          <p:cNvSpPr/>
          <p:nvPr/>
        </p:nvSpPr>
        <p:spPr>
          <a:xfrm>
            <a:off x="11751271" y="3549353"/>
            <a:ext cx="5622231" cy="38100"/>
          </a:xfrm>
          <a:prstGeom prst="rect">
            <a:avLst/>
          </a:prstGeom>
          <a:solidFill>
            <a:srgbClr val="5BC8A8"/>
          </a:solidFill>
          <a:ln/>
        </p:spPr>
        <p:txBody>
          <a:bodyPr/>
          <a:lstStyle/>
          <a:p>
            <a:endParaRPr lang="ko-KR" altLang="en-US"/>
          </a:p>
        </p:txBody>
      </p:sp>
      <p:sp>
        <p:nvSpPr>
          <p:cNvPr id="20" name="Text 18"/>
          <p:cNvSpPr/>
          <p:nvPr/>
        </p:nvSpPr>
        <p:spPr>
          <a:xfrm>
            <a:off x="12075121" y="3892253"/>
            <a:ext cx="5471984" cy="254000"/>
          </a:xfrm>
          <a:prstGeom prst="rect">
            <a:avLst/>
          </a:prstGeom>
          <a:noFill/>
          <a:ln/>
        </p:spPr>
        <p:txBody>
          <a:bodyPr wrap="square" lIns="25400" tIns="25400" rIns="25400" bIns="25400" rtlCol="0" anchor="t">
            <a:normAutofit/>
          </a:bodyPr>
          <a:lstStyle/>
          <a:p>
            <a:pPr marL="0" indent="0" algn="l">
              <a:buNone/>
            </a:pPr>
            <a:r>
              <a:rPr lang="en-US" sz="1275" kern="0" spc="75" dirty="0">
                <a:solidFill>
                  <a:srgbClr val="5BC8A8"/>
                </a:solidFill>
                <a:latin typeface="JetBrains Mono" pitchFamily="34" charset="0"/>
                <a:ea typeface="JetBrains Mono" pitchFamily="34" charset="-122"/>
                <a:cs typeface="JetBrains Mono" pitchFamily="34" charset="-120"/>
              </a:rPr>
              <a:t>3단계 · MAY 22 – JUN 21</a:t>
            </a:r>
            <a:endParaRPr lang="en-US" sz="1275" dirty="0"/>
          </a:p>
        </p:txBody>
      </p:sp>
      <p:sp>
        <p:nvSpPr>
          <p:cNvPr id="21" name="Text 19"/>
          <p:cNvSpPr/>
          <p:nvPr/>
        </p:nvSpPr>
        <p:spPr>
          <a:xfrm>
            <a:off x="12075121" y="4222452"/>
            <a:ext cx="5471984"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F0EADB"/>
                </a:solidFill>
                <a:latin typeface="Noto Sans KR" pitchFamily="34" charset="0"/>
                <a:ea typeface="Noto Sans KR" pitchFamily="34" charset="-122"/>
                <a:cs typeface="Noto Sans KR" pitchFamily="34" charset="-120"/>
              </a:rPr>
              <a:t>품질 개선</a:t>
            </a:r>
            <a:endParaRPr lang="en-US" sz="2250" dirty="0"/>
          </a:p>
        </p:txBody>
      </p:sp>
      <p:sp>
        <p:nvSpPr>
          <p:cNvPr id="22" name="Text 20"/>
          <p:cNvSpPr/>
          <p:nvPr/>
        </p:nvSpPr>
        <p:spPr>
          <a:xfrm>
            <a:off x="12075121" y="4717752"/>
            <a:ext cx="5123767" cy="361950"/>
          </a:xfrm>
          <a:prstGeom prst="rect">
            <a:avLst/>
          </a:prstGeom>
          <a:noFill/>
          <a:ln/>
        </p:spPr>
        <p:txBody>
          <a:bodyPr wrap="square" lIns="25400" tIns="25400" rIns="25400" bIns="25400" rtlCol="0" anchor="t">
            <a:normAutofit fontScale="92500" lnSpcReduction="10000"/>
          </a:bodyPr>
          <a:lstStyle/>
          <a:p>
            <a:pPr marL="0" indent="0" algn="l">
              <a:lnSpc>
                <a:spcPct val="170000"/>
              </a:lnSpc>
              <a:buNone/>
            </a:pPr>
            <a:r>
              <a:rPr lang="en-US" sz="1500" dirty="0">
                <a:solidFill>
                  <a:srgbClr val="F0EADB"/>
                </a:solidFill>
                <a:latin typeface="Noto Sans KR" pitchFamily="34" charset="0"/>
                <a:ea typeface="Noto Sans KR" pitchFamily="34" charset="-122"/>
                <a:cs typeface="Noto Sans KR" pitchFamily="34" charset="-120"/>
              </a:rPr>
              <a:t>섹션 7 – 43</a:t>
            </a:r>
            <a:endParaRPr lang="en-US" sz="1500" dirty="0"/>
          </a:p>
        </p:txBody>
      </p:sp>
      <p:sp>
        <p:nvSpPr>
          <p:cNvPr id="23" name="Text 21"/>
          <p:cNvSpPr/>
          <p:nvPr/>
        </p:nvSpPr>
        <p:spPr>
          <a:xfrm>
            <a:off x="12075121" y="5194003"/>
            <a:ext cx="5471984" cy="297160"/>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275" dirty="0">
                <a:solidFill>
                  <a:srgbClr val="8A9AB8"/>
                </a:solidFill>
                <a:latin typeface="Noto Sans KR" pitchFamily="34" charset="0"/>
                <a:ea typeface="Noto Sans KR" pitchFamily="34" charset="-122"/>
                <a:cs typeface="Noto Sans KR" pitchFamily="34" charset="-120"/>
              </a:rPr>
              <a:t>고정 틱 마이그레이션 · UI 전면 개편(OT2) · 애니메이션 품질 · 버그 패치</a:t>
            </a:r>
            <a:endParaRPr lang="en-US" sz="1275" dirty="0"/>
          </a:p>
        </p:txBody>
      </p:sp>
      <p:sp>
        <p:nvSpPr>
          <p:cNvPr id="24" name="Shape 22"/>
          <p:cNvSpPr/>
          <p:nvPr/>
        </p:nvSpPr>
        <p:spPr>
          <a:xfrm>
            <a:off x="914400" y="6645573"/>
            <a:ext cx="4448473" cy="76200"/>
          </a:xfrm>
          <a:prstGeom prst="roundRect">
            <a:avLst>
              <a:gd name="adj" fmla="val 50000"/>
            </a:avLst>
          </a:prstGeom>
          <a:solidFill>
            <a:srgbClr val="D97757"/>
          </a:solidFill>
          <a:ln/>
        </p:spPr>
        <p:txBody>
          <a:bodyPr/>
          <a:lstStyle/>
          <a:p>
            <a:endParaRPr lang="ko-KR" altLang="en-US"/>
          </a:p>
        </p:txBody>
      </p:sp>
      <p:sp>
        <p:nvSpPr>
          <p:cNvPr id="25" name="Shape 23"/>
          <p:cNvSpPr/>
          <p:nvPr/>
        </p:nvSpPr>
        <p:spPr>
          <a:xfrm>
            <a:off x="5362873" y="6645573"/>
            <a:ext cx="6227763" cy="76200"/>
          </a:xfrm>
          <a:prstGeom prst="rect">
            <a:avLst/>
          </a:prstGeom>
          <a:solidFill>
            <a:srgbClr val="E8B84B"/>
          </a:solidFill>
          <a:ln/>
        </p:spPr>
        <p:txBody>
          <a:bodyPr/>
          <a:lstStyle/>
          <a:p>
            <a:endParaRPr lang="ko-KR" altLang="en-US"/>
          </a:p>
        </p:txBody>
      </p:sp>
      <p:sp>
        <p:nvSpPr>
          <p:cNvPr id="26" name="Shape 24"/>
          <p:cNvSpPr/>
          <p:nvPr/>
        </p:nvSpPr>
        <p:spPr>
          <a:xfrm>
            <a:off x="11590636" y="6645573"/>
            <a:ext cx="5782965" cy="76200"/>
          </a:xfrm>
          <a:prstGeom prst="rect">
            <a:avLst/>
          </a:prstGeom>
          <a:solidFill>
            <a:srgbClr val="5BC8A8"/>
          </a:solidFill>
          <a:ln/>
        </p:spPr>
        <p:txBody>
          <a:bodyPr/>
          <a:lstStyle/>
          <a:p>
            <a:endParaRPr lang="ko-KR" altLang="en-US"/>
          </a:p>
        </p:txBody>
      </p:sp>
      <p:sp>
        <p:nvSpPr>
          <p:cNvPr id="27" name="Shape 25"/>
          <p:cNvSpPr/>
          <p:nvPr/>
        </p:nvSpPr>
        <p:spPr>
          <a:xfrm>
            <a:off x="914400" y="7026573"/>
            <a:ext cx="8482149" cy="749300"/>
          </a:xfrm>
          <a:prstGeom prst="roundRect">
            <a:avLst>
              <a:gd name="adj" fmla="val 7627"/>
            </a:avLst>
          </a:prstGeom>
          <a:solidFill>
            <a:srgbClr val="232D42"/>
          </a:solidFill>
          <a:ln/>
        </p:spPr>
        <p:txBody>
          <a:bodyPr/>
          <a:lstStyle/>
          <a:p>
            <a:endParaRPr lang="ko-KR" altLang="en-US"/>
          </a:p>
        </p:txBody>
      </p:sp>
      <p:sp>
        <p:nvSpPr>
          <p:cNvPr id="28" name="Shape 26"/>
          <p:cNvSpPr/>
          <p:nvPr/>
        </p:nvSpPr>
        <p:spPr>
          <a:xfrm>
            <a:off x="914400" y="7026573"/>
            <a:ext cx="38100" cy="749300"/>
          </a:xfrm>
          <a:prstGeom prst="rect">
            <a:avLst/>
          </a:prstGeom>
          <a:solidFill>
            <a:srgbClr val="D97757"/>
          </a:solidFill>
          <a:ln/>
        </p:spPr>
        <p:txBody>
          <a:bodyPr/>
          <a:lstStyle/>
          <a:p>
            <a:endParaRPr lang="ko-KR" altLang="en-US"/>
          </a:p>
        </p:txBody>
      </p:sp>
      <p:sp>
        <p:nvSpPr>
          <p:cNvPr id="29" name="Text 27"/>
          <p:cNvSpPr/>
          <p:nvPr/>
        </p:nvSpPr>
        <p:spPr>
          <a:xfrm>
            <a:off x="1238250" y="7236123"/>
            <a:ext cx="390128" cy="368300"/>
          </a:xfrm>
          <a:prstGeom prst="rect">
            <a:avLst/>
          </a:prstGeom>
          <a:noFill/>
          <a:ln/>
        </p:spPr>
        <p:txBody>
          <a:bodyPr wrap="square" lIns="25400" tIns="25400" rIns="25400" bIns="25400" rtlCol="0" anchor="t">
            <a:normAutofit/>
          </a:bodyPr>
          <a:lstStyle/>
          <a:p>
            <a:pPr marL="0" indent="0" algn="l">
              <a:buNone/>
            </a:pPr>
            <a:r>
              <a:rPr lang="en-US" sz="1800" dirty="0">
                <a:solidFill>
                  <a:srgbClr val="F0EADB"/>
                </a:solidFill>
                <a:latin typeface="Noto Sans KR" pitchFamily="34" charset="0"/>
                <a:ea typeface="Noto Sans KR" pitchFamily="34" charset="-122"/>
                <a:cs typeface="Noto Sans KR" pitchFamily="34" charset="-120"/>
              </a:rPr>
              <a:t>🚩</a:t>
            </a:r>
            <a:endParaRPr lang="en-US" sz="1800" dirty="0"/>
          </a:p>
        </p:txBody>
      </p:sp>
      <p:sp>
        <p:nvSpPr>
          <p:cNvPr id="30" name="Text 28"/>
          <p:cNvSpPr/>
          <p:nvPr/>
        </p:nvSpPr>
        <p:spPr>
          <a:xfrm>
            <a:off x="1704578" y="7271048"/>
            <a:ext cx="7510949"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마일스톤 1 — 04·09 코어 파이프라인 완성, 1스테이지 동작 검증 후 콘텐츠 확장</a:t>
            </a:r>
            <a:endParaRPr lang="en-US" sz="1725" dirty="0"/>
          </a:p>
        </p:txBody>
      </p:sp>
      <p:sp>
        <p:nvSpPr>
          <p:cNvPr id="31" name="Shape 29"/>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35" name="Text 0">
            <a:extLst>
              <a:ext uri="{FF2B5EF4-FFF2-40B4-BE49-F238E27FC236}">
                <a16:creationId xmlns:a16="http://schemas.microsoft.com/office/drawing/2014/main" id="{CDEFC929-B032-763B-6602-4ACCEB44E1D2}"/>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05 / 22</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739062" y="609600"/>
            <a:ext cx="296731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WORK BREAKDOWN STRUCTURE</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19200"/>
            <a:ext cx="4350673" cy="603250"/>
          </a:xfrm>
          <a:prstGeom prst="rect">
            <a:avLst/>
          </a:prstGeom>
          <a:noFill/>
          <a:ln/>
        </p:spPr>
        <p:txBody>
          <a:bodyPr wrap="square" lIns="25400" tIns="25400" rIns="25400" bIns="25400" rtlCol="0" anchor="t">
            <a:normAutofit lnSpcReduction="10000"/>
          </a:bodyPr>
          <a:lstStyle/>
          <a:p>
            <a:pPr marL="0" indent="0" algn="l">
              <a:buNone/>
            </a:pPr>
            <a:r>
              <a:rPr lang="en-US" sz="3750" b="1" kern="0" spc="-75" dirty="0">
                <a:solidFill>
                  <a:srgbClr val="F0EADB"/>
                </a:solidFill>
                <a:latin typeface="Noto Sans KR" pitchFamily="34" charset="0"/>
                <a:ea typeface="Noto Sans KR" pitchFamily="34" charset="-122"/>
                <a:cs typeface="Noto Sans KR" pitchFamily="34" charset="-120"/>
              </a:rPr>
              <a:t>WBS — </a:t>
            </a:r>
            <a:r>
              <a:rPr lang="en-US" sz="2250" b="1" kern="0" spc="-75" dirty="0">
                <a:solidFill>
                  <a:srgbClr val="8A9AB8"/>
                </a:solidFill>
                <a:latin typeface="Noto Sans KR" pitchFamily="34" charset="0"/>
                <a:ea typeface="Noto Sans KR" pitchFamily="34" charset="-122"/>
                <a:cs typeface="Noto Sans KR" pitchFamily="34" charset="-120"/>
              </a:rPr>
              <a:t>범위 기반 작업 분해</a:t>
            </a:r>
            <a:endParaRPr lang="en-US" sz="3750" dirty="0"/>
          </a:p>
        </p:txBody>
      </p:sp>
      <p:sp>
        <p:nvSpPr>
          <p:cNvPr id="6" name="Text 4"/>
          <p:cNvSpPr/>
          <p:nvPr/>
        </p:nvSpPr>
        <p:spPr>
          <a:xfrm>
            <a:off x="13601700" y="1555750"/>
            <a:ext cx="414909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JetBrains Mono" pitchFamily="34" charset="0"/>
                <a:ea typeface="JetBrains Mono" pitchFamily="34" charset="-122"/>
                <a:cs typeface="JetBrains Mono" pitchFamily="34" charset="-120"/>
              </a:rPr>
              <a:t>완료 기준 = 산출물 동작 + 통합 테스트 통과</a:t>
            </a:r>
            <a:endParaRPr lang="en-US" sz="1350" dirty="0"/>
          </a:p>
        </p:txBody>
      </p:sp>
      <p:sp>
        <p:nvSpPr>
          <p:cNvPr id="7" name="Shape 5"/>
          <p:cNvSpPr/>
          <p:nvPr/>
        </p:nvSpPr>
        <p:spPr>
          <a:xfrm>
            <a:off x="914400" y="2032000"/>
            <a:ext cx="3169841" cy="3260725"/>
          </a:xfrm>
          <a:prstGeom prst="roundRect">
            <a:avLst>
              <a:gd name="adj" fmla="val 2404"/>
            </a:avLst>
          </a:prstGeom>
          <a:solidFill>
            <a:srgbClr val="1A2236"/>
          </a:solidFill>
          <a:ln/>
        </p:spPr>
        <p:txBody>
          <a:bodyPr/>
          <a:lstStyle/>
          <a:p>
            <a:endParaRPr lang="ko-KR" altLang="en-US"/>
          </a:p>
        </p:txBody>
      </p:sp>
      <p:sp>
        <p:nvSpPr>
          <p:cNvPr id="8" name="Shape 6"/>
          <p:cNvSpPr/>
          <p:nvPr/>
        </p:nvSpPr>
        <p:spPr>
          <a:xfrm>
            <a:off x="914400" y="2032000"/>
            <a:ext cx="3169841" cy="25400"/>
          </a:xfrm>
          <a:prstGeom prst="rect">
            <a:avLst/>
          </a:prstGeom>
          <a:solidFill>
            <a:srgbClr val="D97757"/>
          </a:solidFill>
          <a:ln/>
        </p:spPr>
        <p:txBody>
          <a:bodyPr/>
          <a:lstStyle/>
          <a:p>
            <a:endParaRPr lang="ko-KR" altLang="en-US"/>
          </a:p>
        </p:txBody>
      </p:sp>
      <p:sp>
        <p:nvSpPr>
          <p:cNvPr id="9" name="Text 7"/>
          <p:cNvSpPr/>
          <p:nvPr/>
        </p:nvSpPr>
        <p:spPr>
          <a:xfrm>
            <a:off x="1123950" y="2247900"/>
            <a:ext cx="487759"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D97757"/>
                </a:solidFill>
                <a:latin typeface="JetBrains Mono" pitchFamily="34" charset="0"/>
                <a:ea typeface="JetBrains Mono" pitchFamily="34" charset="-122"/>
                <a:cs typeface="JetBrains Mono" pitchFamily="34" charset="-120"/>
              </a:rPr>
              <a:t>1.0</a:t>
            </a:r>
            <a:endParaRPr lang="en-US" sz="1800" dirty="0"/>
          </a:p>
        </p:txBody>
      </p:sp>
      <p:sp>
        <p:nvSpPr>
          <p:cNvPr id="10" name="Text 8"/>
          <p:cNvSpPr/>
          <p:nvPr/>
        </p:nvSpPr>
        <p:spPr>
          <a:xfrm>
            <a:off x="3531791" y="2305050"/>
            <a:ext cx="419100" cy="228600"/>
          </a:xfrm>
          <a:prstGeom prst="rect">
            <a:avLst/>
          </a:prstGeom>
          <a:noFill/>
          <a:ln/>
        </p:spPr>
        <p:txBody>
          <a:bodyPr wrap="square" lIns="25400" tIns="25400" rIns="25400" bIns="25400" rtlCol="0" anchor="t">
            <a:normAutofit/>
          </a:bodyPr>
          <a:lstStyle/>
          <a:p>
            <a:pPr marL="0" indent="0" algn="l">
              <a:buNone/>
            </a:pPr>
            <a:r>
              <a:rPr lang="en-US" sz="1125" b="1" dirty="0">
                <a:solidFill>
                  <a:srgbClr val="5BC8A8"/>
                </a:solidFill>
                <a:latin typeface="JetBrains Mono" pitchFamily="34" charset="0"/>
                <a:ea typeface="JetBrains Mono" pitchFamily="34" charset="-122"/>
                <a:cs typeface="JetBrains Mono" pitchFamily="34" charset="-120"/>
              </a:rPr>
              <a:t>100%</a:t>
            </a:r>
            <a:endParaRPr lang="en-US" sz="1125" dirty="0"/>
          </a:p>
        </p:txBody>
      </p:sp>
      <p:sp>
        <p:nvSpPr>
          <p:cNvPr id="11" name="Text 9"/>
          <p:cNvSpPr/>
          <p:nvPr/>
        </p:nvSpPr>
        <p:spPr>
          <a:xfrm>
            <a:off x="1123950" y="2667000"/>
            <a:ext cx="3025815"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전투 엔진</a:t>
            </a:r>
            <a:endParaRPr lang="en-US" sz="1725" dirty="0"/>
          </a:p>
        </p:txBody>
      </p:sp>
      <p:sp>
        <p:nvSpPr>
          <p:cNvPr id="12" name="Text 10"/>
          <p:cNvSpPr/>
          <p:nvPr/>
        </p:nvSpPr>
        <p:spPr>
          <a:xfrm>
            <a:off x="1123950" y="2965450"/>
            <a:ext cx="3025815" cy="203200"/>
          </a:xfrm>
          <a:prstGeom prst="rect">
            <a:avLst/>
          </a:prstGeom>
          <a:noFill/>
          <a:ln/>
        </p:spPr>
        <p:txBody>
          <a:bodyPr wrap="square" lIns="25400" tIns="25400" rIns="25400" bIns="25400" rtlCol="0" anchor="t">
            <a:normAutofit/>
          </a:bodyPr>
          <a:lstStyle/>
          <a:p>
            <a:pPr marL="0" indent="0" algn="l">
              <a:buNone/>
            </a:pPr>
            <a:r>
              <a:rPr lang="en-US" sz="975" dirty="0">
                <a:solidFill>
                  <a:srgbClr val="8A9AB8"/>
                </a:solidFill>
                <a:latin typeface="JetBrains Mono" pitchFamily="34" charset="0"/>
                <a:ea typeface="JetBrains Mono" pitchFamily="34" charset="-122"/>
                <a:cs typeface="JetBrains Mono" pitchFamily="34" charset="-120"/>
              </a:rPr>
              <a:t>5 패키지 · 19 산출물</a:t>
            </a:r>
            <a:endParaRPr lang="en-US" sz="975" dirty="0"/>
          </a:p>
        </p:txBody>
      </p:sp>
      <p:sp>
        <p:nvSpPr>
          <p:cNvPr id="13" name="Shape 11"/>
          <p:cNvSpPr/>
          <p:nvPr/>
        </p:nvSpPr>
        <p:spPr>
          <a:xfrm>
            <a:off x="1123950" y="4797425"/>
            <a:ext cx="2750741" cy="66675"/>
          </a:xfrm>
          <a:prstGeom prst="roundRect">
            <a:avLst>
              <a:gd name="adj" fmla="val 50000"/>
            </a:avLst>
          </a:prstGeom>
          <a:solidFill>
            <a:srgbClr val="0D1117"/>
          </a:solidFill>
          <a:ln/>
        </p:spPr>
        <p:txBody>
          <a:bodyPr/>
          <a:lstStyle/>
          <a:p>
            <a:endParaRPr lang="ko-KR" altLang="en-US"/>
          </a:p>
        </p:txBody>
      </p:sp>
      <p:sp>
        <p:nvSpPr>
          <p:cNvPr id="14" name="Shape 12"/>
          <p:cNvSpPr/>
          <p:nvPr/>
        </p:nvSpPr>
        <p:spPr>
          <a:xfrm>
            <a:off x="1123950" y="4797425"/>
            <a:ext cx="2750741" cy="66675"/>
          </a:xfrm>
          <a:prstGeom prst="roundRect">
            <a:avLst>
              <a:gd name="adj" fmla="val 50000"/>
            </a:avLst>
          </a:prstGeom>
          <a:solidFill>
            <a:srgbClr val="5BC8A8"/>
          </a:solidFill>
          <a:ln/>
        </p:spPr>
        <p:txBody>
          <a:bodyPr/>
          <a:lstStyle/>
          <a:p>
            <a:endParaRPr lang="ko-KR" altLang="en-US"/>
          </a:p>
        </p:txBody>
      </p:sp>
      <p:sp>
        <p:nvSpPr>
          <p:cNvPr id="15" name="Text 13"/>
          <p:cNvSpPr/>
          <p:nvPr/>
        </p:nvSpPr>
        <p:spPr>
          <a:xfrm>
            <a:off x="1123950" y="4930775"/>
            <a:ext cx="469106" cy="209550"/>
          </a:xfrm>
          <a:prstGeom prst="rect">
            <a:avLst/>
          </a:prstGeom>
          <a:noFill/>
          <a:ln/>
        </p:spPr>
        <p:txBody>
          <a:bodyPr wrap="square" lIns="25400" tIns="25400" rIns="25400" bIns="25400" rtlCol="0" anchor="t">
            <a:normAutofit/>
          </a:bodyPr>
          <a:lstStyle/>
          <a:p>
            <a:pPr marL="0" indent="0" algn="l">
              <a:buNone/>
            </a:pPr>
            <a:r>
              <a:rPr lang="en-US" sz="975" dirty="0">
                <a:solidFill>
                  <a:srgbClr val="5BC8A8"/>
                </a:solidFill>
                <a:latin typeface="JetBrains Mono" pitchFamily="34" charset="0"/>
                <a:ea typeface="JetBrains Mono" pitchFamily="34" charset="-122"/>
                <a:cs typeface="JetBrains Mono" pitchFamily="34" charset="-120"/>
              </a:rPr>
              <a:t>✅ 19</a:t>
            </a:r>
            <a:endParaRPr lang="en-US" sz="975" dirty="0"/>
          </a:p>
        </p:txBody>
      </p:sp>
      <p:sp>
        <p:nvSpPr>
          <p:cNvPr id="16" name="Text 14"/>
          <p:cNvSpPr/>
          <p:nvPr/>
        </p:nvSpPr>
        <p:spPr>
          <a:xfrm>
            <a:off x="3556000" y="4930775"/>
            <a:ext cx="394891" cy="209550"/>
          </a:xfrm>
          <a:prstGeom prst="rect">
            <a:avLst/>
          </a:prstGeom>
          <a:noFill/>
          <a:ln/>
        </p:spPr>
        <p:txBody>
          <a:bodyPr wrap="square" lIns="25400" tIns="25400" rIns="25400" bIns="25400" rtlCol="0" anchor="t">
            <a:normAutofit/>
          </a:bodyPr>
          <a:lstStyle/>
          <a:p>
            <a:pPr marL="0" indent="0" algn="l">
              <a:buNone/>
            </a:pPr>
            <a:r>
              <a:rPr lang="en-US" sz="975" dirty="0">
                <a:solidFill>
                  <a:srgbClr val="2E3C55"/>
                </a:solidFill>
                <a:latin typeface="JetBrains Mono" pitchFamily="34" charset="0"/>
                <a:ea typeface="JetBrains Mono" pitchFamily="34" charset="-122"/>
                <a:cs typeface="JetBrains Mono" pitchFamily="34" charset="-120"/>
              </a:rPr>
              <a:t>⬜ 0</a:t>
            </a:r>
            <a:endParaRPr lang="en-US" sz="975" dirty="0"/>
          </a:p>
        </p:txBody>
      </p:sp>
      <p:sp>
        <p:nvSpPr>
          <p:cNvPr id="17" name="Shape 15"/>
          <p:cNvSpPr/>
          <p:nvPr/>
        </p:nvSpPr>
        <p:spPr>
          <a:xfrm>
            <a:off x="4236641" y="2032000"/>
            <a:ext cx="3169940" cy="3260725"/>
          </a:xfrm>
          <a:prstGeom prst="roundRect">
            <a:avLst>
              <a:gd name="adj" fmla="val 2404"/>
            </a:avLst>
          </a:prstGeom>
          <a:solidFill>
            <a:srgbClr val="1A2236"/>
          </a:solidFill>
          <a:ln/>
        </p:spPr>
        <p:txBody>
          <a:bodyPr/>
          <a:lstStyle/>
          <a:p>
            <a:endParaRPr lang="ko-KR" altLang="en-US"/>
          </a:p>
        </p:txBody>
      </p:sp>
      <p:sp>
        <p:nvSpPr>
          <p:cNvPr id="18" name="Shape 16"/>
          <p:cNvSpPr/>
          <p:nvPr/>
        </p:nvSpPr>
        <p:spPr>
          <a:xfrm>
            <a:off x="4236641" y="2032000"/>
            <a:ext cx="3169940" cy="25400"/>
          </a:xfrm>
          <a:prstGeom prst="rect">
            <a:avLst/>
          </a:prstGeom>
          <a:solidFill>
            <a:srgbClr val="D97757"/>
          </a:solidFill>
          <a:ln/>
        </p:spPr>
        <p:txBody>
          <a:bodyPr/>
          <a:lstStyle/>
          <a:p>
            <a:endParaRPr lang="ko-KR" altLang="en-US"/>
          </a:p>
        </p:txBody>
      </p:sp>
      <p:sp>
        <p:nvSpPr>
          <p:cNvPr id="19" name="Text 17"/>
          <p:cNvSpPr/>
          <p:nvPr/>
        </p:nvSpPr>
        <p:spPr>
          <a:xfrm>
            <a:off x="4446191" y="2247900"/>
            <a:ext cx="487759"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D97757"/>
                </a:solidFill>
                <a:latin typeface="JetBrains Mono" pitchFamily="34" charset="0"/>
                <a:ea typeface="JetBrains Mono" pitchFamily="34" charset="-122"/>
                <a:cs typeface="JetBrains Mono" pitchFamily="34" charset="-120"/>
              </a:rPr>
              <a:t>2.0</a:t>
            </a:r>
            <a:endParaRPr lang="en-US" sz="1800" dirty="0"/>
          </a:p>
        </p:txBody>
      </p:sp>
      <p:sp>
        <p:nvSpPr>
          <p:cNvPr id="20" name="Text 18"/>
          <p:cNvSpPr/>
          <p:nvPr/>
        </p:nvSpPr>
        <p:spPr>
          <a:xfrm>
            <a:off x="6939855" y="2305050"/>
            <a:ext cx="333375" cy="228600"/>
          </a:xfrm>
          <a:prstGeom prst="rect">
            <a:avLst/>
          </a:prstGeom>
          <a:noFill/>
          <a:ln/>
        </p:spPr>
        <p:txBody>
          <a:bodyPr wrap="square" lIns="25400" tIns="25400" rIns="25400" bIns="25400" rtlCol="0" anchor="t">
            <a:normAutofit/>
          </a:bodyPr>
          <a:lstStyle/>
          <a:p>
            <a:pPr marL="0" indent="0" algn="l">
              <a:buNone/>
            </a:pPr>
            <a:r>
              <a:rPr lang="en-US" sz="1125" b="1" dirty="0">
                <a:solidFill>
                  <a:srgbClr val="E8B84B"/>
                </a:solidFill>
                <a:latin typeface="JetBrains Mono" pitchFamily="34" charset="0"/>
                <a:ea typeface="JetBrains Mono" pitchFamily="34" charset="-122"/>
                <a:cs typeface="JetBrains Mono" pitchFamily="34" charset="-120"/>
              </a:rPr>
              <a:t>71%</a:t>
            </a:r>
            <a:endParaRPr lang="en-US" sz="1125" dirty="0"/>
          </a:p>
        </p:txBody>
      </p:sp>
      <p:sp>
        <p:nvSpPr>
          <p:cNvPr id="21" name="Text 19"/>
          <p:cNvSpPr/>
          <p:nvPr/>
        </p:nvSpPr>
        <p:spPr>
          <a:xfrm>
            <a:off x="4446191" y="2667000"/>
            <a:ext cx="3025924"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캐릭터 시스템</a:t>
            </a:r>
            <a:endParaRPr lang="en-US" sz="1725" dirty="0"/>
          </a:p>
        </p:txBody>
      </p:sp>
      <p:sp>
        <p:nvSpPr>
          <p:cNvPr id="22" name="Text 20"/>
          <p:cNvSpPr/>
          <p:nvPr/>
        </p:nvSpPr>
        <p:spPr>
          <a:xfrm>
            <a:off x="4446191" y="2965450"/>
            <a:ext cx="3025924" cy="203200"/>
          </a:xfrm>
          <a:prstGeom prst="rect">
            <a:avLst/>
          </a:prstGeom>
          <a:noFill/>
          <a:ln/>
        </p:spPr>
        <p:txBody>
          <a:bodyPr wrap="square" lIns="25400" tIns="25400" rIns="25400" bIns="25400" rtlCol="0" anchor="t">
            <a:normAutofit/>
          </a:bodyPr>
          <a:lstStyle/>
          <a:p>
            <a:pPr marL="0" indent="0" algn="l">
              <a:buNone/>
            </a:pPr>
            <a:r>
              <a:rPr lang="en-US" sz="975" dirty="0">
                <a:solidFill>
                  <a:srgbClr val="8A9AB8"/>
                </a:solidFill>
                <a:latin typeface="JetBrains Mono" pitchFamily="34" charset="0"/>
                <a:ea typeface="JetBrains Mono" pitchFamily="34" charset="-122"/>
                <a:cs typeface="JetBrains Mono" pitchFamily="34" charset="-120"/>
              </a:rPr>
              <a:t>4 패키지 · 24 산출물</a:t>
            </a:r>
            <a:endParaRPr lang="en-US" sz="975" dirty="0"/>
          </a:p>
        </p:txBody>
      </p:sp>
      <p:sp>
        <p:nvSpPr>
          <p:cNvPr id="23" name="Shape 21"/>
          <p:cNvSpPr/>
          <p:nvPr/>
        </p:nvSpPr>
        <p:spPr>
          <a:xfrm>
            <a:off x="4446191" y="4797425"/>
            <a:ext cx="2750840" cy="66675"/>
          </a:xfrm>
          <a:prstGeom prst="roundRect">
            <a:avLst>
              <a:gd name="adj" fmla="val 50000"/>
            </a:avLst>
          </a:prstGeom>
          <a:solidFill>
            <a:srgbClr val="0D1117"/>
          </a:solidFill>
          <a:ln/>
        </p:spPr>
        <p:txBody>
          <a:bodyPr/>
          <a:lstStyle/>
          <a:p>
            <a:endParaRPr lang="ko-KR" altLang="en-US"/>
          </a:p>
        </p:txBody>
      </p:sp>
      <p:sp>
        <p:nvSpPr>
          <p:cNvPr id="24" name="Shape 22"/>
          <p:cNvSpPr/>
          <p:nvPr/>
        </p:nvSpPr>
        <p:spPr>
          <a:xfrm>
            <a:off x="4446191" y="4797425"/>
            <a:ext cx="1953022" cy="66675"/>
          </a:xfrm>
          <a:prstGeom prst="roundRect">
            <a:avLst>
              <a:gd name="adj" fmla="val 50000"/>
            </a:avLst>
          </a:prstGeom>
          <a:solidFill>
            <a:srgbClr val="E8B84B"/>
          </a:solidFill>
          <a:ln/>
        </p:spPr>
        <p:txBody>
          <a:bodyPr/>
          <a:lstStyle/>
          <a:p>
            <a:endParaRPr lang="ko-KR" altLang="en-US"/>
          </a:p>
        </p:txBody>
      </p:sp>
      <p:sp>
        <p:nvSpPr>
          <p:cNvPr id="25" name="Text 23"/>
          <p:cNvSpPr/>
          <p:nvPr/>
        </p:nvSpPr>
        <p:spPr>
          <a:xfrm>
            <a:off x="4446191" y="4930775"/>
            <a:ext cx="469106" cy="209550"/>
          </a:xfrm>
          <a:prstGeom prst="rect">
            <a:avLst/>
          </a:prstGeom>
          <a:noFill/>
          <a:ln/>
        </p:spPr>
        <p:txBody>
          <a:bodyPr wrap="square" lIns="25400" tIns="25400" rIns="25400" bIns="25400" rtlCol="0" anchor="t">
            <a:normAutofit/>
          </a:bodyPr>
          <a:lstStyle/>
          <a:p>
            <a:pPr marL="0" indent="0" algn="l">
              <a:buNone/>
            </a:pPr>
            <a:r>
              <a:rPr lang="en-US" sz="975" dirty="0">
                <a:solidFill>
                  <a:srgbClr val="5BC8A8"/>
                </a:solidFill>
                <a:latin typeface="JetBrains Mono" pitchFamily="34" charset="0"/>
                <a:ea typeface="JetBrains Mono" pitchFamily="34" charset="-122"/>
                <a:cs typeface="JetBrains Mono" pitchFamily="34" charset="-120"/>
              </a:rPr>
              <a:t>✅ 17</a:t>
            </a:r>
            <a:endParaRPr lang="en-US" sz="975" dirty="0"/>
          </a:p>
        </p:txBody>
      </p:sp>
      <p:sp>
        <p:nvSpPr>
          <p:cNvPr id="26" name="Text 24"/>
          <p:cNvSpPr/>
          <p:nvPr/>
        </p:nvSpPr>
        <p:spPr>
          <a:xfrm>
            <a:off x="6878340" y="4930775"/>
            <a:ext cx="394891" cy="209550"/>
          </a:xfrm>
          <a:prstGeom prst="rect">
            <a:avLst/>
          </a:prstGeom>
          <a:noFill/>
          <a:ln/>
        </p:spPr>
        <p:txBody>
          <a:bodyPr wrap="square" lIns="25400" tIns="25400" rIns="25400" bIns="25400" rtlCol="0" anchor="t">
            <a:normAutofit/>
          </a:bodyPr>
          <a:lstStyle/>
          <a:p>
            <a:pPr marL="0" indent="0" algn="l">
              <a:buNone/>
            </a:pPr>
            <a:r>
              <a:rPr lang="en-US" sz="975" dirty="0">
                <a:solidFill>
                  <a:srgbClr val="E8B84B"/>
                </a:solidFill>
                <a:latin typeface="JetBrains Mono" pitchFamily="34" charset="0"/>
                <a:ea typeface="JetBrains Mono" pitchFamily="34" charset="-122"/>
                <a:cs typeface="JetBrains Mono" pitchFamily="34" charset="-120"/>
              </a:rPr>
              <a:t>⬜ 7</a:t>
            </a:r>
            <a:endParaRPr lang="en-US" sz="975" dirty="0"/>
          </a:p>
        </p:txBody>
      </p:sp>
      <p:sp>
        <p:nvSpPr>
          <p:cNvPr id="27" name="Shape 25"/>
          <p:cNvSpPr/>
          <p:nvPr/>
        </p:nvSpPr>
        <p:spPr>
          <a:xfrm>
            <a:off x="7558980" y="2032000"/>
            <a:ext cx="3169940" cy="3260725"/>
          </a:xfrm>
          <a:prstGeom prst="roundRect">
            <a:avLst>
              <a:gd name="adj" fmla="val 2404"/>
            </a:avLst>
          </a:prstGeom>
          <a:solidFill>
            <a:srgbClr val="1A2236"/>
          </a:solidFill>
          <a:ln/>
        </p:spPr>
        <p:txBody>
          <a:bodyPr/>
          <a:lstStyle/>
          <a:p>
            <a:endParaRPr lang="ko-KR" altLang="en-US"/>
          </a:p>
        </p:txBody>
      </p:sp>
      <p:sp>
        <p:nvSpPr>
          <p:cNvPr id="28" name="Shape 26"/>
          <p:cNvSpPr/>
          <p:nvPr/>
        </p:nvSpPr>
        <p:spPr>
          <a:xfrm>
            <a:off x="7558980" y="2032000"/>
            <a:ext cx="3169940" cy="25400"/>
          </a:xfrm>
          <a:prstGeom prst="rect">
            <a:avLst/>
          </a:prstGeom>
          <a:solidFill>
            <a:srgbClr val="D97757"/>
          </a:solidFill>
          <a:ln/>
        </p:spPr>
        <p:txBody>
          <a:bodyPr/>
          <a:lstStyle/>
          <a:p>
            <a:endParaRPr lang="ko-KR" altLang="en-US"/>
          </a:p>
        </p:txBody>
      </p:sp>
      <p:sp>
        <p:nvSpPr>
          <p:cNvPr id="29" name="Text 27"/>
          <p:cNvSpPr/>
          <p:nvPr/>
        </p:nvSpPr>
        <p:spPr>
          <a:xfrm>
            <a:off x="7768530" y="2247900"/>
            <a:ext cx="487759"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D97757"/>
                </a:solidFill>
                <a:latin typeface="JetBrains Mono" pitchFamily="34" charset="0"/>
                <a:ea typeface="JetBrains Mono" pitchFamily="34" charset="-122"/>
                <a:cs typeface="JetBrains Mono" pitchFamily="34" charset="-120"/>
              </a:rPr>
              <a:t>3.0</a:t>
            </a:r>
            <a:endParaRPr lang="en-US" sz="1800" dirty="0"/>
          </a:p>
        </p:txBody>
      </p:sp>
      <p:sp>
        <p:nvSpPr>
          <p:cNvPr id="30" name="Text 28"/>
          <p:cNvSpPr/>
          <p:nvPr/>
        </p:nvSpPr>
        <p:spPr>
          <a:xfrm>
            <a:off x="10262196" y="2305050"/>
            <a:ext cx="333375" cy="228600"/>
          </a:xfrm>
          <a:prstGeom prst="rect">
            <a:avLst/>
          </a:prstGeom>
          <a:noFill/>
          <a:ln/>
        </p:spPr>
        <p:txBody>
          <a:bodyPr wrap="square" lIns="25400" tIns="25400" rIns="25400" bIns="25400" rtlCol="0" anchor="t">
            <a:normAutofit/>
          </a:bodyPr>
          <a:lstStyle/>
          <a:p>
            <a:pPr marL="0" indent="0" algn="l">
              <a:buNone/>
            </a:pPr>
            <a:r>
              <a:rPr lang="en-US" sz="1125" b="1" dirty="0">
                <a:solidFill>
                  <a:srgbClr val="E8B84B"/>
                </a:solidFill>
                <a:latin typeface="JetBrains Mono" pitchFamily="34" charset="0"/>
                <a:ea typeface="JetBrains Mono" pitchFamily="34" charset="-122"/>
                <a:cs typeface="JetBrains Mono" pitchFamily="34" charset="-120"/>
              </a:rPr>
              <a:t>75%</a:t>
            </a:r>
            <a:endParaRPr lang="en-US" sz="1125" dirty="0"/>
          </a:p>
        </p:txBody>
      </p:sp>
      <p:sp>
        <p:nvSpPr>
          <p:cNvPr id="31" name="Text 29"/>
          <p:cNvSpPr/>
          <p:nvPr/>
        </p:nvSpPr>
        <p:spPr>
          <a:xfrm>
            <a:off x="7768530" y="2667000"/>
            <a:ext cx="3025924"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적 AI 시스템</a:t>
            </a:r>
            <a:endParaRPr lang="en-US" sz="1725" dirty="0"/>
          </a:p>
        </p:txBody>
      </p:sp>
      <p:sp>
        <p:nvSpPr>
          <p:cNvPr id="32" name="Text 30"/>
          <p:cNvSpPr/>
          <p:nvPr/>
        </p:nvSpPr>
        <p:spPr>
          <a:xfrm>
            <a:off x="7768530" y="2965450"/>
            <a:ext cx="3025924" cy="203200"/>
          </a:xfrm>
          <a:prstGeom prst="rect">
            <a:avLst/>
          </a:prstGeom>
          <a:noFill/>
          <a:ln/>
        </p:spPr>
        <p:txBody>
          <a:bodyPr wrap="square" lIns="25400" tIns="25400" rIns="25400" bIns="25400" rtlCol="0" anchor="t">
            <a:normAutofit/>
          </a:bodyPr>
          <a:lstStyle/>
          <a:p>
            <a:pPr marL="0" indent="0" algn="l">
              <a:buNone/>
            </a:pPr>
            <a:r>
              <a:rPr lang="en-US" sz="975" dirty="0">
                <a:solidFill>
                  <a:srgbClr val="8A9AB8"/>
                </a:solidFill>
                <a:latin typeface="JetBrains Mono" pitchFamily="34" charset="0"/>
                <a:ea typeface="JetBrains Mono" pitchFamily="34" charset="-122"/>
                <a:cs typeface="JetBrains Mono" pitchFamily="34" charset="-120"/>
              </a:rPr>
              <a:t>2 패키지 · 8 산출물</a:t>
            </a:r>
            <a:endParaRPr lang="en-US" sz="975" dirty="0"/>
          </a:p>
        </p:txBody>
      </p:sp>
      <p:sp>
        <p:nvSpPr>
          <p:cNvPr id="33" name="Shape 31"/>
          <p:cNvSpPr/>
          <p:nvPr/>
        </p:nvSpPr>
        <p:spPr>
          <a:xfrm>
            <a:off x="7768530" y="4797425"/>
            <a:ext cx="2750840" cy="66675"/>
          </a:xfrm>
          <a:prstGeom prst="roundRect">
            <a:avLst>
              <a:gd name="adj" fmla="val 50000"/>
            </a:avLst>
          </a:prstGeom>
          <a:solidFill>
            <a:srgbClr val="0D1117"/>
          </a:solidFill>
          <a:ln/>
        </p:spPr>
        <p:txBody>
          <a:bodyPr/>
          <a:lstStyle/>
          <a:p>
            <a:endParaRPr lang="ko-KR" altLang="en-US"/>
          </a:p>
        </p:txBody>
      </p:sp>
      <p:sp>
        <p:nvSpPr>
          <p:cNvPr id="34" name="Shape 32"/>
          <p:cNvSpPr/>
          <p:nvPr/>
        </p:nvSpPr>
        <p:spPr>
          <a:xfrm>
            <a:off x="7768530" y="4797425"/>
            <a:ext cx="2063055" cy="66675"/>
          </a:xfrm>
          <a:prstGeom prst="roundRect">
            <a:avLst>
              <a:gd name="adj" fmla="val 50000"/>
            </a:avLst>
          </a:prstGeom>
          <a:solidFill>
            <a:srgbClr val="E8B84B"/>
          </a:solidFill>
          <a:ln/>
        </p:spPr>
        <p:txBody>
          <a:bodyPr/>
          <a:lstStyle/>
          <a:p>
            <a:endParaRPr lang="ko-KR" altLang="en-US"/>
          </a:p>
        </p:txBody>
      </p:sp>
      <p:sp>
        <p:nvSpPr>
          <p:cNvPr id="35" name="Text 33"/>
          <p:cNvSpPr/>
          <p:nvPr/>
        </p:nvSpPr>
        <p:spPr>
          <a:xfrm>
            <a:off x="7768530" y="4930775"/>
            <a:ext cx="394891" cy="209550"/>
          </a:xfrm>
          <a:prstGeom prst="rect">
            <a:avLst/>
          </a:prstGeom>
          <a:noFill/>
          <a:ln/>
        </p:spPr>
        <p:txBody>
          <a:bodyPr wrap="square" lIns="25400" tIns="25400" rIns="25400" bIns="25400" rtlCol="0" anchor="t">
            <a:normAutofit/>
          </a:bodyPr>
          <a:lstStyle/>
          <a:p>
            <a:pPr marL="0" indent="0" algn="l">
              <a:buNone/>
            </a:pPr>
            <a:r>
              <a:rPr lang="en-US" sz="975" dirty="0">
                <a:solidFill>
                  <a:srgbClr val="5BC8A8"/>
                </a:solidFill>
                <a:latin typeface="JetBrains Mono" pitchFamily="34" charset="0"/>
                <a:ea typeface="JetBrains Mono" pitchFamily="34" charset="-122"/>
                <a:cs typeface="JetBrains Mono" pitchFamily="34" charset="-120"/>
              </a:rPr>
              <a:t>✅ 6</a:t>
            </a:r>
            <a:endParaRPr lang="en-US" sz="975" dirty="0"/>
          </a:p>
        </p:txBody>
      </p:sp>
      <p:sp>
        <p:nvSpPr>
          <p:cNvPr id="36" name="Text 34"/>
          <p:cNvSpPr/>
          <p:nvPr/>
        </p:nvSpPr>
        <p:spPr>
          <a:xfrm>
            <a:off x="10200680" y="4930775"/>
            <a:ext cx="394891" cy="209550"/>
          </a:xfrm>
          <a:prstGeom prst="rect">
            <a:avLst/>
          </a:prstGeom>
          <a:noFill/>
          <a:ln/>
        </p:spPr>
        <p:txBody>
          <a:bodyPr wrap="square" lIns="25400" tIns="25400" rIns="25400" bIns="25400" rtlCol="0" anchor="t">
            <a:normAutofit/>
          </a:bodyPr>
          <a:lstStyle/>
          <a:p>
            <a:pPr marL="0" indent="0" algn="l">
              <a:buNone/>
            </a:pPr>
            <a:r>
              <a:rPr lang="en-US" sz="975" dirty="0">
                <a:solidFill>
                  <a:srgbClr val="E8B84B"/>
                </a:solidFill>
                <a:latin typeface="JetBrains Mono" pitchFamily="34" charset="0"/>
                <a:ea typeface="JetBrains Mono" pitchFamily="34" charset="-122"/>
                <a:cs typeface="JetBrains Mono" pitchFamily="34" charset="-120"/>
              </a:rPr>
              <a:t>⬜ 2</a:t>
            </a:r>
            <a:endParaRPr lang="en-US" sz="975" dirty="0"/>
          </a:p>
        </p:txBody>
      </p:sp>
      <p:sp>
        <p:nvSpPr>
          <p:cNvPr id="37" name="Shape 35"/>
          <p:cNvSpPr/>
          <p:nvPr/>
        </p:nvSpPr>
        <p:spPr>
          <a:xfrm>
            <a:off x="10881321" y="2032000"/>
            <a:ext cx="3169940" cy="3260725"/>
          </a:xfrm>
          <a:prstGeom prst="roundRect">
            <a:avLst>
              <a:gd name="adj" fmla="val 2404"/>
            </a:avLst>
          </a:prstGeom>
          <a:solidFill>
            <a:srgbClr val="1A2236"/>
          </a:solidFill>
          <a:ln/>
        </p:spPr>
        <p:txBody>
          <a:bodyPr/>
          <a:lstStyle/>
          <a:p>
            <a:endParaRPr lang="ko-KR" altLang="en-US"/>
          </a:p>
        </p:txBody>
      </p:sp>
      <p:sp>
        <p:nvSpPr>
          <p:cNvPr id="38" name="Shape 36"/>
          <p:cNvSpPr/>
          <p:nvPr/>
        </p:nvSpPr>
        <p:spPr>
          <a:xfrm>
            <a:off x="10881321" y="2032000"/>
            <a:ext cx="3169940" cy="25400"/>
          </a:xfrm>
          <a:prstGeom prst="rect">
            <a:avLst/>
          </a:prstGeom>
          <a:solidFill>
            <a:srgbClr val="D97757"/>
          </a:solidFill>
          <a:ln/>
        </p:spPr>
        <p:txBody>
          <a:bodyPr/>
          <a:lstStyle/>
          <a:p>
            <a:endParaRPr lang="ko-KR" altLang="en-US"/>
          </a:p>
        </p:txBody>
      </p:sp>
      <p:sp>
        <p:nvSpPr>
          <p:cNvPr id="39" name="Text 37"/>
          <p:cNvSpPr/>
          <p:nvPr/>
        </p:nvSpPr>
        <p:spPr>
          <a:xfrm>
            <a:off x="11090871" y="2247900"/>
            <a:ext cx="487759"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D97757"/>
                </a:solidFill>
                <a:latin typeface="JetBrains Mono" pitchFamily="34" charset="0"/>
                <a:ea typeface="JetBrains Mono" pitchFamily="34" charset="-122"/>
                <a:cs typeface="JetBrains Mono" pitchFamily="34" charset="-120"/>
              </a:rPr>
              <a:t>4.0</a:t>
            </a:r>
            <a:endParaRPr lang="en-US" sz="1800" dirty="0"/>
          </a:p>
        </p:txBody>
      </p:sp>
      <p:sp>
        <p:nvSpPr>
          <p:cNvPr id="40" name="Text 38"/>
          <p:cNvSpPr/>
          <p:nvPr/>
        </p:nvSpPr>
        <p:spPr>
          <a:xfrm>
            <a:off x="13584536" y="2305050"/>
            <a:ext cx="333375" cy="228600"/>
          </a:xfrm>
          <a:prstGeom prst="rect">
            <a:avLst/>
          </a:prstGeom>
          <a:noFill/>
          <a:ln/>
        </p:spPr>
        <p:txBody>
          <a:bodyPr wrap="square" lIns="25400" tIns="25400" rIns="25400" bIns="25400" rtlCol="0" anchor="t">
            <a:normAutofit/>
          </a:bodyPr>
          <a:lstStyle/>
          <a:p>
            <a:pPr marL="0" indent="0" algn="l">
              <a:buNone/>
            </a:pPr>
            <a:r>
              <a:rPr lang="en-US" sz="1125" b="1" dirty="0">
                <a:solidFill>
                  <a:srgbClr val="E8B84B"/>
                </a:solidFill>
                <a:latin typeface="JetBrains Mono" pitchFamily="34" charset="0"/>
                <a:ea typeface="JetBrains Mono" pitchFamily="34" charset="-122"/>
                <a:cs typeface="JetBrains Mono" pitchFamily="34" charset="-120"/>
              </a:rPr>
              <a:t>76%</a:t>
            </a:r>
            <a:endParaRPr lang="en-US" sz="1125" dirty="0"/>
          </a:p>
        </p:txBody>
      </p:sp>
      <p:sp>
        <p:nvSpPr>
          <p:cNvPr id="41" name="Text 39"/>
          <p:cNvSpPr/>
          <p:nvPr/>
        </p:nvSpPr>
        <p:spPr>
          <a:xfrm>
            <a:off x="11090871" y="2667000"/>
            <a:ext cx="3025924"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스테이지 &amp; 월드</a:t>
            </a:r>
            <a:endParaRPr lang="en-US" sz="1725" dirty="0"/>
          </a:p>
        </p:txBody>
      </p:sp>
      <p:sp>
        <p:nvSpPr>
          <p:cNvPr id="42" name="Text 40"/>
          <p:cNvSpPr/>
          <p:nvPr/>
        </p:nvSpPr>
        <p:spPr>
          <a:xfrm>
            <a:off x="11090871" y="2965450"/>
            <a:ext cx="3025924" cy="203200"/>
          </a:xfrm>
          <a:prstGeom prst="rect">
            <a:avLst/>
          </a:prstGeom>
          <a:noFill/>
          <a:ln/>
        </p:spPr>
        <p:txBody>
          <a:bodyPr wrap="square" lIns="25400" tIns="25400" rIns="25400" bIns="25400" rtlCol="0" anchor="t">
            <a:normAutofit/>
          </a:bodyPr>
          <a:lstStyle/>
          <a:p>
            <a:pPr marL="0" indent="0" algn="l">
              <a:buNone/>
            </a:pPr>
            <a:r>
              <a:rPr lang="en-US" sz="975" dirty="0">
                <a:solidFill>
                  <a:srgbClr val="8A9AB8"/>
                </a:solidFill>
                <a:latin typeface="JetBrains Mono" pitchFamily="34" charset="0"/>
                <a:ea typeface="JetBrains Mono" pitchFamily="34" charset="-122"/>
                <a:cs typeface="JetBrains Mono" pitchFamily="34" charset="-120"/>
              </a:rPr>
              <a:t>3 패키지 · 17 산출물</a:t>
            </a:r>
            <a:endParaRPr lang="en-US" sz="975" dirty="0"/>
          </a:p>
        </p:txBody>
      </p:sp>
      <p:sp>
        <p:nvSpPr>
          <p:cNvPr id="43" name="Shape 41"/>
          <p:cNvSpPr/>
          <p:nvPr/>
        </p:nvSpPr>
        <p:spPr>
          <a:xfrm>
            <a:off x="11090871" y="4797425"/>
            <a:ext cx="2750840" cy="66675"/>
          </a:xfrm>
          <a:prstGeom prst="roundRect">
            <a:avLst>
              <a:gd name="adj" fmla="val 50000"/>
            </a:avLst>
          </a:prstGeom>
          <a:solidFill>
            <a:srgbClr val="0D1117"/>
          </a:solidFill>
          <a:ln/>
        </p:spPr>
        <p:txBody>
          <a:bodyPr/>
          <a:lstStyle/>
          <a:p>
            <a:endParaRPr lang="ko-KR" altLang="en-US"/>
          </a:p>
        </p:txBody>
      </p:sp>
      <p:sp>
        <p:nvSpPr>
          <p:cNvPr id="44" name="Shape 42"/>
          <p:cNvSpPr/>
          <p:nvPr/>
        </p:nvSpPr>
        <p:spPr>
          <a:xfrm>
            <a:off x="11090871" y="4797425"/>
            <a:ext cx="2090638" cy="66675"/>
          </a:xfrm>
          <a:prstGeom prst="roundRect">
            <a:avLst>
              <a:gd name="adj" fmla="val 50000"/>
            </a:avLst>
          </a:prstGeom>
          <a:solidFill>
            <a:srgbClr val="E8B84B"/>
          </a:solidFill>
          <a:ln/>
        </p:spPr>
        <p:txBody>
          <a:bodyPr/>
          <a:lstStyle/>
          <a:p>
            <a:endParaRPr lang="ko-KR" altLang="en-US"/>
          </a:p>
        </p:txBody>
      </p:sp>
      <p:sp>
        <p:nvSpPr>
          <p:cNvPr id="45" name="Text 43"/>
          <p:cNvSpPr/>
          <p:nvPr/>
        </p:nvSpPr>
        <p:spPr>
          <a:xfrm>
            <a:off x="11090871" y="4930775"/>
            <a:ext cx="469106" cy="209550"/>
          </a:xfrm>
          <a:prstGeom prst="rect">
            <a:avLst/>
          </a:prstGeom>
          <a:noFill/>
          <a:ln/>
        </p:spPr>
        <p:txBody>
          <a:bodyPr wrap="square" lIns="25400" tIns="25400" rIns="25400" bIns="25400" rtlCol="0" anchor="t">
            <a:normAutofit/>
          </a:bodyPr>
          <a:lstStyle/>
          <a:p>
            <a:pPr marL="0" indent="0" algn="l">
              <a:buNone/>
            </a:pPr>
            <a:r>
              <a:rPr lang="en-US" sz="975" dirty="0">
                <a:solidFill>
                  <a:srgbClr val="5BC8A8"/>
                </a:solidFill>
                <a:latin typeface="JetBrains Mono" pitchFamily="34" charset="0"/>
                <a:ea typeface="JetBrains Mono" pitchFamily="34" charset="-122"/>
                <a:cs typeface="JetBrains Mono" pitchFamily="34" charset="-120"/>
              </a:rPr>
              <a:t>✅ 13</a:t>
            </a:r>
            <a:endParaRPr lang="en-US" sz="975" dirty="0"/>
          </a:p>
        </p:txBody>
      </p:sp>
      <p:sp>
        <p:nvSpPr>
          <p:cNvPr id="46" name="Text 44"/>
          <p:cNvSpPr/>
          <p:nvPr/>
        </p:nvSpPr>
        <p:spPr>
          <a:xfrm>
            <a:off x="13523020" y="4930775"/>
            <a:ext cx="394891" cy="209550"/>
          </a:xfrm>
          <a:prstGeom prst="rect">
            <a:avLst/>
          </a:prstGeom>
          <a:noFill/>
          <a:ln/>
        </p:spPr>
        <p:txBody>
          <a:bodyPr wrap="square" lIns="25400" tIns="25400" rIns="25400" bIns="25400" rtlCol="0" anchor="t">
            <a:normAutofit/>
          </a:bodyPr>
          <a:lstStyle/>
          <a:p>
            <a:pPr marL="0" indent="0" algn="l">
              <a:buNone/>
            </a:pPr>
            <a:r>
              <a:rPr lang="en-US" sz="975" dirty="0">
                <a:solidFill>
                  <a:srgbClr val="E8B84B"/>
                </a:solidFill>
                <a:latin typeface="JetBrains Mono" pitchFamily="34" charset="0"/>
                <a:ea typeface="JetBrains Mono" pitchFamily="34" charset="-122"/>
                <a:cs typeface="JetBrains Mono" pitchFamily="34" charset="-120"/>
              </a:rPr>
              <a:t>⬜ 4</a:t>
            </a:r>
            <a:endParaRPr lang="en-US" sz="975" dirty="0"/>
          </a:p>
        </p:txBody>
      </p:sp>
      <p:sp>
        <p:nvSpPr>
          <p:cNvPr id="47" name="Shape 45"/>
          <p:cNvSpPr/>
          <p:nvPr/>
        </p:nvSpPr>
        <p:spPr>
          <a:xfrm>
            <a:off x="14203661" y="2032000"/>
            <a:ext cx="3169940" cy="3260725"/>
          </a:xfrm>
          <a:prstGeom prst="roundRect">
            <a:avLst>
              <a:gd name="adj" fmla="val 2404"/>
            </a:avLst>
          </a:prstGeom>
          <a:solidFill>
            <a:srgbClr val="1A2236"/>
          </a:solidFill>
          <a:ln/>
        </p:spPr>
        <p:txBody>
          <a:bodyPr/>
          <a:lstStyle/>
          <a:p>
            <a:endParaRPr lang="ko-KR" altLang="en-US"/>
          </a:p>
        </p:txBody>
      </p:sp>
      <p:sp>
        <p:nvSpPr>
          <p:cNvPr id="48" name="Shape 46"/>
          <p:cNvSpPr/>
          <p:nvPr/>
        </p:nvSpPr>
        <p:spPr>
          <a:xfrm>
            <a:off x="14203661" y="2032000"/>
            <a:ext cx="3169940" cy="25400"/>
          </a:xfrm>
          <a:prstGeom prst="rect">
            <a:avLst/>
          </a:prstGeom>
          <a:solidFill>
            <a:srgbClr val="D97757"/>
          </a:solidFill>
          <a:ln/>
        </p:spPr>
        <p:txBody>
          <a:bodyPr/>
          <a:lstStyle/>
          <a:p>
            <a:endParaRPr lang="ko-KR" altLang="en-US"/>
          </a:p>
        </p:txBody>
      </p:sp>
      <p:sp>
        <p:nvSpPr>
          <p:cNvPr id="49" name="Text 47"/>
          <p:cNvSpPr/>
          <p:nvPr/>
        </p:nvSpPr>
        <p:spPr>
          <a:xfrm>
            <a:off x="14413211" y="2247900"/>
            <a:ext cx="487759"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D97757"/>
                </a:solidFill>
                <a:latin typeface="JetBrains Mono" pitchFamily="34" charset="0"/>
                <a:ea typeface="JetBrains Mono" pitchFamily="34" charset="-122"/>
                <a:cs typeface="JetBrains Mono" pitchFamily="34" charset="-120"/>
              </a:rPr>
              <a:t>5.0</a:t>
            </a:r>
            <a:endParaRPr lang="en-US" sz="1800" dirty="0"/>
          </a:p>
        </p:txBody>
      </p:sp>
      <p:sp>
        <p:nvSpPr>
          <p:cNvPr id="50" name="Text 48"/>
          <p:cNvSpPr/>
          <p:nvPr/>
        </p:nvSpPr>
        <p:spPr>
          <a:xfrm>
            <a:off x="16821150" y="2305050"/>
            <a:ext cx="419100" cy="228600"/>
          </a:xfrm>
          <a:prstGeom prst="rect">
            <a:avLst/>
          </a:prstGeom>
          <a:noFill/>
          <a:ln/>
        </p:spPr>
        <p:txBody>
          <a:bodyPr wrap="square" lIns="25400" tIns="25400" rIns="25400" bIns="25400" rtlCol="0" anchor="t">
            <a:normAutofit/>
          </a:bodyPr>
          <a:lstStyle/>
          <a:p>
            <a:pPr marL="0" indent="0" algn="l">
              <a:buNone/>
            </a:pPr>
            <a:r>
              <a:rPr lang="en-US" sz="1125" b="1" dirty="0">
                <a:solidFill>
                  <a:srgbClr val="5BC8A8"/>
                </a:solidFill>
                <a:latin typeface="JetBrains Mono" pitchFamily="34" charset="0"/>
                <a:ea typeface="JetBrains Mono" pitchFamily="34" charset="-122"/>
                <a:cs typeface="JetBrains Mono" pitchFamily="34" charset="-120"/>
              </a:rPr>
              <a:t>100%</a:t>
            </a:r>
            <a:endParaRPr lang="en-US" sz="1125" dirty="0"/>
          </a:p>
        </p:txBody>
      </p:sp>
      <p:sp>
        <p:nvSpPr>
          <p:cNvPr id="51" name="Text 49"/>
          <p:cNvSpPr/>
          <p:nvPr/>
        </p:nvSpPr>
        <p:spPr>
          <a:xfrm>
            <a:off x="14413211" y="2667000"/>
            <a:ext cx="3025924"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진행 &amp; 저장</a:t>
            </a:r>
            <a:endParaRPr lang="en-US" sz="1725" dirty="0"/>
          </a:p>
        </p:txBody>
      </p:sp>
      <p:sp>
        <p:nvSpPr>
          <p:cNvPr id="52" name="Text 50"/>
          <p:cNvSpPr/>
          <p:nvPr/>
        </p:nvSpPr>
        <p:spPr>
          <a:xfrm>
            <a:off x="14413211" y="2965450"/>
            <a:ext cx="3025924" cy="203200"/>
          </a:xfrm>
          <a:prstGeom prst="rect">
            <a:avLst/>
          </a:prstGeom>
          <a:noFill/>
          <a:ln/>
        </p:spPr>
        <p:txBody>
          <a:bodyPr wrap="square" lIns="25400" tIns="25400" rIns="25400" bIns="25400" rtlCol="0" anchor="t">
            <a:normAutofit/>
          </a:bodyPr>
          <a:lstStyle/>
          <a:p>
            <a:pPr marL="0" indent="0" algn="l">
              <a:buNone/>
            </a:pPr>
            <a:r>
              <a:rPr lang="en-US" sz="975" dirty="0">
                <a:solidFill>
                  <a:srgbClr val="8A9AB8"/>
                </a:solidFill>
                <a:latin typeface="JetBrains Mono" pitchFamily="34" charset="0"/>
                <a:ea typeface="JetBrains Mono" pitchFamily="34" charset="-122"/>
                <a:cs typeface="JetBrains Mono" pitchFamily="34" charset="-120"/>
              </a:rPr>
              <a:t>4 패키지 · 13 산출물</a:t>
            </a:r>
            <a:endParaRPr lang="en-US" sz="975" dirty="0"/>
          </a:p>
        </p:txBody>
      </p:sp>
      <p:sp>
        <p:nvSpPr>
          <p:cNvPr id="53" name="Shape 51"/>
          <p:cNvSpPr/>
          <p:nvPr/>
        </p:nvSpPr>
        <p:spPr>
          <a:xfrm>
            <a:off x="14413211" y="4797425"/>
            <a:ext cx="2750840" cy="66675"/>
          </a:xfrm>
          <a:prstGeom prst="roundRect">
            <a:avLst>
              <a:gd name="adj" fmla="val 50000"/>
            </a:avLst>
          </a:prstGeom>
          <a:solidFill>
            <a:srgbClr val="0D1117"/>
          </a:solidFill>
          <a:ln/>
        </p:spPr>
        <p:txBody>
          <a:bodyPr/>
          <a:lstStyle/>
          <a:p>
            <a:endParaRPr lang="ko-KR" altLang="en-US"/>
          </a:p>
        </p:txBody>
      </p:sp>
      <p:sp>
        <p:nvSpPr>
          <p:cNvPr id="54" name="Shape 52"/>
          <p:cNvSpPr/>
          <p:nvPr/>
        </p:nvSpPr>
        <p:spPr>
          <a:xfrm>
            <a:off x="14413211" y="4797425"/>
            <a:ext cx="2750840" cy="66675"/>
          </a:xfrm>
          <a:prstGeom prst="roundRect">
            <a:avLst>
              <a:gd name="adj" fmla="val 50000"/>
            </a:avLst>
          </a:prstGeom>
          <a:solidFill>
            <a:srgbClr val="5BC8A8"/>
          </a:solidFill>
          <a:ln/>
        </p:spPr>
        <p:txBody>
          <a:bodyPr/>
          <a:lstStyle/>
          <a:p>
            <a:endParaRPr lang="ko-KR" altLang="en-US"/>
          </a:p>
        </p:txBody>
      </p:sp>
      <p:sp>
        <p:nvSpPr>
          <p:cNvPr id="55" name="Text 53"/>
          <p:cNvSpPr/>
          <p:nvPr/>
        </p:nvSpPr>
        <p:spPr>
          <a:xfrm>
            <a:off x="14413211" y="4930775"/>
            <a:ext cx="469106" cy="209550"/>
          </a:xfrm>
          <a:prstGeom prst="rect">
            <a:avLst/>
          </a:prstGeom>
          <a:noFill/>
          <a:ln/>
        </p:spPr>
        <p:txBody>
          <a:bodyPr wrap="square" lIns="25400" tIns="25400" rIns="25400" bIns="25400" rtlCol="0" anchor="t">
            <a:normAutofit/>
          </a:bodyPr>
          <a:lstStyle/>
          <a:p>
            <a:pPr marL="0" indent="0" algn="l">
              <a:buNone/>
            </a:pPr>
            <a:r>
              <a:rPr lang="en-US" sz="975" dirty="0">
                <a:solidFill>
                  <a:srgbClr val="5BC8A8"/>
                </a:solidFill>
                <a:latin typeface="JetBrains Mono" pitchFamily="34" charset="0"/>
                <a:ea typeface="JetBrains Mono" pitchFamily="34" charset="-122"/>
                <a:cs typeface="JetBrains Mono" pitchFamily="34" charset="-120"/>
              </a:rPr>
              <a:t>✅ 13</a:t>
            </a:r>
            <a:endParaRPr lang="en-US" sz="975" dirty="0"/>
          </a:p>
        </p:txBody>
      </p:sp>
      <p:sp>
        <p:nvSpPr>
          <p:cNvPr id="56" name="Text 54"/>
          <p:cNvSpPr/>
          <p:nvPr/>
        </p:nvSpPr>
        <p:spPr>
          <a:xfrm>
            <a:off x="16845360" y="4930775"/>
            <a:ext cx="394891" cy="209550"/>
          </a:xfrm>
          <a:prstGeom prst="rect">
            <a:avLst/>
          </a:prstGeom>
          <a:noFill/>
          <a:ln/>
        </p:spPr>
        <p:txBody>
          <a:bodyPr wrap="square" lIns="25400" tIns="25400" rIns="25400" bIns="25400" rtlCol="0" anchor="t">
            <a:normAutofit/>
          </a:bodyPr>
          <a:lstStyle/>
          <a:p>
            <a:pPr marL="0" indent="0" algn="l">
              <a:buNone/>
            </a:pPr>
            <a:r>
              <a:rPr lang="en-US" sz="975" dirty="0">
                <a:solidFill>
                  <a:srgbClr val="2E3C55"/>
                </a:solidFill>
                <a:latin typeface="JetBrains Mono" pitchFamily="34" charset="0"/>
                <a:ea typeface="JetBrains Mono" pitchFamily="34" charset="-122"/>
                <a:cs typeface="JetBrains Mono" pitchFamily="34" charset="-120"/>
              </a:rPr>
              <a:t>⬜ 0</a:t>
            </a:r>
            <a:endParaRPr lang="en-US" sz="975" dirty="0"/>
          </a:p>
        </p:txBody>
      </p:sp>
      <p:sp>
        <p:nvSpPr>
          <p:cNvPr id="57" name="Shape 55"/>
          <p:cNvSpPr/>
          <p:nvPr/>
        </p:nvSpPr>
        <p:spPr>
          <a:xfrm>
            <a:off x="914400" y="5445125"/>
            <a:ext cx="3169841" cy="3260725"/>
          </a:xfrm>
          <a:prstGeom prst="roundRect">
            <a:avLst>
              <a:gd name="adj" fmla="val 2404"/>
            </a:avLst>
          </a:prstGeom>
          <a:solidFill>
            <a:srgbClr val="1A2236"/>
          </a:solidFill>
          <a:ln/>
        </p:spPr>
        <p:txBody>
          <a:bodyPr/>
          <a:lstStyle/>
          <a:p>
            <a:endParaRPr lang="ko-KR" altLang="en-US"/>
          </a:p>
        </p:txBody>
      </p:sp>
      <p:sp>
        <p:nvSpPr>
          <p:cNvPr id="58" name="Shape 56"/>
          <p:cNvSpPr/>
          <p:nvPr/>
        </p:nvSpPr>
        <p:spPr>
          <a:xfrm>
            <a:off x="914400" y="5445125"/>
            <a:ext cx="3169841" cy="25400"/>
          </a:xfrm>
          <a:prstGeom prst="rect">
            <a:avLst/>
          </a:prstGeom>
          <a:solidFill>
            <a:srgbClr val="D97757"/>
          </a:solidFill>
          <a:ln/>
        </p:spPr>
        <p:txBody>
          <a:bodyPr/>
          <a:lstStyle/>
          <a:p>
            <a:endParaRPr lang="ko-KR" altLang="en-US"/>
          </a:p>
        </p:txBody>
      </p:sp>
      <p:sp>
        <p:nvSpPr>
          <p:cNvPr id="59" name="Text 57"/>
          <p:cNvSpPr/>
          <p:nvPr/>
        </p:nvSpPr>
        <p:spPr>
          <a:xfrm>
            <a:off x="1123950" y="5661025"/>
            <a:ext cx="487759"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D97757"/>
                </a:solidFill>
                <a:latin typeface="JetBrains Mono" pitchFamily="34" charset="0"/>
                <a:ea typeface="JetBrains Mono" pitchFamily="34" charset="-122"/>
                <a:cs typeface="JetBrains Mono" pitchFamily="34" charset="-120"/>
              </a:rPr>
              <a:t>6.0</a:t>
            </a:r>
            <a:endParaRPr lang="en-US" sz="1800" dirty="0"/>
          </a:p>
        </p:txBody>
      </p:sp>
      <p:sp>
        <p:nvSpPr>
          <p:cNvPr id="60" name="Text 58"/>
          <p:cNvSpPr/>
          <p:nvPr/>
        </p:nvSpPr>
        <p:spPr>
          <a:xfrm>
            <a:off x="3617516" y="5718175"/>
            <a:ext cx="333375" cy="228600"/>
          </a:xfrm>
          <a:prstGeom prst="rect">
            <a:avLst/>
          </a:prstGeom>
          <a:noFill/>
          <a:ln/>
        </p:spPr>
        <p:txBody>
          <a:bodyPr wrap="square" lIns="25400" tIns="25400" rIns="25400" bIns="25400" rtlCol="0" anchor="t">
            <a:normAutofit/>
          </a:bodyPr>
          <a:lstStyle/>
          <a:p>
            <a:pPr marL="0" indent="0" algn="l">
              <a:buNone/>
            </a:pPr>
            <a:r>
              <a:rPr lang="en-US" sz="1125" b="1" dirty="0">
                <a:solidFill>
                  <a:srgbClr val="E8B84B"/>
                </a:solidFill>
                <a:latin typeface="JetBrains Mono" pitchFamily="34" charset="0"/>
                <a:ea typeface="JetBrains Mono" pitchFamily="34" charset="-122"/>
                <a:cs typeface="JetBrains Mono" pitchFamily="34" charset="-120"/>
              </a:rPr>
              <a:t>95%</a:t>
            </a:r>
            <a:endParaRPr lang="en-US" sz="1125" dirty="0"/>
          </a:p>
        </p:txBody>
      </p:sp>
      <p:sp>
        <p:nvSpPr>
          <p:cNvPr id="61" name="Text 59"/>
          <p:cNvSpPr/>
          <p:nvPr/>
        </p:nvSpPr>
        <p:spPr>
          <a:xfrm>
            <a:off x="1123950" y="6080125"/>
            <a:ext cx="3025815"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비주얼 &amp; 오디오</a:t>
            </a:r>
            <a:endParaRPr lang="en-US" sz="1725" dirty="0"/>
          </a:p>
        </p:txBody>
      </p:sp>
      <p:sp>
        <p:nvSpPr>
          <p:cNvPr id="62" name="Text 60"/>
          <p:cNvSpPr/>
          <p:nvPr/>
        </p:nvSpPr>
        <p:spPr>
          <a:xfrm>
            <a:off x="1123950" y="6378575"/>
            <a:ext cx="3025815" cy="203200"/>
          </a:xfrm>
          <a:prstGeom prst="rect">
            <a:avLst/>
          </a:prstGeom>
          <a:noFill/>
          <a:ln/>
        </p:spPr>
        <p:txBody>
          <a:bodyPr wrap="square" lIns="25400" tIns="25400" rIns="25400" bIns="25400" rtlCol="0" anchor="t">
            <a:normAutofit/>
          </a:bodyPr>
          <a:lstStyle/>
          <a:p>
            <a:pPr marL="0" indent="0" algn="l">
              <a:buNone/>
            </a:pPr>
            <a:r>
              <a:rPr lang="en-US" sz="975" dirty="0">
                <a:solidFill>
                  <a:srgbClr val="8A9AB8"/>
                </a:solidFill>
                <a:latin typeface="JetBrains Mono" pitchFamily="34" charset="0"/>
                <a:ea typeface="JetBrains Mono" pitchFamily="34" charset="-122"/>
                <a:cs typeface="JetBrains Mono" pitchFamily="34" charset="-120"/>
              </a:rPr>
              <a:t>5 패키지 · 21 산출물</a:t>
            </a:r>
            <a:endParaRPr lang="en-US" sz="975" dirty="0"/>
          </a:p>
        </p:txBody>
      </p:sp>
      <p:sp>
        <p:nvSpPr>
          <p:cNvPr id="63" name="Shape 61"/>
          <p:cNvSpPr/>
          <p:nvPr/>
        </p:nvSpPr>
        <p:spPr>
          <a:xfrm>
            <a:off x="1123950" y="8210550"/>
            <a:ext cx="2750741" cy="66675"/>
          </a:xfrm>
          <a:prstGeom prst="roundRect">
            <a:avLst>
              <a:gd name="adj" fmla="val 50000"/>
            </a:avLst>
          </a:prstGeom>
          <a:solidFill>
            <a:srgbClr val="0D1117"/>
          </a:solidFill>
          <a:ln/>
        </p:spPr>
        <p:txBody>
          <a:bodyPr/>
          <a:lstStyle/>
          <a:p>
            <a:endParaRPr lang="ko-KR" altLang="en-US"/>
          </a:p>
        </p:txBody>
      </p:sp>
      <p:sp>
        <p:nvSpPr>
          <p:cNvPr id="64" name="Shape 62"/>
          <p:cNvSpPr/>
          <p:nvPr/>
        </p:nvSpPr>
        <p:spPr>
          <a:xfrm>
            <a:off x="1123950" y="8210550"/>
            <a:ext cx="2613124" cy="66675"/>
          </a:xfrm>
          <a:prstGeom prst="roundRect">
            <a:avLst>
              <a:gd name="adj" fmla="val 50000"/>
            </a:avLst>
          </a:prstGeom>
          <a:solidFill>
            <a:srgbClr val="E8B84B"/>
          </a:solidFill>
          <a:ln/>
        </p:spPr>
        <p:txBody>
          <a:bodyPr/>
          <a:lstStyle/>
          <a:p>
            <a:endParaRPr lang="ko-KR" altLang="en-US"/>
          </a:p>
        </p:txBody>
      </p:sp>
      <p:sp>
        <p:nvSpPr>
          <p:cNvPr id="65" name="Text 63"/>
          <p:cNvSpPr/>
          <p:nvPr/>
        </p:nvSpPr>
        <p:spPr>
          <a:xfrm>
            <a:off x="1123950" y="8343900"/>
            <a:ext cx="469106" cy="209550"/>
          </a:xfrm>
          <a:prstGeom prst="rect">
            <a:avLst/>
          </a:prstGeom>
          <a:noFill/>
          <a:ln/>
        </p:spPr>
        <p:txBody>
          <a:bodyPr wrap="square" lIns="25400" tIns="25400" rIns="25400" bIns="25400" rtlCol="0" anchor="t">
            <a:normAutofit/>
          </a:bodyPr>
          <a:lstStyle/>
          <a:p>
            <a:pPr marL="0" indent="0" algn="l">
              <a:buNone/>
            </a:pPr>
            <a:r>
              <a:rPr lang="en-US" sz="975" dirty="0">
                <a:solidFill>
                  <a:srgbClr val="5BC8A8"/>
                </a:solidFill>
                <a:latin typeface="JetBrains Mono" pitchFamily="34" charset="0"/>
                <a:ea typeface="JetBrains Mono" pitchFamily="34" charset="-122"/>
                <a:cs typeface="JetBrains Mono" pitchFamily="34" charset="-120"/>
              </a:rPr>
              <a:t>✅ 20</a:t>
            </a:r>
            <a:endParaRPr lang="en-US" sz="975" dirty="0"/>
          </a:p>
        </p:txBody>
      </p:sp>
      <p:sp>
        <p:nvSpPr>
          <p:cNvPr id="66" name="Text 64"/>
          <p:cNvSpPr/>
          <p:nvPr/>
        </p:nvSpPr>
        <p:spPr>
          <a:xfrm>
            <a:off x="3556000" y="8343900"/>
            <a:ext cx="394891" cy="209550"/>
          </a:xfrm>
          <a:prstGeom prst="rect">
            <a:avLst/>
          </a:prstGeom>
          <a:noFill/>
          <a:ln/>
        </p:spPr>
        <p:txBody>
          <a:bodyPr wrap="square" lIns="25400" tIns="25400" rIns="25400" bIns="25400" rtlCol="0" anchor="t">
            <a:normAutofit/>
          </a:bodyPr>
          <a:lstStyle/>
          <a:p>
            <a:pPr marL="0" indent="0" algn="l">
              <a:buNone/>
            </a:pPr>
            <a:r>
              <a:rPr lang="en-US" sz="975" dirty="0">
                <a:solidFill>
                  <a:srgbClr val="E8B84B"/>
                </a:solidFill>
                <a:latin typeface="JetBrains Mono" pitchFamily="34" charset="0"/>
                <a:ea typeface="JetBrains Mono" pitchFamily="34" charset="-122"/>
                <a:cs typeface="JetBrains Mono" pitchFamily="34" charset="-120"/>
              </a:rPr>
              <a:t>⬜ 1</a:t>
            </a:r>
            <a:endParaRPr lang="en-US" sz="975" dirty="0"/>
          </a:p>
        </p:txBody>
      </p:sp>
      <p:sp>
        <p:nvSpPr>
          <p:cNvPr id="67" name="Shape 65"/>
          <p:cNvSpPr/>
          <p:nvPr/>
        </p:nvSpPr>
        <p:spPr>
          <a:xfrm>
            <a:off x="4236641" y="5445125"/>
            <a:ext cx="3169940" cy="3260725"/>
          </a:xfrm>
          <a:prstGeom prst="roundRect">
            <a:avLst>
              <a:gd name="adj" fmla="val 2404"/>
            </a:avLst>
          </a:prstGeom>
          <a:solidFill>
            <a:srgbClr val="1A2236"/>
          </a:solidFill>
          <a:ln/>
        </p:spPr>
        <p:txBody>
          <a:bodyPr/>
          <a:lstStyle/>
          <a:p>
            <a:endParaRPr lang="ko-KR" altLang="en-US"/>
          </a:p>
        </p:txBody>
      </p:sp>
      <p:sp>
        <p:nvSpPr>
          <p:cNvPr id="68" name="Shape 66"/>
          <p:cNvSpPr/>
          <p:nvPr/>
        </p:nvSpPr>
        <p:spPr>
          <a:xfrm>
            <a:off x="4236641" y="5445125"/>
            <a:ext cx="3169940" cy="25400"/>
          </a:xfrm>
          <a:prstGeom prst="rect">
            <a:avLst/>
          </a:prstGeom>
          <a:solidFill>
            <a:srgbClr val="D97757"/>
          </a:solidFill>
          <a:ln/>
        </p:spPr>
        <p:txBody>
          <a:bodyPr/>
          <a:lstStyle/>
          <a:p>
            <a:endParaRPr lang="ko-KR" altLang="en-US"/>
          </a:p>
        </p:txBody>
      </p:sp>
      <p:sp>
        <p:nvSpPr>
          <p:cNvPr id="69" name="Text 67"/>
          <p:cNvSpPr/>
          <p:nvPr/>
        </p:nvSpPr>
        <p:spPr>
          <a:xfrm>
            <a:off x="4446191" y="5661025"/>
            <a:ext cx="487759"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D97757"/>
                </a:solidFill>
                <a:latin typeface="JetBrains Mono" pitchFamily="34" charset="0"/>
                <a:ea typeface="JetBrains Mono" pitchFamily="34" charset="-122"/>
                <a:cs typeface="JetBrains Mono" pitchFamily="34" charset="-120"/>
              </a:rPr>
              <a:t>7.0</a:t>
            </a:r>
            <a:endParaRPr lang="en-US" sz="1800" dirty="0"/>
          </a:p>
        </p:txBody>
      </p:sp>
      <p:sp>
        <p:nvSpPr>
          <p:cNvPr id="70" name="Text 68"/>
          <p:cNvSpPr/>
          <p:nvPr/>
        </p:nvSpPr>
        <p:spPr>
          <a:xfrm>
            <a:off x="6854130" y="5718175"/>
            <a:ext cx="419100" cy="228600"/>
          </a:xfrm>
          <a:prstGeom prst="rect">
            <a:avLst/>
          </a:prstGeom>
          <a:noFill/>
          <a:ln/>
        </p:spPr>
        <p:txBody>
          <a:bodyPr wrap="square" lIns="25400" tIns="25400" rIns="25400" bIns="25400" rtlCol="0" anchor="t">
            <a:normAutofit/>
          </a:bodyPr>
          <a:lstStyle/>
          <a:p>
            <a:pPr marL="0" indent="0" algn="l">
              <a:buNone/>
            </a:pPr>
            <a:r>
              <a:rPr lang="en-US" sz="1125" b="1" dirty="0">
                <a:solidFill>
                  <a:srgbClr val="5BC8A8"/>
                </a:solidFill>
                <a:latin typeface="JetBrains Mono" pitchFamily="34" charset="0"/>
                <a:ea typeface="JetBrains Mono" pitchFamily="34" charset="-122"/>
                <a:cs typeface="JetBrains Mono" pitchFamily="34" charset="-120"/>
              </a:rPr>
              <a:t>100%</a:t>
            </a:r>
            <a:endParaRPr lang="en-US" sz="1125" dirty="0"/>
          </a:p>
        </p:txBody>
      </p:sp>
      <p:sp>
        <p:nvSpPr>
          <p:cNvPr id="71" name="Text 69"/>
          <p:cNvSpPr/>
          <p:nvPr/>
        </p:nvSpPr>
        <p:spPr>
          <a:xfrm>
            <a:off x="4446191" y="6080125"/>
            <a:ext cx="3025924"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UI 시스템</a:t>
            </a:r>
            <a:endParaRPr lang="en-US" sz="1725" dirty="0"/>
          </a:p>
        </p:txBody>
      </p:sp>
      <p:sp>
        <p:nvSpPr>
          <p:cNvPr id="72" name="Text 70"/>
          <p:cNvSpPr/>
          <p:nvPr/>
        </p:nvSpPr>
        <p:spPr>
          <a:xfrm>
            <a:off x="4446191" y="6378575"/>
            <a:ext cx="3025924" cy="203200"/>
          </a:xfrm>
          <a:prstGeom prst="rect">
            <a:avLst/>
          </a:prstGeom>
          <a:noFill/>
          <a:ln/>
        </p:spPr>
        <p:txBody>
          <a:bodyPr wrap="square" lIns="25400" tIns="25400" rIns="25400" bIns="25400" rtlCol="0" anchor="t">
            <a:normAutofit/>
          </a:bodyPr>
          <a:lstStyle/>
          <a:p>
            <a:pPr marL="0" indent="0" algn="l">
              <a:buNone/>
            </a:pPr>
            <a:r>
              <a:rPr lang="en-US" sz="975" dirty="0">
                <a:solidFill>
                  <a:srgbClr val="8A9AB8"/>
                </a:solidFill>
                <a:latin typeface="JetBrains Mono" pitchFamily="34" charset="0"/>
                <a:ea typeface="JetBrains Mono" pitchFamily="34" charset="-122"/>
                <a:cs typeface="JetBrains Mono" pitchFamily="34" charset="-120"/>
              </a:rPr>
              <a:t>4 패키지 · 19 산출물</a:t>
            </a:r>
            <a:endParaRPr lang="en-US" sz="975" dirty="0"/>
          </a:p>
        </p:txBody>
      </p:sp>
      <p:sp>
        <p:nvSpPr>
          <p:cNvPr id="73" name="Shape 71"/>
          <p:cNvSpPr/>
          <p:nvPr/>
        </p:nvSpPr>
        <p:spPr>
          <a:xfrm>
            <a:off x="4446191" y="8210550"/>
            <a:ext cx="2750840" cy="66675"/>
          </a:xfrm>
          <a:prstGeom prst="roundRect">
            <a:avLst>
              <a:gd name="adj" fmla="val 50000"/>
            </a:avLst>
          </a:prstGeom>
          <a:solidFill>
            <a:srgbClr val="0D1117"/>
          </a:solidFill>
          <a:ln/>
        </p:spPr>
        <p:txBody>
          <a:bodyPr/>
          <a:lstStyle/>
          <a:p>
            <a:endParaRPr lang="ko-KR" altLang="en-US"/>
          </a:p>
        </p:txBody>
      </p:sp>
      <p:sp>
        <p:nvSpPr>
          <p:cNvPr id="74" name="Shape 72"/>
          <p:cNvSpPr/>
          <p:nvPr/>
        </p:nvSpPr>
        <p:spPr>
          <a:xfrm>
            <a:off x="4446191" y="8210550"/>
            <a:ext cx="2750840" cy="66675"/>
          </a:xfrm>
          <a:prstGeom prst="roundRect">
            <a:avLst>
              <a:gd name="adj" fmla="val 50000"/>
            </a:avLst>
          </a:prstGeom>
          <a:solidFill>
            <a:srgbClr val="5BC8A8"/>
          </a:solidFill>
          <a:ln/>
        </p:spPr>
        <p:txBody>
          <a:bodyPr/>
          <a:lstStyle/>
          <a:p>
            <a:endParaRPr lang="ko-KR" altLang="en-US"/>
          </a:p>
        </p:txBody>
      </p:sp>
      <p:sp>
        <p:nvSpPr>
          <p:cNvPr id="75" name="Text 73"/>
          <p:cNvSpPr/>
          <p:nvPr/>
        </p:nvSpPr>
        <p:spPr>
          <a:xfrm>
            <a:off x="4446191" y="8343900"/>
            <a:ext cx="469106" cy="209550"/>
          </a:xfrm>
          <a:prstGeom prst="rect">
            <a:avLst/>
          </a:prstGeom>
          <a:noFill/>
          <a:ln/>
        </p:spPr>
        <p:txBody>
          <a:bodyPr wrap="square" lIns="25400" tIns="25400" rIns="25400" bIns="25400" rtlCol="0" anchor="t">
            <a:normAutofit/>
          </a:bodyPr>
          <a:lstStyle/>
          <a:p>
            <a:pPr marL="0" indent="0" algn="l">
              <a:buNone/>
            </a:pPr>
            <a:r>
              <a:rPr lang="en-US" sz="975" dirty="0">
                <a:solidFill>
                  <a:srgbClr val="5BC8A8"/>
                </a:solidFill>
                <a:latin typeface="JetBrains Mono" pitchFamily="34" charset="0"/>
                <a:ea typeface="JetBrains Mono" pitchFamily="34" charset="-122"/>
                <a:cs typeface="JetBrains Mono" pitchFamily="34" charset="-120"/>
              </a:rPr>
              <a:t>✅ 19</a:t>
            </a:r>
            <a:endParaRPr lang="en-US" sz="975" dirty="0"/>
          </a:p>
        </p:txBody>
      </p:sp>
      <p:sp>
        <p:nvSpPr>
          <p:cNvPr id="76" name="Text 74"/>
          <p:cNvSpPr/>
          <p:nvPr/>
        </p:nvSpPr>
        <p:spPr>
          <a:xfrm>
            <a:off x="6878340" y="8343900"/>
            <a:ext cx="394891" cy="209550"/>
          </a:xfrm>
          <a:prstGeom prst="rect">
            <a:avLst/>
          </a:prstGeom>
          <a:noFill/>
          <a:ln/>
        </p:spPr>
        <p:txBody>
          <a:bodyPr wrap="square" lIns="25400" tIns="25400" rIns="25400" bIns="25400" rtlCol="0" anchor="t">
            <a:normAutofit/>
          </a:bodyPr>
          <a:lstStyle/>
          <a:p>
            <a:pPr marL="0" indent="0" algn="l">
              <a:buNone/>
            </a:pPr>
            <a:r>
              <a:rPr lang="en-US" sz="975" dirty="0">
                <a:solidFill>
                  <a:srgbClr val="2E3C55"/>
                </a:solidFill>
                <a:latin typeface="JetBrains Mono" pitchFamily="34" charset="0"/>
                <a:ea typeface="JetBrains Mono" pitchFamily="34" charset="-122"/>
                <a:cs typeface="JetBrains Mono" pitchFamily="34" charset="-120"/>
              </a:rPr>
              <a:t>⬜ 0</a:t>
            </a:r>
            <a:endParaRPr lang="en-US" sz="975" dirty="0"/>
          </a:p>
        </p:txBody>
      </p:sp>
      <p:sp>
        <p:nvSpPr>
          <p:cNvPr id="77" name="Shape 75"/>
          <p:cNvSpPr/>
          <p:nvPr/>
        </p:nvSpPr>
        <p:spPr>
          <a:xfrm>
            <a:off x="7558980" y="5445125"/>
            <a:ext cx="3169940" cy="3260725"/>
          </a:xfrm>
          <a:prstGeom prst="roundRect">
            <a:avLst>
              <a:gd name="adj" fmla="val 2404"/>
            </a:avLst>
          </a:prstGeom>
          <a:solidFill>
            <a:srgbClr val="1A2236"/>
          </a:solidFill>
          <a:ln/>
        </p:spPr>
        <p:txBody>
          <a:bodyPr/>
          <a:lstStyle/>
          <a:p>
            <a:endParaRPr lang="ko-KR" altLang="en-US"/>
          </a:p>
        </p:txBody>
      </p:sp>
      <p:sp>
        <p:nvSpPr>
          <p:cNvPr id="78" name="Shape 76"/>
          <p:cNvSpPr/>
          <p:nvPr/>
        </p:nvSpPr>
        <p:spPr>
          <a:xfrm>
            <a:off x="7558980" y="5445125"/>
            <a:ext cx="3169940" cy="25400"/>
          </a:xfrm>
          <a:prstGeom prst="rect">
            <a:avLst/>
          </a:prstGeom>
          <a:solidFill>
            <a:srgbClr val="D97757"/>
          </a:solidFill>
          <a:ln/>
        </p:spPr>
        <p:txBody>
          <a:bodyPr/>
          <a:lstStyle/>
          <a:p>
            <a:endParaRPr lang="ko-KR" altLang="en-US"/>
          </a:p>
        </p:txBody>
      </p:sp>
      <p:sp>
        <p:nvSpPr>
          <p:cNvPr id="79" name="Text 77"/>
          <p:cNvSpPr/>
          <p:nvPr/>
        </p:nvSpPr>
        <p:spPr>
          <a:xfrm>
            <a:off x="7768530" y="5661025"/>
            <a:ext cx="487759"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D97757"/>
                </a:solidFill>
                <a:latin typeface="JetBrains Mono" pitchFamily="34" charset="0"/>
                <a:ea typeface="JetBrains Mono" pitchFamily="34" charset="-122"/>
                <a:cs typeface="JetBrains Mono" pitchFamily="34" charset="-120"/>
              </a:rPr>
              <a:t>8.0</a:t>
            </a:r>
            <a:endParaRPr lang="en-US" sz="1800" dirty="0"/>
          </a:p>
        </p:txBody>
      </p:sp>
      <p:sp>
        <p:nvSpPr>
          <p:cNvPr id="80" name="Text 78"/>
          <p:cNvSpPr/>
          <p:nvPr/>
        </p:nvSpPr>
        <p:spPr>
          <a:xfrm>
            <a:off x="10176471" y="5718175"/>
            <a:ext cx="419100" cy="228600"/>
          </a:xfrm>
          <a:prstGeom prst="rect">
            <a:avLst/>
          </a:prstGeom>
          <a:noFill/>
          <a:ln/>
        </p:spPr>
        <p:txBody>
          <a:bodyPr wrap="square" lIns="25400" tIns="25400" rIns="25400" bIns="25400" rtlCol="0" anchor="t">
            <a:normAutofit/>
          </a:bodyPr>
          <a:lstStyle/>
          <a:p>
            <a:pPr marL="0" indent="0" algn="l">
              <a:buNone/>
            </a:pPr>
            <a:r>
              <a:rPr lang="en-US" sz="1125" b="1" dirty="0">
                <a:solidFill>
                  <a:srgbClr val="5BC8A8"/>
                </a:solidFill>
                <a:latin typeface="JetBrains Mono" pitchFamily="34" charset="0"/>
                <a:ea typeface="JetBrains Mono" pitchFamily="34" charset="-122"/>
                <a:cs typeface="JetBrains Mono" pitchFamily="34" charset="-120"/>
              </a:rPr>
              <a:t>100%</a:t>
            </a:r>
            <a:endParaRPr lang="en-US" sz="1125" dirty="0"/>
          </a:p>
        </p:txBody>
      </p:sp>
      <p:sp>
        <p:nvSpPr>
          <p:cNvPr id="81" name="Text 79"/>
          <p:cNvSpPr/>
          <p:nvPr/>
        </p:nvSpPr>
        <p:spPr>
          <a:xfrm>
            <a:off x="7768530" y="6080125"/>
            <a:ext cx="3025924"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씬 &amp; 게임 흐름</a:t>
            </a:r>
            <a:endParaRPr lang="en-US" sz="1725" dirty="0"/>
          </a:p>
        </p:txBody>
      </p:sp>
      <p:sp>
        <p:nvSpPr>
          <p:cNvPr id="82" name="Text 80"/>
          <p:cNvSpPr/>
          <p:nvPr/>
        </p:nvSpPr>
        <p:spPr>
          <a:xfrm>
            <a:off x="7768530" y="6378575"/>
            <a:ext cx="3025924" cy="203200"/>
          </a:xfrm>
          <a:prstGeom prst="rect">
            <a:avLst/>
          </a:prstGeom>
          <a:noFill/>
          <a:ln/>
        </p:spPr>
        <p:txBody>
          <a:bodyPr wrap="square" lIns="25400" tIns="25400" rIns="25400" bIns="25400" rtlCol="0" anchor="t">
            <a:normAutofit/>
          </a:bodyPr>
          <a:lstStyle/>
          <a:p>
            <a:pPr marL="0" indent="0" algn="l">
              <a:buNone/>
            </a:pPr>
            <a:r>
              <a:rPr lang="en-US" sz="975" dirty="0">
                <a:solidFill>
                  <a:srgbClr val="8A9AB8"/>
                </a:solidFill>
                <a:latin typeface="JetBrains Mono" pitchFamily="34" charset="0"/>
                <a:ea typeface="JetBrains Mono" pitchFamily="34" charset="-122"/>
                <a:cs typeface="JetBrains Mono" pitchFamily="34" charset="-120"/>
              </a:rPr>
              <a:t>4 패키지 · 15 산출물</a:t>
            </a:r>
            <a:endParaRPr lang="en-US" sz="975" dirty="0"/>
          </a:p>
        </p:txBody>
      </p:sp>
      <p:sp>
        <p:nvSpPr>
          <p:cNvPr id="83" name="Shape 81"/>
          <p:cNvSpPr/>
          <p:nvPr/>
        </p:nvSpPr>
        <p:spPr>
          <a:xfrm>
            <a:off x="7768530" y="8210550"/>
            <a:ext cx="2750840" cy="66675"/>
          </a:xfrm>
          <a:prstGeom prst="roundRect">
            <a:avLst>
              <a:gd name="adj" fmla="val 50000"/>
            </a:avLst>
          </a:prstGeom>
          <a:solidFill>
            <a:srgbClr val="0D1117"/>
          </a:solidFill>
          <a:ln/>
        </p:spPr>
        <p:txBody>
          <a:bodyPr/>
          <a:lstStyle/>
          <a:p>
            <a:endParaRPr lang="ko-KR" altLang="en-US"/>
          </a:p>
        </p:txBody>
      </p:sp>
      <p:sp>
        <p:nvSpPr>
          <p:cNvPr id="84" name="Shape 82"/>
          <p:cNvSpPr/>
          <p:nvPr/>
        </p:nvSpPr>
        <p:spPr>
          <a:xfrm>
            <a:off x="7768530" y="8210550"/>
            <a:ext cx="2750840" cy="66675"/>
          </a:xfrm>
          <a:prstGeom prst="roundRect">
            <a:avLst>
              <a:gd name="adj" fmla="val 50000"/>
            </a:avLst>
          </a:prstGeom>
          <a:solidFill>
            <a:srgbClr val="5BC8A8"/>
          </a:solidFill>
          <a:ln/>
        </p:spPr>
        <p:txBody>
          <a:bodyPr/>
          <a:lstStyle/>
          <a:p>
            <a:endParaRPr lang="ko-KR" altLang="en-US"/>
          </a:p>
        </p:txBody>
      </p:sp>
      <p:sp>
        <p:nvSpPr>
          <p:cNvPr id="85" name="Text 83"/>
          <p:cNvSpPr/>
          <p:nvPr/>
        </p:nvSpPr>
        <p:spPr>
          <a:xfrm>
            <a:off x="7768530" y="8343900"/>
            <a:ext cx="469106" cy="209550"/>
          </a:xfrm>
          <a:prstGeom prst="rect">
            <a:avLst/>
          </a:prstGeom>
          <a:noFill/>
          <a:ln/>
        </p:spPr>
        <p:txBody>
          <a:bodyPr wrap="square" lIns="25400" tIns="25400" rIns="25400" bIns="25400" rtlCol="0" anchor="t">
            <a:normAutofit/>
          </a:bodyPr>
          <a:lstStyle/>
          <a:p>
            <a:pPr marL="0" indent="0" algn="l">
              <a:buNone/>
            </a:pPr>
            <a:r>
              <a:rPr lang="en-US" sz="975" dirty="0">
                <a:solidFill>
                  <a:srgbClr val="5BC8A8"/>
                </a:solidFill>
                <a:latin typeface="JetBrains Mono" pitchFamily="34" charset="0"/>
                <a:ea typeface="JetBrains Mono" pitchFamily="34" charset="-122"/>
                <a:cs typeface="JetBrains Mono" pitchFamily="34" charset="-120"/>
              </a:rPr>
              <a:t>✅ 15</a:t>
            </a:r>
            <a:endParaRPr lang="en-US" sz="975" dirty="0"/>
          </a:p>
        </p:txBody>
      </p:sp>
      <p:sp>
        <p:nvSpPr>
          <p:cNvPr id="86" name="Text 84"/>
          <p:cNvSpPr/>
          <p:nvPr/>
        </p:nvSpPr>
        <p:spPr>
          <a:xfrm>
            <a:off x="10200680" y="8343900"/>
            <a:ext cx="394891" cy="209550"/>
          </a:xfrm>
          <a:prstGeom prst="rect">
            <a:avLst/>
          </a:prstGeom>
          <a:noFill/>
          <a:ln/>
        </p:spPr>
        <p:txBody>
          <a:bodyPr wrap="square" lIns="25400" tIns="25400" rIns="25400" bIns="25400" rtlCol="0" anchor="t">
            <a:normAutofit/>
          </a:bodyPr>
          <a:lstStyle/>
          <a:p>
            <a:pPr marL="0" indent="0" algn="l">
              <a:buNone/>
            </a:pPr>
            <a:r>
              <a:rPr lang="en-US" sz="975" dirty="0">
                <a:solidFill>
                  <a:srgbClr val="2E3C55"/>
                </a:solidFill>
                <a:latin typeface="JetBrains Mono" pitchFamily="34" charset="0"/>
                <a:ea typeface="JetBrains Mono" pitchFamily="34" charset="-122"/>
                <a:cs typeface="JetBrains Mono" pitchFamily="34" charset="-120"/>
              </a:rPr>
              <a:t>⬜ 0</a:t>
            </a:r>
            <a:endParaRPr lang="en-US" sz="975" dirty="0"/>
          </a:p>
        </p:txBody>
      </p:sp>
      <p:sp>
        <p:nvSpPr>
          <p:cNvPr id="87" name="Shape 85"/>
          <p:cNvSpPr/>
          <p:nvPr/>
        </p:nvSpPr>
        <p:spPr>
          <a:xfrm>
            <a:off x="10881321" y="5445125"/>
            <a:ext cx="3169940" cy="3260725"/>
          </a:xfrm>
          <a:prstGeom prst="roundRect">
            <a:avLst>
              <a:gd name="adj" fmla="val 2404"/>
            </a:avLst>
          </a:prstGeom>
          <a:solidFill>
            <a:srgbClr val="1A2236"/>
          </a:solidFill>
          <a:ln/>
        </p:spPr>
        <p:txBody>
          <a:bodyPr/>
          <a:lstStyle/>
          <a:p>
            <a:endParaRPr lang="ko-KR" altLang="en-US"/>
          </a:p>
        </p:txBody>
      </p:sp>
      <p:sp>
        <p:nvSpPr>
          <p:cNvPr id="88" name="Shape 86"/>
          <p:cNvSpPr/>
          <p:nvPr/>
        </p:nvSpPr>
        <p:spPr>
          <a:xfrm>
            <a:off x="10881321" y="5445125"/>
            <a:ext cx="3169940" cy="25400"/>
          </a:xfrm>
          <a:prstGeom prst="rect">
            <a:avLst/>
          </a:prstGeom>
          <a:solidFill>
            <a:srgbClr val="D97757"/>
          </a:solidFill>
          <a:ln/>
        </p:spPr>
        <p:txBody>
          <a:bodyPr/>
          <a:lstStyle/>
          <a:p>
            <a:endParaRPr lang="ko-KR" altLang="en-US"/>
          </a:p>
        </p:txBody>
      </p:sp>
      <p:sp>
        <p:nvSpPr>
          <p:cNvPr id="89" name="Text 87"/>
          <p:cNvSpPr/>
          <p:nvPr/>
        </p:nvSpPr>
        <p:spPr>
          <a:xfrm>
            <a:off x="11090871" y="5661025"/>
            <a:ext cx="487759"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D97757"/>
                </a:solidFill>
                <a:latin typeface="JetBrains Mono" pitchFamily="34" charset="0"/>
                <a:ea typeface="JetBrains Mono" pitchFamily="34" charset="-122"/>
                <a:cs typeface="JetBrains Mono" pitchFamily="34" charset="-120"/>
              </a:rPr>
              <a:t>9.0</a:t>
            </a:r>
            <a:endParaRPr lang="en-US" sz="1800" dirty="0"/>
          </a:p>
        </p:txBody>
      </p:sp>
      <p:sp>
        <p:nvSpPr>
          <p:cNvPr id="90" name="Text 88"/>
          <p:cNvSpPr/>
          <p:nvPr/>
        </p:nvSpPr>
        <p:spPr>
          <a:xfrm>
            <a:off x="13498811" y="5718175"/>
            <a:ext cx="419100" cy="228600"/>
          </a:xfrm>
          <a:prstGeom prst="rect">
            <a:avLst/>
          </a:prstGeom>
          <a:noFill/>
          <a:ln/>
        </p:spPr>
        <p:txBody>
          <a:bodyPr wrap="square" lIns="25400" tIns="25400" rIns="25400" bIns="25400" rtlCol="0" anchor="t">
            <a:normAutofit/>
          </a:bodyPr>
          <a:lstStyle/>
          <a:p>
            <a:pPr marL="0" indent="0" algn="l">
              <a:buNone/>
            </a:pPr>
            <a:r>
              <a:rPr lang="en-US" sz="1125" b="1" dirty="0">
                <a:solidFill>
                  <a:srgbClr val="5BC8A8"/>
                </a:solidFill>
                <a:latin typeface="JetBrains Mono" pitchFamily="34" charset="0"/>
                <a:ea typeface="JetBrains Mono" pitchFamily="34" charset="-122"/>
                <a:cs typeface="JetBrains Mono" pitchFamily="34" charset="-120"/>
              </a:rPr>
              <a:t>100%</a:t>
            </a:r>
            <a:endParaRPr lang="en-US" sz="1125" dirty="0"/>
          </a:p>
        </p:txBody>
      </p:sp>
      <p:sp>
        <p:nvSpPr>
          <p:cNvPr id="91" name="Text 89"/>
          <p:cNvSpPr/>
          <p:nvPr/>
        </p:nvSpPr>
        <p:spPr>
          <a:xfrm>
            <a:off x="11090871" y="6080125"/>
            <a:ext cx="3025924"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코어 인프라</a:t>
            </a:r>
            <a:endParaRPr lang="en-US" sz="1725" dirty="0"/>
          </a:p>
        </p:txBody>
      </p:sp>
      <p:sp>
        <p:nvSpPr>
          <p:cNvPr id="92" name="Text 90"/>
          <p:cNvSpPr/>
          <p:nvPr/>
        </p:nvSpPr>
        <p:spPr>
          <a:xfrm>
            <a:off x="11090871" y="6378575"/>
            <a:ext cx="3025924" cy="203200"/>
          </a:xfrm>
          <a:prstGeom prst="rect">
            <a:avLst/>
          </a:prstGeom>
          <a:noFill/>
          <a:ln/>
        </p:spPr>
        <p:txBody>
          <a:bodyPr wrap="square" lIns="25400" tIns="25400" rIns="25400" bIns="25400" rtlCol="0" anchor="t">
            <a:normAutofit/>
          </a:bodyPr>
          <a:lstStyle/>
          <a:p>
            <a:pPr marL="0" indent="0" algn="l">
              <a:buNone/>
            </a:pPr>
            <a:r>
              <a:rPr lang="en-US" sz="975" dirty="0">
                <a:solidFill>
                  <a:srgbClr val="8A9AB8"/>
                </a:solidFill>
                <a:latin typeface="JetBrains Mono" pitchFamily="34" charset="0"/>
                <a:ea typeface="JetBrains Mono" pitchFamily="34" charset="-122"/>
                <a:cs typeface="JetBrains Mono" pitchFamily="34" charset="-120"/>
              </a:rPr>
              <a:t>4 패키지 · 12 산출물</a:t>
            </a:r>
            <a:endParaRPr lang="en-US" sz="975" dirty="0"/>
          </a:p>
        </p:txBody>
      </p:sp>
      <p:sp>
        <p:nvSpPr>
          <p:cNvPr id="93" name="Shape 91"/>
          <p:cNvSpPr/>
          <p:nvPr/>
        </p:nvSpPr>
        <p:spPr>
          <a:xfrm>
            <a:off x="11090871" y="8210550"/>
            <a:ext cx="2750840" cy="66675"/>
          </a:xfrm>
          <a:prstGeom prst="roundRect">
            <a:avLst>
              <a:gd name="adj" fmla="val 50000"/>
            </a:avLst>
          </a:prstGeom>
          <a:solidFill>
            <a:srgbClr val="0D1117"/>
          </a:solidFill>
          <a:ln/>
        </p:spPr>
        <p:txBody>
          <a:bodyPr/>
          <a:lstStyle/>
          <a:p>
            <a:endParaRPr lang="ko-KR" altLang="en-US"/>
          </a:p>
        </p:txBody>
      </p:sp>
      <p:sp>
        <p:nvSpPr>
          <p:cNvPr id="94" name="Shape 92"/>
          <p:cNvSpPr/>
          <p:nvPr/>
        </p:nvSpPr>
        <p:spPr>
          <a:xfrm>
            <a:off x="11090871" y="8210550"/>
            <a:ext cx="2750840" cy="66675"/>
          </a:xfrm>
          <a:prstGeom prst="roundRect">
            <a:avLst>
              <a:gd name="adj" fmla="val 50000"/>
            </a:avLst>
          </a:prstGeom>
          <a:solidFill>
            <a:srgbClr val="5BC8A8"/>
          </a:solidFill>
          <a:ln/>
        </p:spPr>
        <p:txBody>
          <a:bodyPr/>
          <a:lstStyle/>
          <a:p>
            <a:endParaRPr lang="ko-KR" altLang="en-US"/>
          </a:p>
        </p:txBody>
      </p:sp>
      <p:sp>
        <p:nvSpPr>
          <p:cNvPr id="95" name="Text 93"/>
          <p:cNvSpPr/>
          <p:nvPr/>
        </p:nvSpPr>
        <p:spPr>
          <a:xfrm>
            <a:off x="11090871" y="8343900"/>
            <a:ext cx="469106" cy="209550"/>
          </a:xfrm>
          <a:prstGeom prst="rect">
            <a:avLst/>
          </a:prstGeom>
          <a:noFill/>
          <a:ln/>
        </p:spPr>
        <p:txBody>
          <a:bodyPr wrap="square" lIns="25400" tIns="25400" rIns="25400" bIns="25400" rtlCol="0" anchor="t">
            <a:normAutofit/>
          </a:bodyPr>
          <a:lstStyle/>
          <a:p>
            <a:pPr marL="0" indent="0" algn="l">
              <a:buNone/>
            </a:pPr>
            <a:r>
              <a:rPr lang="en-US" sz="975" dirty="0">
                <a:solidFill>
                  <a:srgbClr val="5BC8A8"/>
                </a:solidFill>
                <a:latin typeface="JetBrains Mono" pitchFamily="34" charset="0"/>
                <a:ea typeface="JetBrains Mono" pitchFamily="34" charset="-122"/>
                <a:cs typeface="JetBrains Mono" pitchFamily="34" charset="-120"/>
              </a:rPr>
              <a:t>✅ 12</a:t>
            </a:r>
            <a:endParaRPr lang="en-US" sz="975" dirty="0"/>
          </a:p>
        </p:txBody>
      </p:sp>
      <p:sp>
        <p:nvSpPr>
          <p:cNvPr id="96" name="Text 94"/>
          <p:cNvSpPr/>
          <p:nvPr/>
        </p:nvSpPr>
        <p:spPr>
          <a:xfrm>
            <a:off x="13523020" y="8343900"/>
            <a:ext cx="394891" cy="209550"/>
          </a:xfrm>
          <a:prstGeom prst="rect">
            <a:avLst/>
          </a:prstGeom>
          <a:noFill/>
          <a:ln/>
        </p:spPr>
        <p:txBody>
          <a:bodyPr wrap="square" lIns="25400" tIns="25400" rIns="25400" bIns="25400" rtlCol="0" anchor="t">
            <a:normAutofit/>
          </a:bodyPr>
          <a:lstStyle/>
          <a:p>
            <a:pPr marL="0" indent="0" algn="l">
              <a:buNone/>
            </a:pPr>
            <a:r>
              <a:rPr lang="en-US" sz="975" dirty="0">
                <a:solidFill>
                  <a:srgbClr val="2E3C55"/>
                </a:solidFill>
                <a:latin typeface="JetBrains Mono" pitchFamily="34" charset="0"/>
                <a:ea typeface="JetBrains Mono" pitchFamily="34" charset="-122"/>
                <a:cs typeface="JetBrains Mono" pitchFamily="34" charset="-120"/>
              </a:rPr>
              <a:t>⬜ 0</a:t>
            </a:r>
            <a:endParaRPr lang="en-US" sz="975" dirty="0"/>
          </a:p>
        </p:txBody>
      </p:sp>
      <p:sp>
        <p:nvSpPr>
          <p:cNvPr id="97" name="Shape 95"/>
          <p:cNvSpPr/>
          <p:nvPr/>
        </p:nvSpPr>
        <p:spPr>
          <a:xfrm>
            <a:off x="14203661" y="5445125"/>
            <a:ext cx="3169940" cy="3260725"/>
          </a:xfrm>
          <a:prstGeom prst="roundRect">
            <a:avLst>
              <a:gd name="adj" fmla="val 2404"/>
            </a:avLst>
          </a:prstGeom>
          <a:solidFill>
            <a:srgbClr val="1A2236"/>
          </a:solidFill>
          <a:ln/>
        </p:spPr>
        <p:txBody>
          <a:bodyPr/>
          <a:lstStyle/>
          <a:p>
            <a:endParaRPr lang="ko-KR" altLang="en-US"/>
          </a:p>
        </p:txBody>
      </p:sp>
      <p:sp>
        <p:nvSpPr>
          <p:cNvPr id="98" name="Shape 96"/>
          <p:cNvSpPr/>
          <p:nvPr/>
        </p:nvSpPr>
        <p:spPr>
          <a:xfrm>
            <a:off x="14203661" y="5445125"/>
            <a:ext cx="3169940" cy="25400"/>
          </a:xfrm>
          <a:prstGeom prst="rect">
            <a:avLst/>
          </a:prstGeom>
          <a:solidFill>
            <a:srgbClr val="D97757"/>
          </a:solidFill>
          <a:ln/>
        </p:spPr>
        <p:txBody>
          <a:bodyPr/>
          <a:lstStyle/>
          <a:p>
            <a:endParaRPr lang="ko-KR" altLang="en-US"/>
          </a:p>
        </p:txBody>
      </p:sp>
      <p:sp>
        <p:nvSpPr>
          <p:cNvPr id="99" name="Text 97"/>
          <p:cNvSpPr/>
          <p:nvPr/>
        </p:nvSpPr>
        <p:spPr>
          <a:xfrm>
            <a:off x="14413211" y="5661025"/>
            <a:ext cx="624880"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D97757"/>
                </a:solidFill>
                <a:latin typeface="JetBrains Mono" pitchFamily="34" charset="0"/>
                <a:ea typeface="JetBrains Mono" pitchFamily="34" charset="-122"/>
                <a:cs typeface="JetBrains Mono" pitchFamily="34" charset="-120"/>
              </a:rPr>
              <a:t>10.0</a:t>
            </a:r>
            <a:endParaRPr lang="en-US" sz="1800" dirty="0"/>
          </a:p>
        </p:txBody>
      </p:sp>
      <p:sp>
        <p:nvSpPr>
          <p:cNvPr id="100" name="Text 98"/>
          <p:cNvSpPr/>
          <p:nvPr/>
        </p:nvSpPr>
        <p:spPr>
          <a:xfrm>
            <a:off x="16821150" y="5718175"/>
            <a:ext cx="419100" cy="228600"/>
          </a:xfrm>
          <a:prstGeom prst="rect">
            <a:avLst/>
          </a:prstGeom>
          <a:noFill/>
          <a:ln/>
        </p:spPr>
        <p:txBody>
          <a:bodyPr wrap="square" lIns="25400" tIns="25400" rIns="25400" bIns="25400" rtlCol="0" anchor="t">
            <a:normAutofit/>
          </a:bodyPr>
          <a:lstStyle/>
          <a:p>
            <a:pPr marL="0" indent="0" algn="l">
              <a:buNone/>
            </a:pPr>
            <a:r>
              <a:rPr lang="en-US" sz="1125" b="1" dirty="0">
                <a:solidFill>
                  <a:srgbClr val="5BC8A8"/>
                </a:solidFill>
                <a:latin typeface="JetBrains Mono" pitchFamily="34" charset="0"/>
                <a:ea typeface="JetBrains Mono" pitchFamily="34" charset="-122"/>
                <a:cs typeface="JetBrains Mono" pitchFamily="34" charset="-120"/>
              </a:rPr>
              <a:t>100%</a:t>
            </a:r>
            <a:endParaRPr lang="en-US" sz="1125" dirty="0"/>
          </a:p>
        </p:txBody>
      </p:sp>
      <p:sp>
        <p:nvSpPr>
          <p:cNvPr id="101" name="Text 99"/>
          <p:cNvSpPr/>
          <p:nvPr/>
        </p:nvSpPr>
        <p:spPr>
          <a:xfrm>
            <a:off x="14413211" y="6080125"/>
            <a:ext cx="3025924"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품질 보증</a:t>
            </a:r>
            <a:endParaRPr lang="en-US" sz="1725" dirty="0"/>
          </a:p>
        </p:txBody>
      </p:sp>
      <p:sp>
        <p:nvSpPr>
          <p:cNvPr id="102" name="Text 100"/>
          <p:cNvSpPr/>
          <p:nvPr/>
        </p:nvSpPr>
        <p:spPr>
          <a:xfrm>
            <a:off x="14413211" y="6378575"/>
            <a:ext cx="3025924" cy="203200"/>
          </a:xfrm>
          <a:prstGeom prst="rect">
            <a:avLst/>
          </a:prstGeom>
          <a:noFill/>
          <a:ln/>
        </p:spPr>
        <p:txBody>
          <a:bodyPr wrap="square" lIns="25400" tIns="25400" rIns="25400" bIns="25400" rtlCol="0" anchor="t">
            <a:normAutofit/>
          </a:bodyPr>
          <a:lstStyle/>
          <a:p>
            <a:pPr marL="0" indent="0" algn="l">
              <a:buNone/>
            </a:pPr>
            <a:r>
              <a:rPr lang="en-US" sz="975" dirty="0">
                <a:solidFill>
                  <a:srgbClr val="8A9AB8"/>
                </a:solidFill>
                <a:latin typeface="JetBrains Mono" pitchFamily="34" charset="0"/>
                <a:ea typeface="JetBrains Mono" pitchFamily="34" charset="-122"/>
                <a:cs typeface="JetBrains Mono" pitchFamily="34" charset="-120"/>
              </a:rPr>
              <a:t>4 패키지 · 14 산출물</a:t>
            </a:r>
            <a:endParaRPr lang="en-US" sz="975" dirty="0"/>
          </a:p>
        </p:txBody>
      </p:sp>
      <p:sp>
        <p:nvSpPr>
          <p:cNvPr id="103" name="Shape 101"/>
          <p:cNvSpPr/>
          <p:nvPr/>
        </p:nvSpPr>
        <p:spPr>
          <a:xfrm>
            <a:off x="14413211" y="8210550"/>
            <a:ext cx="2750840" cy="66675"/>
          </a:xfrm>
          <a:prstGeom prst="roundRect">
            <a:avLst>
              <a:gd name="adj" fmla="val 50000"/>
            </a:avLst>
          </a:prstGeom>
          <a:solidFill>
            <a:srgbClr val="0D1117"/>
          </a:solidFill>
          <a:ln/>
        </p:spPr>
        <p:txBody>
          <a:bodyPr/>
          <a:lstStyle/>
          <a:p>
            <a:endParaRPr lang="ko-KR" altLang="en-US"/>
          </a:p>
        </p:txBody>
      </p:sp>
      <p:sp>
        <p:nvSpPr>
          <p:cNvPr id="104" name="Shape 102"/>
          <p:cNvSpPr/>
          <p:nvPr/>
        </p:nvSpPr>
        <p:spPr>
          <a:xfrm>
            <a:off x="14413211" y="8210550"/>
            <a:ext cx="2750840" cy="66675"/>
          </a:xfrm>
          <a:prstGeom prst="roundRect">
            <a:avLst>
              <a:gd name="adj" fmla="val 50000"/>
            </a:avLst>
          </a:prstGeom>
          <a:solidFill>
            <a:srgbClr val="5BC8A8"/>
          </a:solidFill>
          <a:ln/>
        </p:spPr>
        <p:txBody>
          <a:bodyPr/>
          <a:lstStyle/>
          <a:p>
            <a:endParaRPr lang="ko-KR" altLang="en-US"/>
          </a:p>
        </p:txBody>
      </p:sp>
      <p:sp>
        <p:nvSpPr>
          <p:cNvPr id="105" name="Text 103"/>
          <p:cNvSpPr/>
          <p:nvPr/>
        </p:nvSpPr>
        <p:spPr>
          <a:xfrm>
            <a:off x="14413211" y="8343900"/>
            <a:ext cx="469106" cy="209550"/>
          </a:xfrm>
          <a:prstGeom prst="rect">
            <a:avLst/>
          </a:prstGeom>
          <a:noFill/>
          <a:ln/>
        </p:spPr>
        <p:txBody>
          <a:bodyPr wrap="square" lIns="25400" tIns="25400" rIns="25400" bIns="25400" rtlCol="0" anchor="t">
            <a:normAutofit/>
          </a:bodyPr>
          <a:lstStyle/>
          <a:p>
            <a:pPr marL="0" indent="0" algn="l">
              <a:buNone/>
            </a:pPr>
            <a:r>
              <a:rPr lang="en-US" sz="975" dirty="0">
                <a:solidFill>
                  <a:srgbClr val="5BC8A8"/>
                </a:solidFill>
                <a:latin typeface="JetBrains Mono" pitchFamily="34" charset="0"/>
                <a:ea typeface="JetBrains Mono" pitchFamily="34" charset="-122"/>
                <a:cs typeface="JetBrains Mono" pitchFamily="34" charset="-120"/>
              </a:rPr>
              <a:t>✅ 14</a:t>
            </a:r>
            <a:endParaRPr lang="en-US" sz="975" dirty="0"/>
          </a:p>
        </p:txBody>
      </p:sp>
      <p:sp>
        <p:nvSpPr>
          <p:cNvPr id="106" name="Text 104"/>
          <p:cNvSpPr/>
          <p:nvPr/>
        </p:nvSpPr>
        <p:spPr>
          <a:xfrm>
            <a:off x="16845360" y="8343900"/>
            <a:ext cx="394891" cy="209550"/>
          </a:xfrm>
          <a:prstGeom prst="rect">
            <a:avLst/>
          </a:prstGeom>
          <a:noFill/>
          <a:ln/>
        </p:spPr>
        <p:txBody>
          <a:bodyPr wrap="square" lIns="25400" tIns="25400" rIns="25400" bIns="25400" rtlCol="0" anchor="t">
            <a:normAutofit/>
          </a:bodyPr>
          <a:lstStyle/>
          <a:p>
            <a:pPr marL="0" indent="0" algn="l">
              <a:buNone/>
            </a:pPr>
            <a:r>
              <a:rPr lang="en-US" sz="975" dirty="0">
                <a:solidFill>
                  <a:srgbClr val="2E3C55"/>
                </a:solidFill>
                <a:latin typeface="JetBrains Mono" pitchFamily="34" charset="0"/>
                <a:ea typeface="JetBrains Mono" pitchFamily="34" charset="-122"/>
                <a:cs typeface="JetBrains Mono" pitchFamily="34" charset="-120"/>
              </a:rPr>
              <a:t>⬜ 0</a:t>
            </a:r>
            <a:endParaRPr lang="en-US" sz="975" dirty="0"/>
          </a:p>
        </p:txBody>
      </p:sp>
      <p:sp>
        <p:nvSpPr>
          <p:cNvPr id="107" name="Shape 105"/>
          <p:cNvSpPr/>
          <p:nvPr/>
        </p:nvSpPr>
        <p:spPr>
          <a:xfrm>
            <a:off x="914400" y="8915400"/>
            <a:ext cx="16459200" cy="762000"/>
          </a:xfrm>
          <a:prstGeom prst="roundRect">
            <a:avLst>
              <a:gd name="adj" fmla="val 10000"/>
            </a:avLst>
          </a:prstGeom>
          <a:solidFill>
            <a:srgbClr val="232D42"/>
          </a:solidFill>
          <a:ln/>
        </p:spPr>
        <p:txBody>
          <a:bodyPr/>
          <a:lstStyle/>
          <a:p>
            <a:endParaRPr lang="ko-KR" altLang="en-US"/>
          </a:p>
        </p:txBody>
      </p:sp>
      <p:sp>
        <p:nvSpPr>
          <p:cNvPr id="108" name="Text 106"/>
          <p:cNvSpPr/>
          <p:nvPr/>
        </p:nvSpPr>
        <p:spPr>
          <a:xfrm>
            <a:off x="1200150" y="9105900"/>
            <a:ext cx="762000" cy="419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000" b="1" dirty="0">
                <a:solidFill>
                  <a:srgbClr val="D97757"/>
                </a:solidFill>
                <a:latin typeface="JetBrains Mono" pitchFamily="34" charset="0"/>
                <a:ea typeface="JetBrains Mono" pitchFamily="34" charset="-122"/>
                <a:cs typeface="JetBrains Mono" pitchFamily="34" charset="-120"/>
              </a:rPr>
              <a:t>91%</a:t>
            </a:r>
            <a:endParaRPr lang="en-US" sz="3000" dirty="0"/>
          </a:p>
        </p:txBody>
      </p:sp>
      <p:sp>
        <p:nvSpPr>
          <p:cNvPr id="109" name="Text 107"/>
          <p:cNvSpPr/>
          <p:nvPr/>
        </p:nvSpPr>
        <p:spPr>
          <a:xfrm>
            <a:off x="1981200" y="9239250"/>
            <a:ext cx="717451" cy="273050"/>
          </a:xfrm>
          <a:prstGeom prst="rect">
            <a:avLst/>
          </a:prstGeom>
          <a:noFill/>
          <a:ln/>
        </p:spPr>
        <p:txBody>
          <a:bodyPr wrap="square" lIns="25400" tIns="25400" rIns="25400" bIns="25400" rtlCol="0" anchor="t">
            <a:normAutofit/>
          </a:bodyPr>
          <a:lstStyle/>
          <a:p>
            <a:pPr marL="0" indent="0" algn="l">
              <a:buNone/>
            </a:pPr>
            <a:r>
              <a:rPr lang="en-US" sz="1275" dirty="0">
                <a:solidFill>
                  <a:srgbClr val="8A9AB8"/>
                </a:solidFill>
                <a:latin typeface="Noto Sans KR" pitchFamily="34" charset="0"/>
                <a:ea typeface="Noto Sans KR" pitchFamily="34" charset="-122"/>
                <a:cs typeface="Noto Sans KR" pitchFamily="34" charset="-120"/>
              </a:rPr>
              <a:t>전체 진척</a:t>
            </a:r>
            <a:endParaRPr lang="en-US" sz="1275" dirty="0"/>
          </a:p>
        </p:txBody>
      </p:sp>
      <p:sp>
        <p:nvSpPr>
          <p:cNvPr id="110" name="Shape 108"/>
          <p:cNvSpPr/>
          <p:nvPr/>
        </p:nvSpPr>
        <p:spPr>
          <a:xfrm>
            <a:off x="2889151" y="9239250"/>
            <a:ext cx="9798944" cy="114300"/>
          </a:xfrm>
          <a:prstGeom prst="roundRect">
            <a:avLst>
              <a:gd name="adj" fmla="val 50000"/>
            </a:avLst>
          </a:prstGeom>
          <a:solidFill>
            <a:srgbClr val="0D1117"/>
          </a:solidFill>
          <a:ln/>
        </p:spPr>
        <p:txBody>
          <a:bodyPr/>
          <a:lstStyle/>
          <a:p>
            <a:endParaRPr lang="ko-KR" altLang="en-US"/>
          </a:p>
        </p:txBody>
      </p:sp>
      <p:sp>
        <p:nvSpPr>
          <p:cNvPr id="111" name="Shape 109"/>
          <p:cNvSpPr/>
          <p:nvPr/>
        </p:nvSpPr>
        <p:spPr>
          <a:xfrm>
            <a:off x="2889151" y="9239250"/>
            <a:ext cx="8916988" cy="114300"/>
          </a:xfrm>
          <a:prstGeom prst="roundRect">
            <a:avLst>
              <a:gd name="adj" fmla="val 50000"/>
            </a:avLst>
          </a:prstGeom>
          <a:gradFill rotWithShape="1">
            <a:gsLst>
              <a:gs pos="0">
                <a:srgbClr val="D97757">
                  <a:alpha val="100000"/>
                </a:srgbClr>
              </a:gs>
              <a:gs pos="100000">
                <a:srgbClr val="5BC8A8">
                  <a:alpha val="100000"/>
                </a:srgbClr>
              </a:gs>
            </a:gsLst>
            <a:lin ang="0" scaled="0"/>
          </a:gradFill>
          <a:ln/>
        </p:spPr>
        <p:txBody>
          <a:bodyPr/>
          <a:lstStyle/>
          <a:p>
            <a:endParaRPr lang="ko-KR" altLang="en-US"/>
          </a:p>
        </p:txBody>
      </p:sp>
      <p:sp>
        <p:nvSpPr>
          <p:cNvPr id="112" name="Text 110"/>
          <p:cNvSpPr/>
          <p:nvPr/>
        </p:nvSpPr>
        <p:spPr>
          <a:xfrm>
            <a:off x="12954794" y="9182100"/>
            <a:ext cx="863005" cy="266700"/>
          </a:xfrm>
          <a:prstGeom prst="rect">
            <a:avLst/>
          </a:prstGeom>
          <a:noFill/>
          <a:ln/>
        </p:spPr>
        <p:txBody>
          <a:bodyPr wrap="square" lIns="25400" tIns="25400" rIns="25400" bIns="25400" rtlCol="0" anchor="t">
            <a:normAutofit/>
          </a:bodyPr>
          <a:lstStyle/>
          <a:p>
            <a:pPr marL="0" indent="0" algn="l">
              <a:buNone/>
            </a:pPr>
            <a:r>
              <a:rPr lang="en-US" sz="1275" dirty="0">
                <a:solidFill>
                  <a:srgbClr val="F0EADB"/>
                </a:solidFill>
                <a:latin typeface="JetBrains Mono" pitchFamily="34" charset="0"/>
                <a:ea typeface="JetBrains Mono" pitchFamily="34" charset="-122"/>
                <a:cs typeface="JetBrains Mono" pitchFamily="34" charset="-120"/>
              </a:rPr>
              <a:t>10 패키지</a:t>
            </a:r>
            <a:endParaRPr lang="en-US" sz="1275" dirty="0"/>
          </a:p>
        </p:txBody>
      </p:sp>
      <p:sp>
        <p:nvSpPr>
          <p:cNvPr id="113" name="Text 111"/>
          <p:cNvSpPr/>
          <p:nvPr/>
        </p:nvSpPr>
        <p:spPr>
          <a:xfrm>
            <a:off x="13970198" y="9182100"/>
            <a:ext cx="173434" cy="266700"/>
          </a:xfrm>
          <a:prstGeom prst="rect">
            <a:avLst/>
          </a:prstGeom>
          <a:noFill/>
          <a:ln/>
        </p:spPr>
        <p:txBody>
          <a:bodyPr wrap="square" lIns="25400" tIns="25400" rIns="25400" bIns="25400" rtlCol="0" anchor="t">
            <a:normAutofit/>
          </a:bodyPr>
          <a:lstStyle/>
          <a:p>
            <a:pPr marL="0" indent="0" algn="l">
              <a:buNone/>
            </a:pPr>
            <a:r>
              <a:rPr lang="en-US" sz="1275" dirty="0">
                <a:solidFill>
                  <a:srgbClr val="8A9AB8"/>
                </a:solidFill>
                <a:latin typeface="JetBrains Mono" pitchFamily="34" charset="0"/>
                <a:ea typeface="JetBrains Mono" pitchFamily="34" charset="-122"/>
                <a:cs typeface="JetBrains Mono" pitchFamily="34" charset="-120"/>
              </a:rPr>
              <a:t>·</a:t>
            </a:r>
            <a:endParaRPr lang="en-US" sz="1275" dirty="0"/>
          </a:p>
        </p:txBody>
      </p:sp>
      <p:sp>
        <p:nvSpPr>
          <p:cNvPr id="114" name="Text 112"/>
          <p:cNvSpPr/>
          <p:nvPr/>
        </p:nvSpPr>
        <p:spPr>
          <a:xfrm>
            <a:off x="14296033" y="9182100"/>
            <a:ext cx="960140" cy="266700"/>
          </a:xfrm>
          <a:prstGeom prst="rect">
            <a:avLst/>
          </a:prstGeom>
          <a:noFill/>
          <a:ln/>
        </p:spPr>
        <p:txBody>
          <a:bodyPr wrap="square" lIns="25400" tIns="25400" rIns="25400" bIns="25400" rtlCol="0" anchor="t">
            <a:normAutofit/>
          </a:bodyPr>
          <a:lstStyle/>
          <a:p>
            <a:pPr marL="0" indent="0" algn="l">
              <a:buNone/>
            </a:pPr>
            <a:r>
              <a:rPr lang="en-US" sz="1275" dirty="0">
                <a:solidFill>
                  <a:srgbClr val="F0EADB"/>
                </a:solidFill>
                <a:latin typeface="JetBrains Mono" pitchFamily="34" charset="0"/>
                <a:ea typeface="JetBrains Mono" pitchFamily="34" charset="-122"/>
                <a:cs typeface="JetBrains Mono" pitchFamily="34" charset="-120"/>
              </a:rPr>
              <a:t>162 산출물</a:t>
            </a:r>
            <a:endParaRPr lang="en-US" sz="1275" dirty="0"/>
          </a:p>
        </p:txBody>
      </p:sp>
      <p:sp>
        <p:nvSpPr>
          <p:cNvPr id="115" name="Text 113"/>
          <p:cNvSpPr/>
          <p:nvPr/>
        </p:nvSpPr>
        <p:spPr>
          <a:xfrm>
            <a:off x="15408573" y="9182100"/>
            <a:ext cx="173434" cy="266700"/>
          </a:xfrm>
          <a:prstGeom prst="rect">
            <a:avLst/>
          </a:prstGeom>
          <a:noFill/>
          <a:ln/>
        </p:spPr>
        <p:txBody>
          <a:bodyPr wrap="square" lIns="25400" tIns="25400" rIns="25400" bIns="25400" rtlCol="0" anchor="t">
            <a:normAutofit/>
          </a:bodyPr>
          <a:lstStyle/>
          <a:p>
            <a:pPr marL="0" indent="0" algn="l">
              <a:buNone/>
            </a:pPr>
            <a:r>
              <a:rPr lang="en-US" sz="1275" dirty="0">
                <a:solidFill>
                  <a:srgbClr val="8A9AB8"/>
                </a:solidFill>
                <a:latin typeface="JetBrains Mono" pitchFamily="34" charset="0"/>
                <a:ea typeface="JetBrains Mono" pitchFamily="34" charset="-122"/>
                <a:cs typeface="JetBrains Mono" pitchFamily="34" charset="-120"/>
              </a:rPr>
              <a:t>·</a:t>
            </a:r>
            <a:endParaRPr lang="en-US" sz="1275" dirty="0"/>
          </a:p>
        </p:txBody>
      </p:sp>
      <p:sp>
        <p:nvSpPr>
          <p:cNvPr id="116" name="Text 114"/>
          <p:cNvSpPr/>
          <p:nvPr/>
        </p:nvSpPr>
        <p:spPr>
          <a:xfrm>
            <a:off x="15734407" y="9182100"/>
            <a:ext cx="687189" cy="266700"/>
          </a:xfrm>
          <a:prstGeom prst="rect">
            <a:avLst/>
          </a:prstGeom>
          <a:noFill/>
          <a:ln/>
        </p:spPr>
        <p:txBody>
          <a:bodyPr wrap="square" lIns="25400" tIns="25400" rIns="25400" bIns="25400" rtlCol="0" anchor="t">
            <a:normAutofit/>
          </a:bodyPr>
          <a:lstStyle/>
          <a:p>
            <a:pPr marL="0" indent="0" algn="l">
              <a:buNone/>
            </a:pPr>
            <a:r>
              <a:rPr lang="en-US" sz="1275" dirty="0">
                <a:solidFill>
                  <a:srgbClr val="5BC8A8"/>
                </a:solidFill>
                <a:latin typeface="JetBrains Mono" pitchFamily="34" charset="0"/>
                <a:ea typeface="JetBrains Mono" pitchFamily="34" charset="-122"/>
                <a:cs typeface="JetBrains Mono" pitchFamily="34" charset="-120"/>
              </a:rPr>
              <a:t>✅ 148</a:t>
            </a:r>
            <a:endParaRPr lang="en-US" sz="1275" dirty="0"/>
          </a:p>
        </p:txBody>
      </p:sp>
      <p:sp>
        <p:nvSpPr>
          <p:cNvPr id="117" name="Text 115"/>
          <p:cNvSpPr/>
          <p:nvPr/>
        </p:nvSpPr>
        <p:spPr>
          <a:xfrm>
            <a:off x="16573996" y="9182100"/>
            <a:ext cx="590054" cy="266700"/>
          </a:xfrm>
          <a:prstGeom prst="rect">
            <a:avLst/>
          </a:prstGeom>
          <a:noFill/>
          <a:ln/>
        </p:spPr>
        <p:txBody>
          <a:bodyPr wrap="square" lIns="25400" tIns="25400" rIns="25400" bIns="25400" rtlCol="0" anchor="t">
            <a:normAutofit/>
          </a:bodyPr>
          <a:lstStyle/>
          <a:p>
            <a:pPr marL="0" indent="0" algn="l">
              <a:buNone/>
            </a:pPr>
            <a:r>
              <a:rPr lang="en-US" sz="1275" dirty="0">
                <a:solidFill>
                  <a:srgbClr val="E8B84B"/>
                </a:solidFill>
                <a:latin typeface="JetBrains Mono" pitchFamily="34" charset="0"/>
                <a:ea typeface="JetBrains Mono" pitchFamily="34" charset="-122"/>
                <a:cs typeface="JetBrains Mono" pitchFamily="34" charset="-120"/>
              </a:rPr>
              <a:t>⬜ 14</a:t>
            </a:r>
            <a:endParaRPr lang="en-US" sz="1275" dirty="0"/>
          </a:p>
        </p:txBody>
      </p:sp>
      <p:sp>
        <p:nvSpPr>
          <p:cNvPr id="119" name="Text 0">
            <a:extLst>
              <a:ext uri="{FF2B5EF4-FFF2-40B4-BE49-F238E27FC236}">
                <a16:creationId xmlns:a16="http://schemas.microsoft.com/office/drawing/2014/main" id="{1F312CAA-B097-BE56-DCF1-49CB0B8CE4F9}"/>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06 / 22</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nvSpPr>
        <p:spPr>
          <a:xfrm>
            <a:off x="8301038" y="609600"/>
            <a:ext cx="1730970"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BY THE NUMBERS</a:t>
            </a:r>
            <a:endParaRPr lang="en-US" sz="1350" dirty="0"/>
          </a:p>
        </p:txBody>
      </p:sp>
      <p:sp>
        <p:nvSpPr>
          <p:cNvPr id="4" name="Text 2"/>
          <p:cNvSpPr/>
          <p:nvPr/>
        </p:nvSpPr>
        <p:spPr>
          <a:xfrm>
            <a:off x="16474379" y="609600"/>
            <a:ext cx="1099517" cy="276224"/>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57300"/>
            <a:ext cx="18105120" cy="628650"/>
          </a:xfrm>
          <a:prstGeom prst="rect">
            <a:avLst/>
          </a:prstGeom>
          <a:noFill/>
          <a:ln/>
        </p:spPr>
        <p:txBody>
          <a:bodyPr wrap="square" lIns="25400" tIns="25400" rIns="25400" bIns="25400" rtlCol="0" anchor="t">
            <a:normAutofit lnSpcReduction="10000"/>
          </a:bodyPr>
          <a:lstStyle/>
          <a:p>
            <a:pPr marL="0" indent="0" algn="l">
              <a:buNone/>
            </a:pPr>
            <a:r>
              <a:rPr lang="en-US" sz="3900" b="1" kern="0" spc="-75" dirty="0">
                <a:solidFill>
                  <a:srgbClr val="F0EADB"/>
                </a:solidFill>
                <a:latin typeface="Noto Sans KR" pitchFamily="34" charset="0"/>
                <a:ea typeface="Noto Sans KR" pitchFamily="34" charset="-122"/>
                <a:cs typeface="Noto Sans KR" pitchFamily="34" charset="-120"/>
              </a:rPr>
              <a:t>숫자로 </a:t>
            </a:r>
            <a:r>
              <a:rPr lang="en-US" sz="3900" b="1" kern="0" spc="-75" dirty="0" err="1">
                <a:solidFill>
                  <a:srgbClr val="F0EADB"/>
                </a:solidFill>
                <a:latin typeface="Noto Sans KR" pitchFamily="34" charset="0"/>
                <a:ea typeface="Noto Sans KR" pitchFamily="34" charset="-122"/>
                <a:cs typeface="Noto Sans KR" pitchFamily="34" charset="-120"/>
              </a:rPr>
              <a:t>보는</a:t>
            </a:r>
            <a:r>
              <a:rPr lang="en-US" sz="3900" b="1" kern="0" spc="-75" dirty="0">
                <a:solidFill>
                  <a:srgbClr val="F0EADB"/>
                </a:solidFill>
                <a:latin typeface="Noto Sans KR" pitchFamily="34" charset="0"/>
                <a:ea typeface="Noto Sans KR" pitchFamily="34" charset="-122"/>
                <a:cs typeface="Noto Sans KR" pitchFamily="34" charset="-120"/>
              </a:rPr>
              <a:t> </a:t>
            </a:r>
            <a:r>
              <a:rPr lang="ko-KR" altLang="en-US" sz="3900" b="1" kern="0" spc="-75" dirty="0">
                <a:solidFill>
                  <a:srgbClr val="F0EADB"/>
                </a:solidFill>
                <a:latin typeface="Noto Sans KR" pitchFamily="34" charset="0"/>
                <a:ea typeface="Noto Sans KR" pitchFamily="34" charset="-122"/>
                <a:cs typeface="Noto Sans KR" pitchFamily="34" charset="-120"/>
              </a:rPr>
              <a:t>과정</a:t>
            </a:r>
            <a:endParaRPr lang="en-US" sz="3900" dirty="0"/>
          </a:p>
        </p:txBody>
      </p:sp>
      <p:sp>
        <p:nvSpPr>
          <p:cNvPr id="6" name="Shape 4"/>
          <p:cNvSpPr/>
          <p:nvPr/>
        </p:nvSpPr>
        <p:spPr>
          <a:xfrm>
            <a:off x="914400" y="2190750"/>
            <a:ext cx="8096250" cy="3471863"/>
          </a:xfrm>
          <a:prstGeom prst="roundRect">
            <a:avLst>
              <a:gd name="adj" fmla="val 2195"/>
            </a:avLst>
          </a:prstGeom>
          <a:solidFill>
            <a:srgbClr val="1A2236"/>
          </a:solidFill>
          <a:ln/>
        </p:spPr>
        <p:txBody>
          <a:bodyPr/>
          <a:lstStyle/>
          <a:p>
            <a:endParaRPr lang="ko-KR" altLang="en-US"/>
          </a:p>
        </p:txBody>
      </p:sp>
      <p:sp>
        <p:nvSpPr>
          <p:cNvPr id="7" name="Shape 5"/>
          <p:cNvSpPr/>
          <p:nvPr/>
        </p:nvSpPr>
        <p:spPr>
          <a:xfrm>
            <a:off x="914400" y="2190750"/>
            <a:ext cx="38100" cy="3471863"/>
          </a:xfrm>
          <a:prstGeom prst="rect">
            <a:avLst/>
          </a:prstGeom>
          <a:solidFill>
            <a:srgbClr val="D97757"/>
          </a:solidFill>
          <a:ln/>
        </p:spPr>
        <p:txBody>
          <a:bodyPr/>
          <a:lstStyle/>
          <a:p>
            <a:endParaRPr lang="ko-KR" altLang="en-US"/>
          </a:p>
        </p:txBody>
      </p:sp>
      <p:sp>
        <p:nvSpPr>
          <p:cNvPr id="8" name="Text 6"/>
          <p:cNvSpPr/>
          <p:nvPr/>
        </p:nvSpPr>
        <p:spPr>
          <a:xfrm>
            <a:off x="4307185" y="3183731"/>
            <a:ext cx="1483658" cy="1162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8850" b="1" dirty="0">
                <a:solidFill>
                  <a:srgbClr val="D97757"/>
                </a:solidFill>
                <a:latin typeface="JetBrains Mono" pitchFamily="34" charset="0"/>
                <a:ea typeface="JetBrains Mono" pitchFamily="34" charset="-122"/>
                <a:cs typeface="JetBrains Mono" pitchFamily="34" charset="-120"/>
              </a:rPr>
              <a:t>14</a:t>
            </a:r>
            <a:endParaRPr lang="en-US" sz="8850" dirty="0"/>
          </a:p>
        </p:txBody>
      </p:sp>
      <p:sp>
        <p:nvSpPr>
          <p:cNvPr id="9" name="Text 7"/>
          <p:cNvSpPr/>
          <p:nvPr/>
        </p:nvSpPr>
        <p:spPr>
          <a:xfrm>
            <a:off x="4407595" y="4364831"/>
            <a:ext cx="1224161" cy="342900"/>
          </a:xfrm>
          <a:prstGeom prst="rect">
            <a:avLst/>
          </a:prstGeom>
          <a:noFill/>
          <a:ln/>
        </p:spPr>
        <p:txBody>
          <a:bodyPr wrap="square" lIns="25400" tIns="25400" rIns="25400" bIns="25400" rtlCol="0" anchor="t">
            <a:normAutofit/>
          </a:bodyPr>
          <a:lstStyle/>
          <a:p>
            <a:pPr marL="0" indent="0" algn="l">
              <a:buNone/>
            </a:pPr>
            <a:r>
              <a:rPr lang="en-US" sz="1650" kern="0" spc="75" dirty="0">
                <a:solidFill>
                  <a:srgbClr val="8A9AB8"/>
                </a:solidFill>
                <a:latin typeface="Noto Sans KR" pitchFamily="34" charset="0"/>
                <a:ea typeface="Noto Sans KR" pitchFamily="34" charset="-122"/>
                <a:cs typeface="Noto Sans KR" pitchFamily="34" charset="-120"/>
              </a:rPr>
              <a:t>주 개발 기간</a:t>
            </a:r>
            <a:endParaRPr lang="en-US" sz="1650" dirty="0"/>
          </a:p>
        </p:txBody>
      </p:sp>
      <p:sp>
        <p:nvSpPr>
          <p:cNvPr id="10" name="Shape 8"/>
          <p:cNvSpPr/>
          <p:nvPr/>
        </p:nvSpPr>
        <p:spPr>
          <a:xfrm>
            <a:off x="9277350" y="2190750"/>
            <a:ext cx="8096250" cy="3471863"/>
          </a:xfrm>
          <a:prstGeom prst="roundRect">
            <a:avLst>
              <a:gd name="adj" fmla="val 2195"/>
            </a:avLst>
          </a:prstGeom>
          <a:solidFill>
            <a:srgbClr val="1A2236"/>
          </a:solidFill>
          <a:ln/>
        </p:spPr>
        <p:txBody>
          <a:bodyPr/>
          <a:lstStyle/>
          <a:p>
            <a:endParaRPr lang="ko-KR" altLang="en-US"/>
          </a:p>
        </p:txBody>
      </p:sp>
      <p:sp>
        <p:nvSpPr>
          <p:cNvPr id="11" name="Shape 9"/>
          <p:cNvSpPr/>
          <p:nvPr/>
        </p:nvSpPr>
        <p:spPr>
          <a:xfrm>
            <a:off x="9277350" y="2190750"/>
            <a:ext cx="38100" cy="3471863"/>
          </a:xfrm>
          <a:prstGeom prst="rect">
            <a:avLst/>
          </a:prstGeom>
          <a:solidFill>
            <a:srgbClr val="D97757"/>
          </a:solidFill>
          <a:ln/>
        </p:spPr>
        <p:txBody>
          <a:bodyPr/>
          <a:lstStyle/>
          <a:p>
            <a:endParaRPr lang="ko-KR" altLang="en-US"/>
          </a:p>
        </p:txBody>
      </p:sp>
      <p:sp>
        <p:nvSpPr>
          <p:cNvPr id="12" name="Text 10"/>
          <p:cNvSpPr/>
          <p:nvPr/>
        </p:nvSpPr>
        <p:spPr>
          <a:xfrm>
            <a:off x="12670136" y="3183731"/>
            <a:ext cx="1483658" cy="1162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8850" b="1" dirty="0">
                <a:solidFill>
                  <a:srgbClr val="D97757"/>
                </a:solidFill>
                <a:latin typeface="JetBrains Mono" pitchFamily="34" charset="0"/>
                <a:ea typeface="JetBrains Mono" pitchFamily="34" charset="-122"/>
                <a:cs typeface="JetBrains Mono" pitchFamily="34" charset="-120"/>
              </a:rPr>
              <a:t>43</a:t>
            </a:r>
            <a:endParaRPr lang="en-US" sz="8850" dirty="0"/>
          </a:p>
        </p:txBody>
      </p:sp>
      <p:sp>
        <p:nvSpPr>
          <p:cNvPr id="13" name="Text 11"/>
          <p:cNvSpPr/>
          <p:nvPr/>
        </p:nvSpPr>
        <p:spPr>
          <a:xfrm>
            <a:off x="12905780" y="4364831"/>
            <a:ext cx="953691" cy="342900"/>
          </a:xfrm>
          <a:prstGeom prst="rect">
            <a:avLst/>
          </a:prstGeom>
          <a:noFill/>
          <a:ln/>
        </p:spPr>
        <p:txBody>
          <a:bodyPr wrap="square" lIns="25400" tIns="25400" rIns="25400" bIns="25400" rtlCol="0" anchor="t">
            <a:normAutofit/>
          </a:bodyPr>
          <a:lstStyle/>
          <a:p>
            <a:pPr marL="0" indent="0" algn="l">
              <a:buNone/>
            </a:pPr>
            <a:r>
              <a:rPr lang="en-US" sz="1650" kern="0" spc="75" dirty="0">
                <a:solidFill>
                  <a:srgbClr val="8A9AB8"/>
                </a:solidFill>
                <a:latin typeface="Noto Sans KR" pitchFamily="34" charset="0"/>
                <a:ea typeface="Noto Sans KR" pitchFamily="34" charset="-122"/>
                <a:cs typeface="Noto Sans KR" pitchFamily="34" charset="-120"/>
              </a:rPr>
              <a:t>섹션 완료</a:t>
            </a:r>
            <a:endParaRPr lang="en-US" sz="1650" dirty="0"/>
          </a:p>
        </p:txBody>
      </p:sp>
      <p:sp>
        <p:nvSpPr>
          <p:cNvPr id="14" name="Shape 12"/>
          <p:cNvSpPr/>
          <p:nvPr/>
        </p:nvSpPr>
        <p:spPr>
          <a:xfrm>
            <a:off x="914400" y="5929313"/>
            <a:ext cx="8096250" cy="3471863"/>
          </a:xfrm>
          <a:prstGeom prst="roundRect">
            <a:avLst>
              <a:gd name="adj" fmla="val 2195"/>
            </a:avLst>
          </a:prstGeom>
          <a:solidFill>
            <a:srgbClr val="1A2236"/>
          </a:solidFill>
          <a:ln/>
        </p:spPr>
        <p:txBody>
          <a:bodyPr/>
          <a:lstStyle/>
          <a:p>
            <a:endParaRPr lang="ko-KR" altLang="en-US"/>
          </a:p>
        </p:txBody>
      </p:sp>
      <p:sp>
        <p:nvSpPr>
          <p:cNvPr id="15" name="Shape 13"/>
          <p:cNvSpPr/>
          <p:nvPr/>
        </p:nvSpPr>
        <p:spPr>
          <a:xfrm>
            <a:off x="914400" y="5929313"/>
            <a:ext cx="38100" cy="3471863"/>
          </a:xfrm>
          <a:prstGeom prst="rect">
            <a:avLst/>
          </a:prstGeom>
          <a:solidFill>
            <a:srgbClr val="D97757"/>
          </a:solidFill>
          <a:ln/>
        </p:spPr>
        <p:txBody>
          <a:bodyPr/>
          <a:lstStyle/>
          <a:p>
            <a:endParaRPr lang="ko-KR" altLang="en-US"/>
          </a:p>
        </p:txBody>
      </p:sp>
      <p:sp>
        <p:nvSpPr>
          <p:cNvPr id="16" name="Text 14"/>
          <p:cNvSpPr/>
          <p:nvPr/>
        </p:nvSpPr>
        <p:spPr>
          <a:xfrm>
            <a:off x="4307185" y="6922294"/>
            <a:ext cx="1483658" cy="1162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8850" b="1" dirty="0">
                <a:solidFill>
                  <a:srgbClr val="D97757"/>
                </a:solidFill>
                <a:latin typeface="JetBrains Mono" pitchFamily="34" charset="0"/>
                <a:ea typeface="JetBrains Mono" pitchFamily="34" charset="-122"/>
                <a:cs typeface="JetBrains Mono" pitchFamily="34" charset="-120"/>
              </a:rPr>
              <a:t>17</a:t>
            </a:r>
            <a:endParaRPr lang="en-US" sz="8850" dirty="0"/>
          </a:p>
        </p:txBody>
      </p:sp>
      <p:sp>
        <p:nvSpPr>
          <p:cNvPr id="17" name="Text 15"/>
          <p:cNvSpPr/>
          <p:nvPr/>
        </p:nvSpPr>
        <p:spPr>
          <a:xfrm>
            <a:off x="4292104" y="8103394"/>
            <a:ext cx="1516837" cy="342900"/>
          </a:xfrm>
          <a:prstGeom prst="rect">
            <a:avLst/>
          </a:prstGeom>
          <a:noFill/>
          <a:ln/>
        </p:spPr>
        <p:txBody>
          <a:bodyPr wrap="square" lIns="25400" tIns="25400" rIns="25400" bIns="25400" rtlCol="0" anchor="t">
            <a:normAutofit/>
          </a:bodyPr>
          <a:lstStyle/>
          <a:p>
            <a:pPr marL="0" indent="0" algn="l">
              <a:buNone/>
            </a:pPr>
            <a:r>
              <a:rPr lang="en-US" sz="1650" kern="0" spc="75" dirty="0">
                <a:solidFill>
                  <a:srgbClr val="8A9AB8"/>
                </a:solidFill>
                <a:latin typeface="Noto Sans KR" pitchFamily="34" charset="0"/>
                <a:ea typeface="Noto Sans KR" pitchFamily="34" charset="-122"/>
                <a:cs typeface="Noto Sans KR" pitchFamily="34" charset="-120"/>
              </a:rPr>
              <a:t>ADR 설계 문서</a:t>
            </a:r>
            <a:endParaRPr lang="en-US" sz="1650" dirty="0"/>
          </a:p>
        </p:txBody>
      </p:sp>
      <p:sp>
        <p:nvSpPr>
          <p:cNvPr id="18" name="Shape 16"/>
          <p:cNvSpPr/>
          <p:nvPr/>
        </p:nvSpPr>
        <p:spPr>
          <a:xfrm>
            <a:off x="9277350" y="5929313"/>
            <a:ext cx="8096250" cy="3471863"/>
          </a:xfrm>
          <a:prstGeom prst="roundRect">
            <a:avLst>
              <a:gd name="adj" fmla="val 2195"/>
            </a:avLst>
          </a:prstGeom>
          <a:solidFill>
            <a:srgbClr val="1A2236"/>
          </a:solidFill>
          <a:ln/>
        </p:spPr>
        <p:txBody>
          <a:bodyPr/>
          <a:lstStyle/>
          <a:p>
            <a:endParaRPr lang="ko-KR" altLang="en-US"/>
          </a:p>
        </p:txBody>
      </p:sp>
      <p:sp>
        <p:nvSpPr>
          <p:cNvPr id="19" name="Shape 17"/>
          <p:cNvSpPr/>
          <p:nvPr/>
        </p:nvSpPr>
        <p:spPr>
          <a:xfrm>
            <a:off x="9277350" y="5929313"/>
            <a:ext cx="38100" cy="3471863"/>
          </a:xfrm>
          <a:prstGeom prst="rect">
            <a:avLst/>
          </a:prstGeom>
          <a:solidFill>
            <a:srgbClr val="D97757"/>
          </a:solidFill>
          <a:ln/>
        </p:spPr>
        <p:txBody>
          <a:bodyPr/>
          <a:lstStyle/>
          <a:p>
            <a:endParaRPr lang="ko-KR" altLang="en-US"/>
          </a:p>
        </p:txBody>
      </p:sp>
      <p:sp>
        <p:nvSpPr>
          <p:cNvPr id="20" name="Text 18"/>
          <p:cNvSpPr/>
          <p:nvPr/>
        </p:nvSpPr>
        <p:spPr>
          <a:xfrm>
            <a:off x="13007280" y="6922294"/>
            <a:ext cx="750590" cy="1162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8850" b="1" dirty="0">
                <a:solidFill>
                  <a:srgbClr val="D97757"/>
                </a:solidFill>
                <a:latin typeface="JetBrains Mono" pitchFamily="34" charset="0"/>
                <a:ea typeface="JetBrains Mono" pitchFamily="34" charset="-122"/>
                <a:cs typeface="JetBrains Mono" pitchFamily="34" charset="-120"/>
              </a:rPr>
              <a:t>5</a:t>
            </a:r>
            <a:endParaRPr lang="en-US" sz="8850" dirty="0"/>
          </a:p>
        </p:txBody>
      </p:sp>
      <p:sp>
        <p:nvSpPr>
          <p:cNvPr id="21" name="Text 19"/>
          <p:cNvSpPr/>
          <p:nvPr/>
        </p:nvSpPr>
        <p:spPr>
          <a:xfrm>
            <a:off x="13006884" y="8103394"/>
            <a:ext cx="751384" cy="342900"/>
          </a:xfrm>
          <a:prstGeom prst="rect">
            <a:avLst/>
          </a:prstGeom>
          <a:noFill/>
          <a:ln/>
        </p:spPr>
        <p:txBody>
          <a:bodyPr wrap="square" lIns="25400" tIns="25400" rIns="25400" bIns="25400" rtlCol="0" anchor="t">
            <a:normAutofit/>
          </a:bodyPr>
          <a:lstStyle/>
          <a:p>
            <a:pPr marL="0" indent="0" algn="l">
              <a:buNone/>
            </a:pPr>
            <a:r>
              <a:rPr lang="en-US" sz="1650" kern="0" spc="75" dirty="0">
                <a:solidFill>
                  <a:srgbClr val="8A9AB8"/>
                </a:solidFill>
                <a:latin typeface="Noto Sans KR" pitchFamily="34" charset="0"/>
                <a:ea typeface="Noto Sans KR" pitchFamily="34" charset="-122"/>
                <a:cs typeface="Noto Sans KR" pitchFamily="34" charset="-120"/>
              </a:rPr>
              <a:t>씬 구성</a:t>
            </a:r>
            <a:endParaRPr lang="en-US" sz="1650" dirty="0"/>
          </a:p>
        </p:txBody>
      </p:sp>
      <p:sp>
        <p:nvSpPr>
          <p:cNvPr id="22" name="Shape 20"/>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24" name="Text 0">
            <a:extLst>
              <a:ext uri="{FF2B5EF4-FFF2-40B4-BE49-F238E27FC236}">
                <a16:creationId xmlns:a16="http://schemas.microsoft.com/office/drawing/2014/main" id="{DB21B782-216A-D604-D30B-23BEB91FB362}"/>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07 / 22</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nvSpPr>
        <p:spPr>
          <a:xfrm>
            <a:off x="7795221" y="609600"/>
            <a:ext cx="2843659"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IMPLEMENTATION · 20 TPS</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57300"/>
            <a:ext cx="18105120" cy="628650"/>
          </a:xfrm>
          <a:prstGeom prst="rect">
            <a:avLst/>
          </a:prstGeom>
          <a:noFill/>
          <a:ln/>
        </p:spPr>
        <p:txBody>
          <a:bodyPr wrap="square" lIns="25400" tIns="25400" rIns="25400" bIns="25400" rtlCol="0" anchor="t">
            <a:normAutofit lnSpcReduction="10000"/>
          </a:bodyPr>
          <a:lstStyle/>
          <a:p>
            <a:pPr marL="0" indent="0" algn="l">
              <a:buNone/>
            </a:pPr>
            <a:r>
              <a:rPr lang="en-US" sz="3900" b="1" kern="0" spc="-75" dirty="0">
                <a:solidFill>
                  <a:srgbClr val="F0EADB"/>
                </a:solidFill>
                <a:latin typeface="Noto Sans KR" pitchFamily="34" charset="0"/>
                <a:ea typeface="Noto Sans KR" pitchFamily="34" charset="-122"/>
                <a:cs typeface="Noto Sans KR" pitchFamily="34" charset="-120"/>
              </a:rPr>
              <a:t>구현 방법 — 20 TPS 고정 틱</a:t>
            </a:r>
            <a:endParaRPr lang="en-US" sz="3900" dirty="0"/>
          </a:p>
        </p:txBody>
      </p:sp>
      <p:sp>
        <p:nvSpPr>
          <p:cNvPr id="6" name="Shape 4"/>
          <p:cNvSpPr/>
          <p:nvPr/>
        </p:nvSpPr>
        <p:spPr>
          <a:xfrm>
            <a:off x="914400" y="4365625"/>
            <a:ext cx="8932268" cy="3051175"/>
          </a:xfrm>
          <a:prstGeom prst="roundRect">
            <a:avLst>
              <a:gd name="adj" fmla="val 2497"/>
            </a:avLst>
          </a:prstGeom>
          <a:solidFill>
            <a:srgbClr val="0D1117"/>
          </a:solidFill>
          <a:ln/>
        </p:spPr>
        <p:txBody>
          <a:bodyPr/>
          <a:lstStyle/>
          <a:p>
            <a:endParaRPr lang="ko-KR" altLang="en-US"/>
          </a:p>
        </p:txBody>
      </p:sp>
      <p:sp>
        <p:nvSpPr>
          <p:cNvPr id="7" name="Shape 5"/>
          <p:cNvSpPr/>
          <p:nvPr/>
        </p:nvSpPr>
        <p:spPr>
          <a:xfrm>
            <a:off x="914400" y="7410450"/>
            <a:ext cx="8932268" cy="9525"/>
          </a:xfrm>
          <a:prstGeom prst="rect">
            <a:avLst/>
          </a:prstGeom>
          <a:solidFill>
            <a:srgbClr val="2E3C55"/>
          </a:solidFill>
          <a:ln/>
        </p:spPr>
        <p:txBody>
          <a:bodyPr/>
          <a:lstStyle/>
          <a:p>
            <a:endParaRPr lang="ko-KR" altLang="en-US"/>
          </a:p>
        </p:txBody>
      </p:sp>
      <p:sp>
        <p:nvSpPr>
          <p:cNvPr id="8" name="Shape 6"/>
          <p:cNvSpPr/>
          <p:nvPr/>
        </p:nvSpPr>
        <p:spPr>
          <a:xfrm>
            <a:off x="914400" y="4365625"/>
            <a:ext cx="8932268" cy="9525"/>
          </a:xfrm>
          <a:prstGeom prst="rect">
            <a:avLst/>
          </a:prstGeom>
          <a:solidFill>
            <a:srgbClr val="2E3C55"/>
          </a:solidFill>
          <a:ln/>
        </p:spPr>
        <p:txBody>
          <a:bodyPr/>
          <a:lstStyle/>
          <a:p>
            <a:endParaRPr lang="ko-KR" altLang="en-US"/>
          </a:p>
        </p:txBody>
      </p:sp>
      <p:sp>
        <p:nvSpPr>
          <p:cNvPr id="9" name="Shape 7"/>
          <p:cNvSpPr/>
          <p:nvPr/>
        </p:nvSpPr>
        <p:spPr>
          <a:xfrm>
            <a:off x="914400" y="4365625"/>
            <a:ext cx="38100" cy="3051175"/>
          </a:xfrm>
          <a:prstGeom prst="rect">
            <a:avLst/>
          </a:prstGeom>
          <a:solidFill>
            <a:srgbClr val="D97757"/>
          </a:solidFill>
          <a:ln/>
        </p:spPr>
        <p:txBody>
          <a:bodyPr/>
          <a:lstStyle/>
          <a:p>
            <a:endParaRPr lang="ko-KR" altLang="en-US"/>
          </a:p>
        </p:txBody>
      </p:sp>
      <p:sp>
        <p:nvSpPr>
          <p:cNvPr id="10" name="Shape 8"/>
          <p:cNvSpPr/>
          <p:nvPr/>
        </p:nvSpPr>
        <p:spPr>
          <a:xfrm>
            <a:off x="9840318" y="4365625"/>
            <a:ext cx="9525" cy="3051175"/>
          </a:xfrm>
          <a:prstGeom prst="rect">
            <a:avLst/>
          </a:prstGeom>
          <a:solidFill>
            <a:srgbClr val="2E3C55"/>
          </a:solidFill>
          <a:ln/>
        </p:spPr>
        <p:txBody>
          <a:bodyPr/>
          <a:lstStyle/>
          <a:p>
            <a:endParaRPr lang="ko-KR" altLang="en-US"/>
          </a:p>
        </p:txBody>
      </p:sp>
      <p:sp>
        <p:nvSpPr>
          <p:cNvPr id="11" name="Text 9"/>
          <p:cNvSpPr/>
          <p:nvPr/>
        </p:nvSpPr>
        <p:spPr>
          <a:xfrm>
            <a:off x="1276350" y="4657725"/>
            <a:ext cx="8487321" cy="390525"/>
          </a:xfrm>
          <a:prstGeom prst="rect">
            <a:avLst/>
          </a:prstGeom>
          <a:noFill/>
          <a:ln/>
        </p:spPr>
        <p:txBody>
          <a:bodyPr wrap="square" lIns="25400" tIns="25400" rIns="25400" bIns="25400" rtlCol="0" anchor="t">
            <a:normAutofit fontScale="92500" lnSpcReduction="10000"/>
          </a:bodyPr>
          <a:lstStyle/>
          <a:p>
            <a:pPr marL="0" indent="0" algn="l">
              <a:lnSpc>
                <a:spcPct val="185000"/>
              </a:lnSpc>
              <a:buNone/>
            </a:pPr>
            <a:r>
              <a:rPr lang="en-US" sz="1500" dirty="0">
                <a:solidFill>
                  <a:srgbClr val="6272A4"/>
                </a:solidFill>
                <a:latin typeface="JetBrains Mono" pitchFamily="34" charset="0"/>
                <a:ea typeface="JetBrains Mono" pitchFamily="34" charset="-122"/>
                <a:cs typeface="JetBrains Mono" pitchFamily="34" charset="-120"/>
              </a:rPr>
              <a:t>// BattleSimulation.cs — 자동 정지 판정</a:t>
            </a:r>
            <a:endParaRPr lang="en-US" sz="1500" dirty="0"/>
          </a:p>
        </p:txBody>
      </p:sp>
      <p:sp>
        <p:nvSpPr>
          <p:cNvPr id="12" name="Text 10"/>
          <p:cNvSpPr/>
          <p:nvPr/>
        </p:nvSpPr>
        <p:spPr>
          <a:xfrm>
            <a:off x="1276350" y="5010150"/>
            <a:ext cx="8487321" cy="390525"/>
          </a:xfrm>
          <a:prstGeom prst="rect">
            <a:avLst/>
          </a:prstGeom>
          <a:noFill/>
          <a:ln/>
        </p:spPr>
        <p:txBody>
          <a:bodyPr wrap="square" lIns="25400" tIns="25400" rIns="25400" bIns="25400" rtlCol="0" anchor="t">
            <a:normAutofit fontScale="92500" lnSpcReduction="10000"/>
          </a:bodyPr>
          <a:lstStyle/>
          <a:p>
            <a:pPr marL="0" indent="0" algn="l">
              <a:lnSpc>
                <a:spcPct val="185000"/>
              </a:lnSpc>
              <a:buNone/>
            </a:pPr>
            <a:r>
              <a:rPr lang="en-US" sz="1500" dirty="0">
                <a:solidFill>
                  <a:srgbClr val="FF79C6"/>
                </a:solidFill>
                <a:latin typeface="JetBrains Mono" pitchFamily="34" charset="0"/>
                <a:ea typeface="JetBrains Mono" pitchFamily="34" charset="-122"/>
                <a:cs typeface="JetBrains Mono" pitchFamily="34" charset="-120"/>
              </a:rPr>
              <a:t>private bool </a:t>
            </a:r>
            <a:r>
              <a:rPr lang="en-US" sz="1500" dirty="0">
                <a:solidFill>
                  <a:srgbClr val="8BE9FD"/>
                </a:solidFill>
                <a:latin typeface="JetBrains Mono" pitchFamily="34" charset="0"/>
                <a:ea typeface="JetBrains Mono" pitchFamily="34" charset="-122"/>
                <a:cs typeface="JetBrains Mono" pitchFamily="34" charset="-120"/>
              </a:rPr>
              <a:t>CheckAutoFreeze</a:t>
            </a:r>
            <a:r>
              <a:rPr lang="en-US" sz="1500" dirty="0">
                <a:solidFill>
                  <a:srgbClr val="F0EADB"/>
                </a:solidFill>
                <a:latin typeface="JetBrains Mono" pitchFamily="34" charset="0"/>
                <a:ea typeface="JetBrains Mono" pitchFamily="34" charset="-122"/>
                <a:cs typeface="JetBrains Mono" pitchFamily="34" charset="-120"/>
              </a:rPr>
              <a:t>()</a:t>
            </a:r>
            <a:endParaRPr lang="en-US" sz="1500" dirty="0"/>
          </a:p>
        </p:txBody>
      </p:sp>
      <p:sp>
        <p:nvSpPr>
          <p:cNvPr id="13" name="Text 11"/>
          <p:cNvSpPr/>
          <p:nvPr/>
        </p:nvSpPr>
        <p:spPr>
          <a:xfrm>
            <a:off x="1276350" y="5362575"/>
            <a:ext cx="8487321" cy="390525"/>
          </a:xfrm>
          <a:prstGeom prst="rect">
            <a:avLst/>
          </a:prstGeom>
          <a:noFill/>
          <a:ln/>
        </p:spPr>
        <p:txBody>
          <a:bodyPr wrap="square" lIns="25400" tIns="25400" rIns="25400" bIns="25400" rtlCol="0" anchor="t">
            <a:normAutofit fontScale="92500" lnSpcReduction="10000"/>
          </a:bodyPr>
          <a:lstStyle/>
          <a:p>
            <a:pPr marL="0" indent="0" algn="l">
              <a:lnSpc>
                <a:spcPct val="185000"/>
              </a:lnSpc>
              <a:buNone/>
            </a:pPr>
            <a:r>
              <a:rPr lang="en-US" sz="1500" dirty="0">
                <a:solidFill>
                  <a:srgbClr val="F0EADB"/>
                </a:solidFill>
                <a:latin typeface="JetBrains Mono" pitchFamily="34" charset="0"/>
                <a:ea typeface="JetBrains Mono" pitchFamily="34" charset="-122"/>
                <a:cs typeface="JetBrains Mono" pitchFamily="34" charset="-120"/>
              </a:rPr>
              <a:t>{</a:t>
            </a:r>
            <a:endParaRPr lang="en-US" sz="1500" dirty="0"/>
          </a:p>
        </p:txBody>
      </p:sp>
      <p:sp>
        <p:nvSpPr>
          <p:cNvPr id="14" name="Text 12"/>
          <p:cNvSpPr/>
          <p:nvPr/>
        </p:nvSpPr>
        <p:spPr>
          <a:xfrm>
            <a:off x="1276350" y="5715000"/>
            <a:ext cx="8487321" cy="390525"/>
          </a:xfrm>
          <a:prstGeom prst="rect">
            <a:avLst/>
          </a:prstGeom>
          <a:noFill/>
          <a:ln/>
        </p:spPr>
        <p:txBody>
          <a:bodyPr wrap="square" lIns="25400" tIns="25400" rIns="25400" bIns="25400" rtlCol="0" anchor="t">
            <a:normAutofit fontScale="92500" lnSpcReduction="10000"/>
          </a:bodyPr>
          <a:lstStyle/>
          <a:p>
            <a:pPr marL="0" indent="0" algn="l">
              <a:lnSpc>
                <a:spcPct val="185000"/>
              </a:lnSpc>
              <a:buNone/>
            </a:pPr>
            <a:r>
              <a:rPr lang="en-US" sz="1500" dirty="0">
                <a:solidFill>
                  <a:srgbClr val="FF79C6"/>
                </a:solidFill>
                <a:latin typeface="JetBrains Mono" pitchFamily="34" charset="0"/>
                <a:ea typeface="JetBrains Mono" pitchFamily="34" charset="-122"/>
                <a:cs typeface="JetBrains Mono" pitchFamily="34" charset="-120"/>
              </a:rPr>
              <a:t>return </a:t>
            </a:r>
            <a:r>
              <a:rPr lang="en-US" sz="1500" dirty="0">
                <a:solidFill>
                  <a:srgbClr val="F0EADB"/>
                </a:solidFill>
                <a:latin typeface="JetBrains Mono" pitchFamily="34" charset="0"/>
                <a:ea typeface="JetBrains Mono" pitchFamily="34" charset="-122"/>
                <a:cs typeface="JetBrains Mono" pitchFamily="34" charset="-120"/>
              </a:rPr>
              <a:t>PartyManager.Instance.Members</a:t>
            </a:r>
            <a:endParaRPr lang="en-US" sz="1500" dirty="0"/>
          </a:p>
        </p:txBody>
      </p:sp>
      <p:sp>
        <p:nvSpPr>
          <p:cNvPr id="15" name="Text 13"/>
          <p:cNvSpPr/>
          <p:nvPr/>
        </p:nvSpPr>
        <p:spPr>
          <a:xfrm>
            <a:off x="1276350" y="6067425"/>
            <a:ext cx="8487321" cy="390525"/>
          </a:xfrm>
          <a:prstGeom prst="rect">
            <a:avLst/>
          </a:prstGeom>
          <a:noFill/>
          <a:ln/>
        </p:spPr>
        <p:txBody>
          <a:bodyPr wrap="square" lIns="25400" tIns="25400" rIns="25400" bIns="25400" rtlCol="0" anchor="t">
            <a:normAutofit fontScale="92500" lnSpcReduction="10000"/>
          </a:bodyPr>
          <a:lstStyle/>
          <a:p>
            <a:pPr marL="0" indent="0" algn="l">
              <a:lnSpc>
                <a:spcPct val="185000"/>
              </a:lnSpc>
              <a:buNone/>
            </a:pPr>
            <a:r>
              <a:rPr lang="en-US" sz="1500" dirty="0">
                <a:solidFill>
                  <a:srgbClr val="F0EADB"/>
                </a:solidFill>
                <a:latin typeface="JetBrains Mono" pitchFamily="34" charset="0"/>
                <a:ea typeface="JetBrains Mono" pitchFamily="34" charset="-122"/>
                <a:cs typeface="JetBrains Mono" pitchFamily="34" charset="-120"/>
              </a:rPr>
              <a:t>.</a:t>
            </a:r>
            <a:r>
              <a:rPr lang="en-US" sz="1500" dirty="0">
                <a:solidFill>
                  <a:srgbClr val="8BE9FD"/>
                </a:solidFill>
                <a:latin typeface="JetBrains Mono" pitchFamily="34" charset="0"/>
                <a:ea typeface="JetBrains Mono" pitchFamily="34" charset="-122"/>
                <a:cs typeface="JetBrains Mono" pitchFamily="34" charset="-120"/>
              </a:rPr>
              <a:t>Exists</a:t>
            </a:r>
            <a:r>
              <a:rPr lang="en-US" sz="1500" dirty="0">
                <a:solidFill>
                  <a:srgbClr val="F0EADB"/>
                </a:solidFill>
                <a:latin typeface="JetBrains Mono" pitchFamily="34" charset="0"/>
                <a:ea typeface="JetBrains Mono" pitchFamily="34" charset="-122"/>
                <a:cs typeface="JetBrains Mono" pitchFamily="34" charset="-120"/>
              </a:rPr>
              <a:t>(m =&gt; m.Stats.IsAlive</a:t>
            </a:r>
            <a:endParaRPr lang="en-US" sz="1500" dirty="0"/>
          </a:p>
        </p:txBody>
      </p:sp>
      <p:sp>
        <p:nvSpPr>
          <p:cNvPr id="16" name="Text 14"/>
          <p:cNvSpPr/>
          <p:nvPr/>
        </p:nvSpPr>
        <p:spPr>
          <a:xfrm>
            <a:off x="1276350" y="6419850"/>
            <a:ext cx="8487321" cy="390525"/>
          </a:xfrm>
          <a:prstGeom prst="rect">
            <a:avLst/>
          </a:prstGeom>
          <a:noFill/>
          <a:ln/>
        </p:spPr>
        <p:txBody>
          <a:bodyPr wrap="square" lIns="25400" tIns="25400" rIns="25400" bIns="25400" rtlCol="0" anchor="t">
            <a:normAutofit fontScale="92500" lnSpcReduction="10000"/>
          </a:bodyPr>
          <a:lstStyle/>
          <a:p>
            <a:pPr marL="0" indent="0" algn="l">
              <a:lnSpc>
                <a:spcPct val="185000"/>
              </a:lnSpc>
              <a:buNone/>
            </a:pPr>
            <a:r>
              <a:rPr lang="en-US" sz="1500" dirty="0">
                <a:solidFill>
                  <a:srgbClr val="F0EADB"/>
                </a:solidFill>
                <a:latin typeface="JetBrains Mono" pitchFamily="34" charset="0"/>
                <a:ea typeface="JetBrains Mono" pitchFamily="34" charset="-122"/>
                <a:cs typeface="JetBrains Mono" pitchFamily="34" charset="-120"/>
              </a:rPr>
              <a:t>&amp;&amp; !m.Sim.IsBusy);</a:t>
            </a:r>
            <a:endParaRPr lang="en-US" sz="1500" dirty="0"/>
          </a:p>
        </p:txBody>
      </p:sp>
      <p:sp>
        <p:nvSpPr>
          <p:cNvPr id="17" name="Text 15"/>
          <p:cNvSpPr/>
          <p:nvPr/>
        </p:nvSpPr>
        <p:spPr>
          <a:xfrm>
            <a:off x="1276350" y="6772275"/>
            <a:ext cx="8487321" cy="390525"/>
          </a:xfrm>
          <a:prstGeom prst="rect">
            <a:avLst/>
          </a:prstGeom>
          <a:noFill/>
          <a:ln/>
        </p:spPr>
        <p:txBody>
          <a:bodyPr wrap="square" lIns="25400" tIns="25400" rIns="25400" bIns="25400" rtlCol="0" anchor="t">
            <a:normAutofit fontScale="92500" lnSpcReduction="10000"/>
          </a:bodyPr>
          <a:lstStyle/>
          <a:p>
            <a:pPr marL="0" indent="0" algn="l">
              <a:lnSpc>
                <a:spcPct val="185000"/>
              </a:lnSpc>
              <a:buNone/>
            </a:pPr>
            <a:r>
              <a:rPr lang="en-US" sz="1500" dirty="0">
                <a:solidFill>
                  <a:srgbClr val="F0EADB"/>
                </a:solidFill>
                <a:latin typeface="JetBrains Mono" pitchFamily="34" charset="0"/>
                <a:ea typeface="JetBrains Mono" pitchFamily="34" charset="-122"/>
                <a:cs typeface="JetBrains Mono" pitchFamily="34" charset="-120"/>
              </a:rPr>
              <a:t>}</a:t>
            </a:r>
            <a:endParaRPr lang="en-US" sz="1500" dirty="0"/>
          </a:p>
        </p:txBody>
      </p:sp>
      <p:sp>
        <p:nvSpPr>
          <p:cNvPr id="18" name="Text 16"/>
          <p:cNvSpPr/>
          <p:nvPr/>
        </p:nvSpPr>
        <p:spPr>
          <a:xfrm>
            <a:off x="10227668" y="5137150"/>
            <a:ext cx="304800" cy="379413"/>
          </a:xfrm>
          <a:prstGeom prst="rect">
            <a:avLst/>
          </a:prstGeom>
          <a:noFill/>
          <a:ln/>
        </p:spPr>
        <p:txBody>
          <a:bodyPr wrap="square" lIns="25400" tIns="25400" rIns="25400" bIns="25400" rtlCol="0" anchor="t">
            <a:normAutofit/>
          </a:bodyPr>
          <a:lstStyle/>
          <a:p>
            <a:pPr marL="0" indent="0" algn="l">
              <a:buNone/>
            </a:pPr>
            <a:r>
              <a:rPr lang="en-US" sz="1800" dirty="0">
                <a:solidFill>
                  <a:srgbClr val="D97757"/>
                </a:solidFill>
                <a:latin typeface="Noto Sans KR" pitchFamily="34" charset="0"/>
                <a:ea typeface="Noto Sans KR" pitchFamily="34" charset="-122"/>
                <a:cs typeface="Noto Sans KR" pitchFamily="34" charset="-120"/>
              </a:rPr>
              <a:t>●</a:t>
            </a:r>
            <a:endParaRPr lang="en-US" sz="1800" dirty="0"/>
          </a:p>
        </p:txBody>
      </p:sp>
      <p:sp>
        <p:nvSpPr>
          <p:cNvPr id="19" name="Text 17"/>
          <p:cNvSpPr/>
          <p:nvPr/>
        </p:nvSpPr>
        <p:spPr>
          <a:xfrm>
            <a:off x="10627718" y="5137150"/>
            <a:ext cx="6166773" cy="379413"/>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725" dirty="0">
                <a:solidFill>
                  <a:srgbClr val="F0EADB"/>
                </a:solidFill>
                <a:latin typeface="Noto Sans KR" pitchFamily="34" charset="0"/>
                <a:ea typeface="Noto Sans KR" pitchFamily="34" charset="-122"/>
                <a:cs typeface="Noto Sans KR" pitchFamily="34" charset="-120"/>
              </a:rPr>
              <a:t>살아있는 파티원 중 </a:t>
            </a:r>
            <a:r>
              <a:rPr lang="en-US" sz="1500" dirty="0">
                <a:solidFill>
                  <a:srgbClr val="79B8FF"/>
                </a:solidFill>
                <a:latin typeface="JetBrains Mono" pitchFamily="34" charset="0"/>
                <a:ea typeface="JetBrains Mono" pitchFamily="34" charset="-122"/>
                <a:cs typeface="JetBrains Mono" pitchFamily="34" charset="-120"/>
              </a:rPr>
              <a:t>IsBusy=false</a:t>
            </a:r>
            <a:r>
              <a:rPr lang="en-US" sz="1725" dirty="0">
                <a:solidFill>
                  <a:srgbClr val="F0EADB"/>
                </a:solidFill>
                <a:latin typeface="Noto Sans KR" pitchFamily="34" charset="0"/>
                <a:ea typeface="Noto Sans KR" pitchFamily="34" charset="-122"/>
                <a:cs typeface="Noto Sans KR" pitchFamily="34" charset="-120"/>
              </a:rPr>
              <a:t>가 한 명이라도 있으면 </a:t>
            </a:r>
            <a:r>
              <a:rPr lang="en-US" sz="1725" b="1" dirty="0">
                <a:solidFill>
                  <a:srgbClr val="D97757"/>
                </a:solidFill>
                <a:latin typeface="Noto Sans KR" pitchFamily="34" charset="0"/>
                <a:ea typeface="Noto Sans KR" pitchFamily="34" charset="-122"/>
                <a:cs typeface="Noto Sans KR" pitchFamily="34" charset="-120"/>
              </a:rPr>
              <a:t>정지</a:t>
            </a:r>
            <a:endParaRPr lang="en-US" sz="1725" dirty="0"/>
          </a:p>
        </p:txBody>
      </p:sp>
      <p:sp>
        <p:nvSpPr>
          <p:cNvPr id="20" name="Text 18"/>
          <p:cNvSpPr/>
          <p:nvPr/>
        </p:nvSpPr>
        <p:spPr>
          <a:xfrm>
            <a:off x="10227668" y="5726113"/>
            <a:ext cx="304800" cy="379413"/>
          </a:xfrm>
          <a:prstGeom prst="rect">
            <a:avLst/>
          </a:prstGeom>
          <a:noFill/>
          <a:ln/>
        </p:spPr>
        <p:txBody>
          <a:bodyPr wrap="square" lIns="25400" tIns="25400" rIns="25400" bIns="25400" rtlCol="0" anchor="t">
            <a:normAutofit/>
          </a:bodyPr>
          <a:lstStyle/>
          <a:p>
            <a:pPr marL="0" indent="0" algn="l">
              <a:buNone/>
            </a:pPr>
            <a:r>
              <a:rPr lang="en-US" sz="1800" dirty="0">
                <a:solidFill>
                  <a:srgbClr val="D97757"/>
                </a:solidFill>
                <a:latin typeface="Noto Sans KR" pitchFamily="34" charset="0"/>
                <a:ea typeface="Noto Sans KR" pitchFamily="34" charset="-122"/>
                <a:cs typeface="Noto Sans KR" pitchFamily="34" charset="-120"/>
              </a:rPr>
              <a:t>●</a:t>
            </a:r>
            <a:endParaRPr lang="en-US" sz="1800" dirty="0"/>
          </a:p>
        </p:txBody>
      </p:sp>
      <p:sp>
        <p:nvSpPr>
          <p:cNvPr id="21" name="Text 19"/>
          <p:cNvSpPr/>
          <p:nvPr/>
        </p:nvSpPr>
        <p:spPr>
          <a:xfrm>
            <a:off x="10627718" y="5726113"/>
            <a:ext cx="5139432" cy="379413"/>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725" b="1" dirty="0">
                <a:solidFill>
                  <a:srgbClr val="F0EADB"/>
                </a:solidFill>
                <a:latin typeface="Noto Sans KR" pitchFamily="34" charset="0"/>
                <a:ea typeface="Noto Sans KR" pitchFamily="34" charset="-122"/>
                <a:cs typeface="Noto Sans KR" pitchFamily="34" charset="-120"/>
              </a:rPr>
              <a:t>20 TPS accumulator</a:t>
            </a:r>
            <a:r>
              <a:rPr lang="en-US" sz="1725" dirty="0">
                <a:solidFill>
                  <a:srgbClr val="F0EADB"/>
                </a:solidFill>
                <a:latin typeface="Noto Sans KR" pitchFamily="34" charset="0"/>
                <a:ea typeface="Noto Sans KR" pitchFamily="34" charset="-122"/>
                <a:cs typeface="Noto Sans KR" pitchFamily="34" charset="-120"/>
              </a:rPr>
              <a:t>로 판정·이동·AI를 동시 처리</a:t>
            </a:r>
            <a:endParaRPr lang="en-US" sz="1725" dirty="0"/>
          </a:p>
        </p:txBody>
      </p:sp>
      <p:sp>
        <p:nvSpPr>
          <p:cNvPr id="22" name="Text 20"/>
          <p:cNvSpPr/>
          <p:nvPr/>
        </p:nvSpPr>
        <p:spPr>
          <a:xfrm>
            <a:off x="10227668" y="6315075"/>
            <a:ext cx="304800" cy="368300"/>
          </a:xfrm>
          <a:prstGeom prst="rect">
            <a:avLst/>
          </a:prstGeom>
          <a:noFill/>
          <a:ln/>
        </p:spPr>
        <p:txBody>
          <a:bodyPr wrap="square" lIns="25400" tIns="25400" rIns="25400" bIns="25400" rtlCol="0" anchor="t">
            <a:normAutofit/>
          </a:bodyPr>
          <a:lstStyle/>
          <a:p>
            <a:pPr marL="0" indent="0" algn="l">
              <a:buNone/>
            </a:pPr>
            <a:r>
              <a:rPr lang="en-US" sz="1800" dirty="0">
                <a:solidFill>
                  <a:srgbClr val="D97757"/>
                </a:solidFill>
                <a:latin typeface="Noto Sans KR" pitchFamily="34" charset="0"/>
                <a:ea typeface="Noto Sans KR" pitchFamily="34" charset="-122"/>
                <a:cs typeface="Noto Sans KR" pitchFamily="34" charset="-120"/>
              </a:rPr>
              <a:t>●</a:t>
            </a:r>
            <a:endParaRPr lang="en-US" sz="1800" dirty="0"/>
          </a:p>
        </p:txBody>
      </p:sp>
      <p:sp>
        <p:nvSpPr>
          <p:cNvPr id="23" name="Text 21"/>
          <p:cNvSpPr/>
          <p:nvPr/>
        </p:nvSpPr>
        <p:spPr>
          <a:xfrm>
            <a:off x="10627718" y="6315075"/>
            <a:ext cx="4786580" cy="3683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725" dirty="0">
                <a:solidFill>
                  <a:srgbClr val="F0EADB"/>
                </a:solidFill>
                <a:latin typeface="Noto Sans KR" pitchFamily="34" charset="0"/>
                <a:ea typeface="Noto Sans KR" pitchFamily="34" charset="-122"/>
                <a:cs typeface="Noto Sans KR" pitchFamily="34" charset="-120"/>
              </a:rPr>
              <a:t>렌더 프레임은 </a:t>
            </a:r>
            <a:r>
              <a:rPr lang="en-US" sz="1500" dirty="0">
                <a:solidFill>
                  <a:srgbClr val="79B8FF"/>
                </a:solidFill>
                <a:latin typeface="JetBrains Mono" pitchFamily="34" charset="0"/>
                <a:ea typeface="JetBrains Mono" pitchFamily="34" charset="-122"/>
                <a:cs typeface="JetBrains Mono" pitchFamily="34" charset="-120"/>
              </a:rPr>
              <a:t>Interpolate()</a:t>
            </a:r>
            <a:r>
              <a:rPr lang="en-US" sz="1725" dirty="0">
                <a:solidFill>
                  <a:srgbClr val="F0EADB"/>
                </a:solidFill>
                <a:latin typeface="Noto Sans KR" pitchFamily="34" charset="0"/>
                <a:ea typeface="Noto Sans KR" pitchFamily="34" charset="-122"/>
                <a:cs typeface="Noto Sans KR" pitchFamily="34" charset="-120"/>
              </a:rPr>
              <a:t>로 부드럽게 보간</a:t>
            </a:r>
            <a:endParaRPr lang="en-US" sz="1725" dirty="0"/>
          </a:p>
        </p:txBody>
      </p:sp>
      <p:sp>
        <p:nvSpPr>
          <p:cNvPr id="24" name="Shape 22"/>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26" name="Text 0">
            <a:extLst>
              <a:ext uri="{FF2B5EF4-FFF2-40B4-BE49-F238E27FC236}">
                <a16:creationId xmlns:a16="http://schemas.microsoft.com/office/drawing/2014/main" id="{86A7E34D-A48A-1267-D445-8C7C07435494}"/>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08 / 22</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nvSpPr>
        <p:spPr>
          <a:xfrm>
            <a:off x="7458075" y="609600"/>
            <a:ext cx="3585488"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ARCHITECTURE DECISION RECORDS</a:t>
            </a:r>
            <a:endParaRPr lang="en-US" sz="1350" dirty="0"/>
          </a:p>
        </p:txBody>
      </p:sp>
      <p:sp>
        <p:nvSpPr>
          <p:cNvPr id="4" name="Text 2"/>
          <p:cNvSpPr/>
          <p:nvPr/>
        </p:nvSpPr>
        <p:spPr>
          <a:xfrm>
            <a:off x="16474379" y="609600"/>
            <a:ext cx="1273689"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57300"/>
            <a:ext cx="18105120" cy="628650"/>
          </a:xfrm>
          <a:prstGeom prst="rect">
            <a:avLst/>
          </a:prstGeom>
          <a:noFill/>
          <a:ln/>
        </p:spPr>
        <p:txBody>
          <a:bodyPr wrap="square" lIns="25400" tIns="25400" rIns="25400" bIns="25400" rtlCol="0" anchor="t">
            <a:normAutofit lnSpcReduction="10000"/>
          </a:bodyPr>
          <a:lstStyle/>
          <a:p>
            <a:pPr marL="0" indent="0" algn="l">
              <a:buNone/>
            </a:pPr>
            <a:r>
              <a:rPr lang="en-US" sz="3900" b="1" kern="0" spc="-75" dirty="0">
                <a:solidFill>
                  <a:srgbClr val="F0EADB"/>
                </a:solidFill>
                <a:latin typeface="Noto Sans KR" pitchFamily="34" charset="0"/>
                <a:ea typeface="Noto Sans KR" pitchFamily="34" charset="-122"/>
                <a:cs typeface="Noto Sans KR" pitchFamily="34" charset="-120"/>
              </a:rPr>
              <a:t>ADR 목록 </a:t>
            </a:r>
            <a:r>
              <a:rPr lang="en-US" sz="2250" b="1" kern="0" spc="-75" dirty="0">
                <a:solidFill>
                  <a:srgbClr val="8A9AB8"/>
                </a:solidFill>
                <a:latin typeface="Noto Sans KR" pitchFamily="34" charset="0"/>
                <a:ea typeface="Noto Sans KR" pitchFamily="34" charset="-122"/>
                <a:cs typeface="Noto Sans KR" pitchFamily="34" charset="-120"/>
              </a:rPr>
              <a:t>— 17개 설계 결정</a:t>
            </a:r>
            <a:endParaRPr lang="en-US" sz="3900" dirty="0"/>
          </a:p>
        </p:txBody>
      </p:sp>
      <p:sp>
        <p:nvSpPr>
          <p:cNvPr id="6" name="Shape 4"/>
          <p:cNvSpPr/>
          <p:nvPr/>
        </p:nvSpPr>
        <p:spPr>
          <a:xfrm>
            <a:off x="914400" y="4167188"/>
            <a:ext cx="8039100" cy="9525"/>
          </a:xfrm>
          <a:prstGeom prst="rect">
            <a:avLst/>
          </a:prstGeom>
          <a:solidFill>
            <a:srgbClr val="1A2236"/>
          </a:solidFill>
          <a:ln/>
        </p:spPr>
        <p:txBody>
          <a:bodyPr/>
          <a:lstStyle/>
          <a:p>
            <a:endParaRPr lang="ko-KR" altLang="en-US"/>
          </a:p>
        </p:txBody>
      </p:sp>
      <p:sp>
        <p:nvSpPr>
          <p:cNvPr id="7" name="Text 5"/>
          <p:cNvSpPr/>
          <p:nvPr/>
        </p:nvSpPr>
        <p:spPr>
          <a:xfrm>
            <a:off x="914400" y="384651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ADR-0001</a:t>
            </a:r>
            <a:endParaRPr lang="en-US" sz="1350" dirty="0"/>
          </a:p>
        </p:txBody>
      </p:sp>
      <p:sp>
        <p:nvSpPr>
          <p:cNvPr id="8" name="Text 6"/>
          <p:cNvSpPr/>
          <p:nvPr/>
        </p:nvSpPr>
        <p:spPr>
          <a:xfrm>
            <a:off x="2000250" y="3789363"/>
            <a:ext cx="2255391"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RTwP 전투 방식 채택 </a:t>
            </a:r>
            <a:r>
              <a:rPr lang="en-US" sz="1575" dirty="0">
                <a:solidFill>
                  <a:srgbClr val="E8B84B"/>
                </a:solidFill>
                <a:latin typeface="Noto Sans KR" pitchFamily="34" charset="0"/>
                <a:ea typeface="Noto Sans KR" pitchFamily="34" charset="-122"/>
                <a:cs typeface="Noto Sans KR" pitchFamily="34" charset="-120"/>
              </a:rPr>
              <a:t>★</a:t>
            </a:r>
            <a:endParaRPr lang="en-US" sz="1575" dirty="0"/>
          </a:p>
        </p:txBody>
      </p:sp>
      <p:sp>
        <p:nvSpPr>
          <p:cNvPr id="9" name="Shape 7"/>
          <p:cNvSpPr/>
          <p:nvPr/>
        </p:nvSpPr>
        <p:spPr>
          <a:xfrm>
            <a:off x="9334500" y="4167188"/>
            <a:ext cx="8039100" cy="9525"/>
          </a:xfrm>
          <a:prstGeom prst="rect">
            <a:avLst/>
          </a:prstGeom>
          <a:solidFill>
            <a:srgbClr val="1A2236"/>
          </a:solidFill>
          <a:ln/>
        </p:spPr>
        <p:txBody>
          <a:bodyPr/>
          <a:lstStyle/>
          <a:p>
            <a:endParaRPr lang="ko-KR" altLang="en-US"/>
          </a:p>
        </p:txBody>
      </p:sp>
      <p:sp>
        <p:nvSpPr>
          <p:cNvPr id="10" name="Text 8"/>
          <p:cNvSpPr/>
          <p:nvPr/>
        </p:nvSpPr>
        <p:spPr>
          <a:xfrm>
            <a:off x="9334500" y="384651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ADR-0010</a:t>
            </a:r>
            <a:endParaRPr lang="en-US" sz="1350" dirty="0"/>
          </a:p>
        </p:txBody>
      </p:sp>
      <p:sp>
        <p:nvSpPr>
          <p:cNvPr id="11" name="Text 9"/>
          <p:cNvSpPr/>
          <p:nvPr/>
        </p:nvSpPr>
        <p:spPr>
          <a:xfrm>
            <a:off x="10420350" y="3789363"/>
            <a:ext cx="2667615"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코루틴 → 20 TPS 고정 틱 </a:t>
            </a:r>
            <a:r>
              <a:rPr lang="en-US" sz="1575" dirty="0">
                <a:solidFill>
                  <a:srgbClr val="E8B84B"/>
                </a:solidFill>
                <a:latin typeface="Noto Sans KR" pitchFamily="34" charset="0"/>
                <a:ea typeface="Noto Sans KR" pitchFamily="34" charset="-122"/>
                <a:cs typeface="Noto Sans KR" pitchFamily="34" charset="-120"/>
              </a:rPr>
              <a:t>★</a:t>
            </a:r>
            <a:endParaRPr lang="en-US" sz="1575" dirty="0"/>
          </a:p>
        </p:txBody>
      </p:sp>
      <p:sp>
        <p:nvSpPr>
          <p:cNvPr id="12" name="Shape 10"/>
          <p:cNvSpPr/>
          <p:nvPr/>
        </p:nvSpPr>
        <p:spPr>
          <a:xfrm>
            <a:off x="914400" y="4732338"/>
            <a:ext cx="8039100" cy="9525"/>
          </a:xfrm>
          <a:prstGeom prst="rect">
            <a:avLst/>
          </a:prstGeom>
          <a:solidFill>
            <a:srgbClr val="1A2236"/>
          </a:solidFill>
          <a:ln/>
        </p:spPr>
        <p:txBody>
          <a:bodyPr/>
          <a:lstStyle/>
          <a:p>
            <a:endParaRPr lang="ko-KR" altLang="en-US"/>
          </a:p>
        </p:txBody>
      </p:sp>
      <p:sp>
        <p:nvSpPr>
          <p:cNvPr id="13" name="Text 11"/>
          <p:cNvSpPr/>
          <p:nvPr/>
        </p:nvSpPr>
        <p:spPr>
          <a:xfrm>
            <a:off x="914400" y="441166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ADR-0002</a:t>
            </a:r>
            <a:endParaRPr lang="en-US" sz="1350" dirty="0"/>
          </a:p>
        </p:txBody>
      </p:sp>
      <p:sp>
        <p:nvSpPr>
          <p:cNvPr id="14" name="Text 12"/>
          <p:cNvSpPr/>
          <p:nvPr/>
        </p:nvSpPr>
        <p:spPr>
          <a:xfrm>
            <a:off x="2000250" y="4354513"/>
            <a:ext cx="3256102" cy="330200"/>
          </a:xfrm>
          <a:prstGeom prst="rect">
            <a:avLst/>
          </a:prstGeom>
          <a:noFill/>
          <a:ln/>
        </p:spPr>
        <p:txBody>
          <a:bodyPr wrap="square" lIns="25400" tIns="25400" rIns="25400" bIns="25400" rtlCol="0" anchor="t">
            <a:normAutofit/>
          </a:bodyPr>
          <a:lstStyle/>
          <a:p>
            <a:r>
              <a:rPr lang="en-US" sz="1575" dirty="0">
                <a:solidFill>
                  <a:srgbClr val="F0EADB"/>
                </a:solidFill>
                <a:latin typeface="Noto Sans KR" pitchFamily="34" charset="0"/>
                <a:ea typeface="Noto Sans KR" pitchFamily="34" charset="-122"/>
                <a:cs typeface="Noto Sans KR" pitchFamily="34" charset="-120"/>
              </a:rPr>
              <a:t>ScriptableObject </a:t>
            </a:r>
            <a:r>
              <a:rPr lang="en-US" sz="1575" dirty="0" err="1">
                <a:solidFill>
                  <a:srgbClr val="F0EADB"/>
                </a:solidFill>
                <a:latin typeface="Noto Sans KR" pitchFamily="34" charset="0"/>
                <a:ea typeface="Noto Sans KR" pitchFamily="34" charset="-122"/>
                <a:cs typeface="Noto Sans KR" pitchFamily="34" charset="-120"/>
              </a:rPr>
              <a:t>데이터</a:t>
            </a:r>
            <a:r>
              <a:rPr lang="en-US" sz="1575" dirty="0">
                <a:solidFill>
                  <a:srgbClr val="F0EADB"/>
                </a:solidFill>
                <a:latin typeface="Noto Sans KR" pitchFamily="34" charset="0"/>
                <a:ea typeface="Noto Sans KR" pitchFamily="34" charset="-122"/>
                <a:cs typeface="Noto Sans KR" pitchFamily="34" charset="-120"/>
              </a:rPr>
              <a:t> </a:t>
            </a:r>
            <a:r>
              <a:rPr lang="en-US" sz="1575" dirty="0" err="1">
                <a:solidFill>
                  <a:srgbClr val="F0EADB"/>
                </a:solidFill>
                <a:latin typeface="Noto Sans KR" pitchFamily="34" charset="0"/>
                <a:ea typeface="Noto Sans KR" pitchFamily="34" charset="-122"/>
                <a:cs typeface="Noto Sans KR" pitchFamily="34" charset="-120"/>
              </a:rPr>
              <a:t>아키텍처</a:t>
            </a:r>
            <a:r>
              <a:rPr lang="en-US" altLang="ko-KR" sz="1575" dirty="0">
                <a:solidFill>
                  <a:srgbClr val="E8B84B"/>
                </a:solidFill>
                <a:latin typeface="Noto Sans KR" pitchFamily="34" charset="0"/>
                <a:ea typeface="Noto Sans KR" pitchFamily="34" charset="-122"/>
                <a:cs typeface="Noto Sans KR" pitchFamily="34" charset="-120"/>
              </a:rPr>
              <a:t> ★</a:t>
            </a:r>
            <a:endParaRPr lang="en-US" sz="1575" dirty="0"/>
          </a:p>
        </p:txBody>
      </p:sp>
      <p:sp>
        <p:nvSpPr>
          <p:cNvPr id="15" name="Shape 13"/>
          <p:cNvSpPr/>
          <p:nvPr/>
        </p:nvSpPr>
        <p:spPr>
          <a:xfrm>
            <a:off x="9334500" y="4732338"/>
            <a:ext cx="8039100" cy="9525"/>
          </a:xfrm>
          <a:prstGeom prst="rect">
            <a:avLst/>
          </a:prstGeom>
          <a:solidFill>
            <a:srgbClr val="1A2236"/>
          </a:solidFill>
          <a:ln/>
        </p:spPr>
        <p:txBody>
          <a:bodyPr/>
          <a:lstStyle/>
          <a:p>
            <a:endParaRPr lang="ko-KR" altLang="en-US"/>
          </a:p>
        </p:txBody>
      </p:sp>
      <p:sp>
        <p:nvSpPr>
          <p:cNvPr id="16" name="Text 14"/>
          <p:cNvSpPr/>
          <p:nvPr/>
        </p:nvSpPr>
        <p:spPr>
          <a:xfrm>
            <a:off x="9334500" y="441166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ADR-0011</a:t>
            </a:r>
            <a:endParaRPr lang="en-US" sz="1350" dirty="0"/>
          </a:p>
        </p:txBody>
      </p:sp>
      <p:sp>
        <p:nvSpPr>
          <p:cNvPr id="17" name="Text 15"/>
          <p:cNvSpPr/>
          <p:nvPr/>
        </p:nvSpPr>
        <p:spPr>
          <a:xfrm>
            <a:off x="10420350" y="4354513"/>
            <a:ext cx="3116729"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EventBus.Clear() </a:t>
            </a:r>
            <a:r>
              <a:rPr lang="en-US" sz="1575" dirty="0" err="1">
                <a:solidFill>
                  <a:srgbClr val="F0EADB"/>
                </a:solidFill>
                <a:latin typeface="Noto Sans KR" pitchFamily="34" charset="0"/>
                <a:ea typeface="Noto Sans KR" pitchFamily="34" charset="-122"/>
                <a:cs typeface="Noto Sans KR" pitchFamily="34" charset="-120"/>
              </a:rPr>
              <a:t>재구독</a:t>
            </a:r>
            <a:r>
              <a:rPr lang="en-US" sz="1575" dirty="0">
                <a:solidFill>
                  <a:srgbClr val="F0EADB"/>
                </a:solidFill>
                <a:latin typeface="Noto Sans KR" pitchFamily="34" charset="0"/>
                <a:ea typeface="Noto Sans KR" pitchFamily="34" charset="-122"/>
                <a:cs typeface="Noto Sans KR" pitchFamily="34" charset="-120"/>
              </a:rPr>
              <a:t> </a:t>
            </a:r>
            <a:r>
              <a:rPr lang="en-US" sz="1575" dirty="0" err="1">
                <a:solidFill>
                  <a:srgbClr val="F0EADB"/>
                </a:solidFill>
                <a:latin typeface="Noto Sans KR" pitchFamily="34" charset="0"/>
                <a:ea typeface="Noto Sans KR" pitchFamily="34" charset="-122"/>
                <a:cs typeface="Noto Sans KR" pitchFamily="34" charset="-120"/>
              </a:rPr>
              <a:t>패턴</a:t>
            </a:r>
            <a:endParaRPr lang="en-US" sz="1575" dirty="0"/>
          </a:p>
        </p:txBody>
      </p:sp>
      <p:sp>
        <p:nvSpPr>
          <p:cNvPr id="18" name="Shape 16"/>
          <p:cNvSpPr/>
          <p:nvPr/>
        </p:nvSpPr>
        <p:spPr>
          <a:xfrm>
            <a:off x="914400" y="5297488"/>
            <a:ext cx="8039100" cy="9525"/>
          </a:xfrm>
          <a:prstGeom prst="rect">
            <a:avLst/>
          </a:prstGeom>
          <a:solidFill>
            <a:srgbClr val="1A2236"/>
          </a:solidFill>
          <a:ln/>
        </p:spPr>
        <p:txBody>
          <a:bodyPr/>
          <a:lstStyle/>
          <a:p>
            <a:endParaRPr lang="ko-KR" altLang="en-US"/>
          </a:p>
        </p:txBody>
      </p:sp>
      <p:sp>
        <p:nvSpPr>
          <p:cNvPr id="19" name="Text 17"/>
          <p:cNvSpPr/>
          <p:nvPr/>
        </p:nvSpPr>
        <p:spPr>
          <a:xfrm>
            <a:off x="914400" y="497681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ADR-0004</a:t>
            </a:r>
            <a:endParaRPr lang="en-US" sz="1350" dirty="0"/>
          </a:p>
        </p:txBody>
      </p:sp>
      <p:sp>
        <p:nvSpPr>
          <p:cNvPr id="20" name="Text 18"/>
          <p:cNvSpPr/>
          <p:nvPr/>
        </p:nvSpPr>
        <p:spPr>
          <a:xfrm>
            <a:off x="2000250" y="4919663"/>
            <a:ext cx="2006660"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리플레이 별도 씬 분리</a:t>
            </a:r>
            <a:endParaRPr lang="en-US" sz="1575" dirty="0"/>
          </a:p>
        </p:txBody>
      </p:sp>
      <p:sp>
        <p:nvSpPr>
          <p:cNvPr id="21" name="Shape 19"/>
          <p:cNvSpPr/>
          <p:nvPr/>
        </p:nvSpPr>
        <p:spPr>
          <a:xfrm>
            <a:off x="9334500" y="5297488"/>
            <a:ext cx="8039100" cy="9525"/>
          </a:xfrm>
          <a:prstGeom prst="rect">
            <a:avLst/>
          </a:prstGeom>
          <a:solidFill>
            <a:srgbClr val="1A2236"/>
          </a:solidFill>
          <a:ln/>
        </p:spPr>
        <p:txBody>
          <a:bodyPr/>
          <a:lstStyle/>
          <a:p>
            <a:endParaRPr lang="ko-KR" altLang="en-US"/>
          </a:p>
        </p:txBody>
      </p:sp>
      <p:sp>
        <p:nvSpPr>
          <p:cNvPr id="22" name="Text 20"/>
          <p:cNvSpPr/>
          <p:nvPr/>
        </p:nvSpPr>
        <p:spPr>
          <a:xfrm>
            <a:off x="9334500" y="497681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ADR-0012</a:t>
            </a:r>
            <a:endParaRPr lang="en-US" sz="1350" dirty="0"/>
          </a:p>
        </p:txBody>
      </p:sp>
      <p:sp>
        <p:nvSpPr>
          <p:cNvPr id="23" name="Text 21"/>
          <p:cNvSpPr/>
          <p:nvPr/>
        </p:nvSpPr>
        <p:spPr>
          <a:xfrm>
            <a:off x="10420350" y="4919663"/>
            <a:ext cx="252704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_hadEnemies 플래그 설계</a:t>
            </a:r>
            <a:endParaRPr lang="en-US" sz="1575" dirty="0"/>
          </a:p>
        </p:txBody>
      </p:sp>
      <p:sp>
        <p:nvSpPr>
          <p:cNvPr id="24" name="Shape 22"/>
          <p:cNvSpPr/>
          <p:nvPr/>
        </p:nvSpPr>
        <p:spPr>
          <a:xfrm>
            <a:off x="914400" y="5862638"/>
            <a:ext cx="8039100" cy="9525"/>
          </a:xfrm>
          <a:prstGeom prst="rect">
            <a:avLst/>
          </a:prstGeom>
          <a:solidFill>
            <a:srgbClr val="1A2236"/>
          </a:solidFill>
          <a:ln/>
        </p:spPr>
        <p:txBody>
          <a:bodyPr/>
          <a:lstStyle/>
          <a:p>
            <a:endParaRPr lang="ko-KR" altLang="en-US"/>
          </a:p>
        </p:txBody>
      </p:sp>
      <p:sp>
        <p:nvSpPr>
          <p:cNvPr id="25" name="Text 23"/>
          <p:cNvSpPr/>
          <p:nvPr/>
        </p:nvSpPr>
        <p:spPr>
          <a:xfrm>
            <a:off x="914400" y="554196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ADR-0006</a:t>
            </a:r>
            <a:endParaRPr lang="en-US" sz="1350" dirty="0"/>
          </a:p>
        </p:txBody>
      </p:sp>
      <p:sp>
        <p:nvSpPr>
          <p:cNvPr id="26" name="Text 24"/>
          <p:cNvSpPr/>
          <p:nvPr/>
        </p:nvSpPr>
        <p:spPr>
          <a:xfrm>
            <a:off x="2000250" y="5484813"/>
            <a:ext cx="277348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StageConfig + WaveRunner</a:t>
            </a:r>
            <a:endParaRPr lang="en-US" sz="1575" dirty="0"/>
          </a:p>
        </p:txBody>
      </p:sp>
      <p:sp>
        <p:nvSpPr>
          <p:cNvPr id="27" name="Shape 25"/>
          <p:cNvSpPr/>
          <p:nvPr/>
        </p:nvSpPr>
        <p:spPr>
          <a:xfrm>
            <a:off x="9334500" y="5862638"/>
            <a:ext cx="8039100" cy="9525"/>
          </a:xfrm>
          <a:prstGeom prst="rect">
            <a:avLst/>
          </a:prstGeom>
          <a:solidFill>
            <a:srgbClr val="1A2236"/>
          </a:solidFill>
          <a:ln/>
        </p:spPr>
        <p:txBody>
          <a:bodyPr/>
          <a:lstStyle/>
          <a:p>
            <a:endParaRPr lang="ko-KR" altLang="en-US"/>
          </a:p>
        </p:txBody>
      </p:sp>
      <p:sp>
        <p:nvSpPr>
          <p:cNvPr id="28" name="Text 26"/>
          <p:cNvSpPr/>
          <p:nvPr/>
        </p:nvSpPr>
        <p:spPr>
          <a:xfrm>
            <a:off x="9334500" y="554196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ADR-0013</a:t>
            </a:r>
            <a:endParaRPr lang="en-US" sz="1350" dirty="0"/>
          </a:p>
        </p:txBody>
      </p:sp>
      <p:sp>
        <p:nvSpPr>
          <p:cNvPr id="29" name="Text 27"/>
          <p:cNvSpPr/>
          <p:nvPr/>
        </p:nvSpPr>
        <p:spPr>
          <a:xfrm>
            <a:off x="10420350" y="5484813"/>
            <a:ext cx="2411571"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투사체 틱 기반 시뮬레이션</a:t>
            </a:r>
            <a:endParaRPr lang="en-US" sz="1575" dirty="0"/>
          </a:p>
        </p:txBody>
      </p:sp>
      <p:sp>
        <p:nvSpPr>
          <p:cNvPr id="30" name="Shape 28"/>
          <p:cNvSpPr/>
          <p:nvPr/>
        </p:nvSpPr>
        <p:spPr>
          <a:xfrm>
            <a:off x="914400" y="6427788"/>
            <a:ext cx="8039100" cy="9525"/>
          </a:xfrm>
          <a:prstGeom prst="rect">
            <a:avLst/>
          </a:prstGeom>
          <a:solidFill>
            <a:srgbClr val="1A2236"/>
          </a:solidFill>
          <a:ln/>
        </p:spPr>
        <p:txBody>
          <a:bodyPr/>
          <a:lstStyle/>
          <a:p>
            <a:endParaRPr lang="ko-KR" altLang="en-US"/>
          </a:p>
        </p:txBody>
      </p:sp>
      <p:sp>
        <p:nvSpPr>
          <p:cNvPr id="31" name="Text 29"/>
          <p:cNvSpPr/>
          <p:nvPr/>
        </p:nvSpPr>
        <p:spPr>
          <a:xfrm>
            <a:off x="914400" y="610711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ADR-0007</a:t>
            </a:r>
            <a:endParaRPr lang="en-US" sz="1350" dirty="0"/>
          </a:p>
        </p:txBody>
      </p:sp>
      <p:sp>
        <p:nvSpPr>
          <p:cNvPr id="32" name="Text 30"/>
          <p:cNvSpPr/>
          <p:nvPr/>
        </p:nvSpPr>
        <p:spPr>
          <a:xfrm>
            <a:off x="2000250" y="6049963"/>
            <a:ext cx="197588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ChapterHub 별도 씬</a:t>
            </a:r>
            <a:endParaRPr lang="en-US" sz="1575" dirty="0"/>
          </a:p>
        </p:txBody>
      </p:sp>
      <p:sp>
        <p:nvSpPr>
          <p:cNvPr id="33" name="Shape 31"/>
          <p:cNvSpPr/>
          <p:nvPr/>
        </p:nvSpPr>
        <p:spPr>
          <a:xfrm>
            <a:off x="9334500" y="6427788"/>
            <a:ext cx="8039100" cy="9525"/>
          </a:xfrm>
          <a:prstGeom prst="rect">
            <a:avLst/>
          </a:prstGeom>
          <a:solidFill>
            <a:srgbClr val="1A2236"/>
          </a:solidFill>
          <a:ln/>
        </p:spPr>
        <p:txBody>
          <a:bodyPr/>
          <a:lstStyle/>
          <a:p>
            <a:endParaRPr lang="ko-KR" altLang="en-US"/>
          </a:p>
        </p:txBody>
      </p:sp>
      <p:sp>
        <p:nvSpPr>
          <p:cNvPr id="34" name="Text 32"/>
          <p:cNvSpPr/>
          <p:nvPr/>
        </p:nvSpPr>
        <p:spPr>
          <a:xfrm>
            <a:off x="9334500" y="610711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ADR-0014</a:t>
            </a:r>
            <a:endParaRPr lang="en-US" sz="1350" dirty="0"/>
          </a:p>
        </p:txBody>
      </p:sp>
      <p:sp>
        <p:nvSpPr>
          <p:cNvPr id="35" name="Text 33"/>
          <p:cNvSpPr/>
          <p:nvPr/>
        </p:nvSpPr>
        <p:spPr>
          <a:xfrm>
            <a:off x="10420350" y="6049963"/>
            <a:ext cx="2309852"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Sorting Layer 계층 정리</a:t>
            </a:r>
            <a:endParaRPr lang="en-US" sz="1575" dirty="0"/>
          </a:p>
        </p:txBody>
      </p:sp>
      <p:sp>
        <p:nvSpPr>
          <p:cNvPr id="36" name="Shape 34"/>
          <p:cNvSpPr/>
          <p:nvPr/>
        </p:nvSpPr>
        <p:spPr>
          <a:xfrm>
            <a:off x="914400" y="6992938"/>
            <a:ext cx="8039100" cy="9525"/>
          </a:xfrm>
          <a:prstGeom prst="rect">
            <a:avLst/>
          </a:prstGeom>
          <a:solidFill>
            <a:srgbClr val="1A2236"/>
          </a:solidFill>
          <a:ln/>
        </p:spPr>
        <p:txBody>
          <a:bodyPr/>
          <a:lstStyle/>
          <a:p>
            <a:endParaRPr lang="ko-KR" altLang="en-US"/>
          </a:p>
        </p:txBody>
      </p:sp>
      <p:sp>
        <p:nvSpPr>
          <p:cNvPr id="37" name="Text 35"/>
          <p:cNvSpPr/>
          <p:nvPr/>
        </p:nvSpPr>
        <p:spPr>
          <a:xfrm>
            <a:off x="914400" y="667226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ADR-0008</a:t>
            </a:r>
            <a:endParaRPr lang="en-US" sz="1350" dirty="0"/>
          </a:p>
        </p:txBody>
      </p:sp>
      <p:sp>
        <p:nvSpPr>
          <p:cNvPr id="38" name="Text 36"/>
          <p:cNvSpPr/>
          <p:nvPr/>
        </p:nvSpPr>
        <p:spPr>
          <a:xfrm>
            <a:off x="2000250" y="6615113"/>
            <a:ext cx="3212009"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StageRunner.Update() 승패 폴링</a:t>
            </a:r>
            <a:endParaRPr lang="en-US" sz="1575" dirty="0"/>
          </a:p>
        </p:txBody>
      </p:sp>
      <p:sp>
        <p:nvSpPr>
          <p:cNvPr id="39" name="Shape 37"/>
          <p:cNvSpPr/>
          <p:nvPr/>
        </p:nvSpPr>
        <p:spPr>
          <a:xfrm>
            <a:off x="9334500" y="6992938"/>
            <a:ext cx="8039100" cy="9525"/>
          </a:xfrm>
          <a:prstGeom prst="rect">
            <a:avLst/>
          </a:prstGeom>
          <a:solidFill>
            <a:srgbClr val="1A2236"/>
          </a:solidFill>
          <a:ln/>
        </p:spPr>
        <p:txBody>
          <a:bodyPr/>
          <a:lstStyle/>
          <a:p>
            <a:endParaRPr lang="ko-KR" altLang="en-US"/>
          </a:p>
        </p:txBody>
      </p:sp>
      <p:sp>
        <p:nvSpPr>
          <p:cNvPr id="40" name="Text 38"/>
          <p:cNvSpPr/>
          <p:nvPr/>
        </p:nvSpPr>
        <p:spPr>
          <a:xfrm>
            <a:off x="9334500" y="667226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ADR-0015</a:t>
            </a:r>
            <a:endParaRPr lang="en-US" sz="1350" dirty="0"/>
          </a:p>
        </p:txBody>
      </p:sp>
      <p:sp>
        <p:nvSpPr>
          <p:cNvPr id="41" name="Text 39"/>
          <p:cNvSpPr/>
          <p:nvPr/>
        </p:nvSpPr>
        <p:spPr>
          <a:xfrm>
            <a:off x="10420350" y="6615113"/>
            <a:ext cx="1742648"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스킬 트리 레이아웃</a:t>
            </a:r>
            <a:endParaRPr lang="en-US" sz="1575" dirty="0"/>
          </a:p>
        </p:txBody>
      </p:sp>
      <p:sp>
        <p:nvSpPr>
          <p:cNvPr id="42" name="Shape 40"/>
          <p:cNvSpPr/>
          <p:nvPr/>
        </p:nvSpPr>
        <p:spPr>
          <a:xfrm>
            <a:off x="914400" y="7558088"/>
            <a:ext cx="8039100" cy="9525"/>
          </a:xfrm>
          <a:prstGeom prst="rect">
            <a:avLst/>
          </a:prstGeom>
          <a:solidFill>
            <a:srgbClr val="1A2236"/>
          </a:solidFill>
          <a:ln/>
        </p:spPr>
        <p:txBody>
          <a:bodyPr/>
          <a:lstStyle/>
          <a:p>
            <a:endParaRPr lang="ko-KR" altLang="en-US"/>
          </a:p>
        </p:txBody>
      </p:sp>
      <p:sp>
        <p:nvSpPr>
          <p:cNvPr id="43" name="Text 41"/>
          <p:cNvSpPr/>
          <p:nvPr/>
        </p:nvSpPr>
        <p:spPr>
          <a:xfrm>
            <a:off x="914400" y="723741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ADR-0009</a:t>
            </a:r>
            <a:endParaRPr lang="en-US" sz="1350" dirty="0"/>
          </a:p>
        </p:txBody>
      </p:sp>
      <p:sp>
        <p:nvSpPr>
          <p:cNvPr id="44" name="Text 42"/>
          <p:cNvSpPr/>
          <p:nvPr/>
        </p:nvSpPr>
        <p:spPr>
          <a:xfrm>
            <a:off x="2000250" y="7180263"/>
            <a:ext cx="2984887"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Modern GDR + Cainos UI 방향</a:t>
            </a:r>
            <a:endParaRPr lang="en-US" sz="1575" dirty="0"/>
          </a:p>
        </p:txBody>
      </p:sp>
      <p:sp>
        <p:nvSpPr>
          <p:cNvPr id="45" name="Shape 43"/>
          <p:cNvSpPr/>
          <p:nvPr/>
        </p:nvSpPr>
        <p:spPr>
          <a:xfrm>
            <a:off x="9334500" y="7558088"/>
            <a:ext cx="8039100" cy="9525"/>
          </a:xfrm>
          <a:prstGeom prst="rect">
            <a:avLst/>
          </a:prstGeom>
          <a:solidFill>
            <a:srgbClr val="1A2236"/>
          </a:solidFill>
          <a:ln/>
        </p:spPr>
        <p:txBody>
          <a:bodyPr/>
          <a:lstStyle/>
          <a:p>
            <a:endParaRPr lang="ko-KR" altLang="en-US"/>
          </a:p>
        </p:txBody>
      </p:sp>
      <p:sp>
        <p:nvSpPr>
          <p:cNvPr id="46" name="Text 44"/>
          <p:cNvSpPr/>
          <p:nvPr/>
        </p:nvSpPr>
        <p:spPr>
          <a:xfrm>
            <a:off x="9334500" y="7237413"/>
            <a:ext cx="99060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ADR-0016</a:t>
            </a:r>
            <a:endParaRPr lang="en-US" sz="1350" dirty="0"/>
          </a:p>
        </p:txBody>
      </p:sp>
      <p:sp>
        <p:nvSpPr>
          <p:cNvPr id="47" name="Text 45"/>
          <p:cNvSpPr/>
          <p:nvPr/>
        </p:nvSpPr>
        <p:spPr>
          <a:xfrm>
            <a:off x="10420350" y="7180263"/>
            <a:ext cx="1742648" cy="33020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Noto Sans KR" pitchFamily="34" charset="0"/>
                <a:ea typeface="Noto Sans KR" pitchFamily="34" charset="-122"/>
                <a:cs typeface="Noto Sans KR" pitchFamily="34" charset="-120"/>
              </a:rPr>
              <a:t>이펙트 레이어 분리</a:t>
            </a:r>
            <a:endParaRPr lang="en-US" sz="1575" dirty="0"/>
          </a:p>
        </p:txBody>
      </p:sp>
      <p:sp>
        <p:nvSpPr>
          <p:cNvPr id="50" name="Shape 48"/>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54" name="Text 0">
            <a:extLst>
              <a:ext uri="{FF2B5EF4-FFF2-40B4-BE49-F238E27FC236}">
                <a16:creationId xmlns:a16="http://schemas.microsoft.com/office/drawing/2014/main" id="{2C775E30-8294-D5E4-682C-7932031C282B}"/>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09 / 22</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nvSpPr>
        <p:spPr>
          <a:xfrm>
            <a:off x="7558088" y="609600"/>
            <a:ext cx="3268980"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ADR DEEP-DIVE · 질의응답 2-1</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lnSpcReduction="10000"/>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19200"/>
            <a:ext cx="18105120" cy="584200"/>
          </a:xfrm>
          <a:prstGeom prst="rect">
            <a:avLst/>
          </a:prstGeom>
          <a:noFill/>
          <a:ln/>
        </p:spPr>
        <p:txBody>
          <a:bodyPr wrap="square" lIns="25400" tIns="25400" rIns="25400" bIns="25400" rtlCol="0" anchor="t">
            <a:normAutofit lnSpcReduction="10000"/>
          </a:bodyPr>
          <a:lstStyle/>
          <a:p>
            <a:pPr marL="0" indent="0" algn="l">
              <a:buNone/>
            </a:pPr>
            <a:r>
              <a:rPr lang="en-US" sz="3600" b="1" kern="0" spc="-75" dirty="0">
                <a:solidFill>
                  <a:srgbClr val="F0EADB"/>
                </a:solidFill>
                <a:latin typeface="Noto Sans KR" pitchFamily="34" charset="0"/>
                <a:ea typeface="Noto Sans KR" pitchFamily="34" charset="-122"/>
                <a:cs typeface="Noto Sans KR" pitchFamily="34" charset="-120"/>
              </a:rPr>
              <a:t>ADR </a:t>
            </a:r>
            <a:r>
              <a:rPr lang="en-US" sz="3600" b="1" kern="0" spc="-75" dirty="0" err="1">
                <a:solidFill>
                  <a:srgbClr val="F0EADB"/>
                </a:solidFill>
                <a:latin typeface="Noto Sans KR" pitchFamily="34" charset="0"/>
                <a:ea typeface="Noto Sans KR" pitchFamily="34" charset="-122"/>
                <a:cs typeface="Noto Sans KR" pitchFamily="34" charset="-120"/>
              </a:rPr>
              <a:t>심화</a:t>
            </a:r>
            <a:r>
              <a:rPr lang="en-US" sz="3600" b="1" kern="0" spc="-75" dirty="0">
                <a:solidFill>
                  <a:srgbClr val="F0EADB"/>
                </a:solidFill>
                <a:latin typeface="Noto Sans KR" pitchFamily="34" charset="0"/>
                <a:ea typeface="Noto Sans KR" pitchFamily="34" charset="-122"/>
                <a:cs typeface="Noto Sans KR" pitchFamily="34" charset="-120"/>
              </a:rPr>
              <a:t> </a:t>
            </a:r>
            <a:endParaRPr lang="en-US" sz="3600" dirty="0"/>
          </a:p>
        </p:txBody>
      </p:sp>
      <p:sp>
        <p:nvSpPr>
          <p:cNvPr id="6" name="Shape 4"/>
          <p:cNvSpPr/>
          <p:nvPr/>
        </p:nvSpPr>
        <p:spPr>
          <a:xfrm>
            <a:off x="914400" y="3409752"/>
            <a:ext cx="16459200" cy="1453158"/>
          </a:xfrm>
          <a:prstGeom prst="roundRect">
            <a:avLst>
              <a:gd name="adj" fmla="val 5244"/>
            </a:avLst>
          </a:prstGeom>
          <a:solidFill>
            <a:srgbClr val="1A2236"/>
          </a:solidFill>
          <a:ln/>
        </p:spPr>
        <p:txBody>
          <a:bodyPr/>
          <a:lstStyle/>
          <a:p>
            <a:endParaRPr lang="ko-KR" altLang="en-US"/>
          </a:p>
        </p:txBody>
      </p:sp>
      <p:sp>
        <p:nvSpPr>
          <p:cNvPr id="7" name="Text 5"/>
          <p:cNvSpPr/>
          <p:nvPr/>
        </p:nvSpPr>
        <p:spPr>
          <a:xfrm>
            <a:off x="1219200" y="3689152"/>
            <a:ext cx="89922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ADR-0001</a:t>
            </a:r>
            <a:endParaRPr lang="en-US" sz="1350" dirty="0"/>
          </a:p>
        </p:txBody>
      </p:sp>
      <p:sp>
        <p:nvSpPr>
          <p:cNvPr id="8" name="Text 6"/>
          <p:cNvSpPr/>
          <p:nvPr/>
        </p:nvSpPr>
        <p:spPr>
          <a:xfrm>
            <a:off x="2194620" y="3657402"/>
            <a:ext cx="2056755"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RTwP 전투 방식 채택</a:t>
            </a:r>
            <a:endParaRPr lang="en-US" sz="1725" dirty="0"/>
          </a:p>
        </p:txBody>
      </p:sp>
      <p:sp>
        <p:nvSpPr>
          <p:cNvPr id="9" name="Text 7"/>
          <p:cNvSpPr/>
          <p:nvPr/>
        </p:nvSpPr>
        <p:spPr>
          <a:xfrm>
            <a:off x="1219200" y="4076502"/>
            <a:ext cx="304800"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E8B84B"/>
                </a:solidFill>
                <a:latin typeface="Noto Sans KR" pitchFamily="34" charset="0"/>
                <a:ea typeface="Noto Sans KR" pitchFamily="34" charset="-122"/>
                <a:cs typeface="Noto Sans KR" pitchFamily="34" charset="-120"/>
              </a:rPr>
              <a:t>Q</a:t>
            </a:r>
            <a:endParaRPr lang="en-US" sz="1275" dirty="0"/>
          </a:p>
        </p:txBody>
      </p:sp>
      <p:sp>
        <p:nvSpPr>
          <p:cNvPr id="10" name="Text 8"/>
          <p:cNvSpPr/>
          <p:nvPr/>
        </p:nvSpPr>
        <p:spPr>
          <a:xfrm>
            <a:off x="1581150" y="4032052"/>
            <a:ext cx="2528133" cy="28575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Noto Sans KR" pitchFamily="34" charset="0"/>
                <a:ea typeface="Noto Sans KR" pitchFamily="34" charset="-122"/>
                <a:cs typeface="Noto Sans KR" pitchFamily="34" charset="-120"/>
              </a:rPr>
              <a:t>왜 턴제나 액션 대신 RTwP인가?</a:t>
            </a:r>
            <a:endParaRPr lang="en-US" sz="1350" dirty="0"/>
          </a:p>
        </p:txBody>
      </p:sp>
      <p:sp>
        <p:nvSpPr>
          <p:cNvPr id="11" name="Text 9"/>
          <p:cNvSpPr/>
          <p:nvPr/>
        </p:nvSpPr>
        <p:spPr>
          <a:xfrm>
            <a:off x="1219200" y="4387652"/>
            <a:ext cx="304800"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5BC8A8"/>
                </a:solidFill>
                <a:latin typeface="Noto Sans KR" pitchFamily="34" charset="0"/>
                <a:ea typeface="Noto Sans KR" pitchFamily="34" charset="-122"/>
                <a:cs typeface="Noto Sans KR" pitchFamily="34" charset="-120"/>
              </a:rPr>
              <a:t>A</a:t>
            </a:r>
            <a:endParaRPr lang="en-US" sz="1275" dirty="0"/>
          </a:p>
        </p:txBody>
      </p:sp>
      <p:sp>
        <p:nvSpPr>
          <p:cNvPr id="12" name="Text 10"/>
          <p:cNvSpPr/>
          <p:nvPr/>
        </p:nvSpPr>
        <p:spPr>
          <a:xfrm>
            <a:off x="1581150" y="4336852"/>
            <a:ext cx="11496973" cy="316508"/>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350" dirty="0">
                <a:solidFill>
                  <a:srgbClr val="F0EADB"/>
                </a:solidFill>
                <a:latin typeface="Noto Sans KR" pitchFamily="34" charset="0"/>
                <a:ea typeface="Noto Sans KR" pitchFamily="34" charset="-122"/>
                <a:cs typeface="Noto Sans KR" pitchFamily="34" charset="-120"/>
              </a:rPr>
              <a:t>전술적 포지셔닝(배후 +30%·측면 +15%)과 실시간 긴장을 동시에. 스페이스바가 아니라 </a:t>
            </a:r>
            <a:r>
              <a:rPr lang="en-US" sz="1350" b="1" dirty="0">
                <a:solidFill>
                  <a:srgbClr val="F0EADB"/>
                </a:solidFill>
                <a:latin typeface="Noto Sans KR" pitchFamily="34" charset="0"/>
                <a:ea typeface="Noto Sans KR" pitchFamily="34" charset="-122"/>
                <a:cs typeface="Noto Sans KR" pitchFamily="34" charset="-120"/>
              </a:rPr>
              <a:t>파티원이 명령 대기가 되면 자동 정지 </a:t>
            </a:r>
            <a:r>
              <a:rPr lang="en-US" sz="1350" dirty="0">
                <a:solidFill>
                  <a:srgbClr val="F0EADB"/>
                </a:solidFill>
                <a:latin typeface="Noto Sans KR" pitchFamily="34" charset="0"/>
                <a:ea typeface="Noto Sans KR" pitchFamily="34" charset="-122"/>
                <a:cs typeface="Noto Sans KR" pitchFamily="34" charset="-120"/>
              </a:rPr>
              <a:t>— 선딜·후딜 설계가 흐름을 결정.</a:t>
            </a:r>
            <a:endParaRPr lang="en-US" sz="1350" dirty="0"/>
          </a:p>
        </p:txBody>
      </p:sp>
      <p:sp>
        <p:nvSpPr>
          <p:cNvPr id="13" name="Shape 11"/>
          <p:cNvSpPr/>
          <p:nvPr/>
        </p:nvSpPr>
        <p:spPr>
          <a:xfrm>
            <a:off x="914400" y="5053410"/>
            <a:ext cx="16459200" cy="1440656"/>
          </a:xfrm>
          <a:prstGeom prst="roundRect">
            <a:avLst>
              <a:gd name="adj" fmla="val 5289"/>
            </a:avLst>
          </a:prstGeom>
          <a:solidFill>
            <a:srgbClr val="1A2236"/>
          </a:solidFill>
          <a:ln/>
        </p:spPr>
        <p:txBody>
          <a:bodyPr/>
          <a:lstStyle/>
          <a:p>
            <a:endParaRPr lang="ko-KR" altLang="en-US"/>
          </a:p>
        </p:txBody>
      </p:sp>
      <p:sp>
        <p:nvSpPr>
          <p:cNvPr id="14" name="Text 12"/>
          <p:cNvSpPr/>
          <p:nvPr/>
        </p:nvSpPr>
        <p:spPr>
          <a:xfrm>
            <a:off x="1219200" y="5332809"/>
            <a:ext cx="89922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ADR-0010</a:t>
            </a:r>
            <a:endParaRPr lang="en-US" sz="1350" dirty="0"/>
          </a:p>
        </p:txBody>
      </p:sp>
      <p:sp>
        <p:nvSpPr>
          <p:cNvPr id="15" name="Text 13"/>
          <p:cNvSpPr/>
          <p:nvPr/>
        </p:nvSpPr>
        <p:spPr>
          <a:xfrm>
            <a:off x="2194620" y="5301060"/>
            <a:ext cx="2513181"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코루틴 → 20 TPS 고정 틱</a:t>
            </a:r>
            <a:endParaRPr lang="en-US" sz="1725" dirty="0"/>
          </a:p>
        </p:txBody>
      </p:sp>
      <p:sp>
        <p:nvSpPr>
          <p:cNvPr id="16" name="Text 14"/>
          <p:cNvSpPr/>
          <p:nvPr/>
        </p:nvSpPr>
        <p:spPr>
          <a:xfrm>
            <a:off x="1219200" y="5720160"/>
            <a:ext cx="304800"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E8B84B"/>
                </a:solidFill>
                <a:latin typeface="Noto Sans KR" pitchFamily="34" charset="0"/>
                <a:ea typeface="Noto Sans KR" pitchFamily="34" charset="-122"/>
                <a:cs typeface="Noto Sans KR" pitchFamily="34" charset="-120"/>
              </a:rPr>
              <a:t>Q</a:t>
            </a:r>
            <a:endParaRPr lang="en-US" sz="1275" dirty="0"/>
          </a:p>
        </p:txBody>
      </p:sp>
      <p:sp>
        <p:nvSpPr>
          <p:cNvPr id="17" name="Text 15"/>
          <p:cNvSpPr/>
          <p:nvPr/>
        </p:nvSpPr>
        <p:spPr>
          <a:xfrm>
            <a:off x="1581150" y="5675709"/>
            <a:ext cx="2382976" cy="28575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Noto Sans KR" pitchFamily="34" charset="0"/>
                <a:ea typeface="Noto Sans KR" pitchFamily="34" charset="-122"/>
                <a:cs typeface="Noto Sans KR" pitchFamily="34" charset="-120"/>
              </a:rPr>
              <a:t>왜 직접 틱 시스템을 만들었나?</a:t>
            </a:r>
            <a:endParaRPr lang="en-US" sz="1350" dirty="0"/>
          </a:p>
        </p:txBody>
      </p:sp>
      <p:sp>
        <p:nvSpPr>
          <p:cNvPr id="18" name="Text 16"/>
          <p:cNvSpPr/>
          <p:nvPr/>
        </p:nvSpPr>
        <p:spPr>
          <a:xfrm>
            <a:off x="1219200" y="6031310"/>
            <a:ext cx="304800"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5BC8A8"/>
                </a:solidFill>
                <a:latin typeface="Noto Sans KR" pitchFamily="34" charset="0"/>
                <a:ea typeface="Noto Sans KR" pitchFamily="34" charset="-122"/>
                <a:cs typeface="Noto Sans KR" pitchFamily="34" charset="-120"/>
              </a:rPr>
              <a:t>A</a:t>
            </a:r>
            <a:endParaRPr lang="en-US" sz="1275" dirty="0"/>
          </a:p>
        </p:txBody>
      </p:sp>
      <p:sp>
        <p:nvSpPr>
          <p:cNvPr id="19" name="Text 17"/>
          <p:cNvSpPr/>
          <p:nvPr/>
        </p:nvSpPr>
        <p:spPr>
          <a:xfrm>
            <a:off x="1581150" y="5980509"/>
            <a:ext cx="11592699" cy="304006"/>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350" dirty="0">
                <a:solidFill>
                  <a:srgbClr val="F0EADB"/>
                </a:solidFill>
                <a:latin typeface="Noto Sans KR" pitchFamily="34" charset="0"/>
                <a:ea typeface="Noto Sans KR" pitchFamily="34" charset="-122"/>
                <a:cs typeface="Noto Sans KR" pitchFamily="34" charset="-120"/>
              </a:rPr>
              <a:t>WaitForSeconds는 timeScale 의존인데 RTwP는 </a:t>
            </a:r>
            <a:r>
              <a:rPr lang="en-US" sz="1125" dirty="0">
                <a:solidFill>
                  <a:srgbClr val="79B8FF"/>
                </a:solidFill>
                <a:latin typeface="JetBrains Mono" pitchFamily="34" charset="0"/>
                <a:ea typeface="JetBrains Mono" pitchFamily="34" charset="-122"/>
                <a:cs typeface="JetBrains Mono" pitchFamily="34" charset="-120"/>
              </a:rPr>
              <a:t>IsPaused </a:t>
            </a:r>
            <a:r>
              <a:rPr lang="en-US" sz="1350" dirty="0">
                <a:solidFill>
                  <a:srgbClr val="F0EADB"/>
                </a:solidFill>
                <a:latin typeface="Noto Sans KR" pitchFamily="34" charset="0"/>
                <a:ea typeface="Noto Sans KR" pitchFamily="34" charset="-122"/>
                <a:cs typeface="Noto Sans KR" pitchFamily="34" charset="-120"/>
              </a:rPr>
              <a:t>플래그로 제어 → 불일치. 20 TPS accumulator로 전환하니 정지·재개가 완벽 동기화.</a:t>
            </a:r>
            <a:endParaRPr lang="en-US" sz="1350" dirty="0"/>
          </a:p>
        </p:txBody>
      </p:sp>
      <p:sp>
        <p:nvSpPr>
          <p:cNvPr id="20" name="Shape 18"/>
          <p:cNvSpPr/>
          <p:nvPr/>
        </p:nvSpPr>
        <p:spPr>
          <a:xfrm>
            <a:off x="914400" y="6684566"/>
            <a:ext cx="16459200" cy="1453158"/>
          </a:xfrm>
          <a:prstGeom prst="roundRect">
            <a:avLst>
              <a:gd name="adj" fmla="val 5244"/>
            </a:avLst>
          </a:prstGeom>
          <a:solidFill>
            <a:srgbClr val="1A2236"/>
          </a:solidFill>
          <a:ln/>
        </p:spPr>
        <p:txBody>
          <a:bodyPr/>
          <a:lstStyle/>
          <a:p>
            <a:endParaRPr lang="ko-KR" altLang="en-US"/>
          </a:p>
        </p:txBody>
      </p:sp>
      <p:sp>
        <p:nvSpPr>
          <p:cNvPr id="21" name="Text 19"/>
          <p:cNvSpPr/>
          <p:nvPr/>
        </p:nvSpPr>
        <p:spPr>
          <a:xfrm>
            <a:off x="1219200" y="6963966"/>
            <a:ext cx="89922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D97757"/>
                </a:solidFill>
                <a:latin typeface="JetBrains Mono" pitchFamily="34" charset="0"/>
                <a:ea typeface="JetBrains Mono" pitchFamily="34" charset="-122"/>
                <a:cs typeface="JetBrains Mono" pitchFamily="34" charset="-120"/>
              </a:rPr>
              <a:t>ADR-0002</a:t>
            </a:r>
            <a:endParaRPr lang="en-US" sz="1350" dirty="0"/>
          </a:p>
        </p:txBody>
      </p:sp>
      <p:sp>
        <p:nvSpPr>
          <p:cNvPr id="22" name="Text 20"/>
          <p:cNvSpPr/>
          <p:nvPr/>
        </p:nvSpPr>
        <p:spPr>
          <a:xfrm>
            <a:off x="2194620" y="6932216"/>
            <a:ext cx="3484315"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F0EADB"/>
                </a:solidFill>
                <a:latin typeface="Noto Sans KR" pitchFamily="34" charset="0"/>
                <a:ea typeface="Noto Sans KR" pitchFamily="34" charset="-122"/>
                <a:cs typeface="Noto Sans KR" pitchFamily="34" charset="-120"/>
              </a:rPr>
              <a:t>ScriptableObject 데이터 아키텍처</a:t>
            </a:r>
            <a:endParaRPr lang="en-US" sz="1725" dirty="0"/>
          </a:p>
        </p:txBody>
      </p:sp>
      <p:sp>
        <p:nvSpPr>
          <p:cNvPr id="23" name="Text 21"/>
          <p:cNvSpPr/>
          <p:nvPr/>
        </p:nvSpPr>
        <p:spPr>
          <a:xfrm>
            <a:off x="1219200" y="7351316"/>
            <a:ext cx="304800"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E8B84B"/>
                </a:solidFill>
                <a:latin typeface="Noto Sans KR" pitchFamily="34" charset="0"/>
                <a:ea typeface="Noto Sans KR" pitchFamily="34" charset="-122"/>
                <a:cs typeface="Noto Sans KR" pitchFamily="34" charset="-120"/>
              </a:rPr>
              <a:t>Q</a:t>
            </a:r>
            <a:endParaRPr lang="en-US" sz="1275" dirty="0"/>
          </a:p>
        </p:txBody>
      </p:sp>
      <p:sp>
        <p:nvSpPr>
          <p:cNvPr id="24" name="Text 22"/>
          <p:cNvSpPr/>
          <p:nvPr/>
        </p:nvSpPr>
        <p:spPr>
          <a:xfrm>
            <a:off x="1581150" y="7306866"/>
            <a:ext cx="2235418" cy="28575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Noto Sans KR" pitchFamily="34" charset="0"/>
                <a:ea typeface="Noto Sans KR" pitchFamily="34" charset="-122"/>
                <a:cs typeface="Noto Sans KR" pitchFamily="34" charset="-120"/>
              </a:rPr>
              <a:t>왜 데이터를 SO로 관리하나?</a:t>
            </a:r>
            <a:endParaRPr lang="en-US" sz="1350" dirty="0"/>
          </a:p>
        </p:txBody>
      </p:sp>
      <p:sp>
        <p:nvSpPr>
          <p:cNvPr id="25" name="Text 23"/>
          <p:cNvSpPr/>
          <p:nvPr/>
        </p:nvSpPr>
        <p:spPr>
          <a:xfrm>
            <a:off x="1219200" y="7662466"/>
            <a:ext cx="304800"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5BC8A8"/>
                </a:solidFill>
                <a:latin typeface="Noto Sans KR" pitchFamily="34" charset="0"/>
                <a:ea typeface="Noto Sans KR" pitchFamily="34" charset="-122"/>
                <a:cs typeface="Noto Sans KR" pitchFamily="34" charset="-120"/>
              </a:rPr>
              <a:t>A</a:t>
            </a:r>
            <a:endParaRPr lang="en-US" sz="1275" dirty="0"/>
          </a:p>
        </p:txBody>
      </p:sp>
      <p:sp>
        <p:nvSpPr>
          <p:cNvPr id="26" name="Text 24"/>
          <p:cNvSpPr/>
          <p:nvPr/>
        </p:nvSpPr>
        <p:spPr>
          <a:xfrm>
            <a:off x="1581150" y="7611666"/>
            <a:ext cx="10065830" cy="316508"/>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350" dirty="0">
                <a:solidFill>
                  <a:srgbClr val="F0EADB"/>
                </a:solidFill>
                <a:latin typeface="Noto Sans KR" pitchFamily="34" charset="0"/>
                <a:ea typeface="Noto Sans KR" pitchFamily="34" charset="-122"/>
                <a:cs typeface="Noto Sans KR" pitchFamily="34" charset="-120"/>
              </a:rPr>
              <a:t>런타임 상태와 정적 데이터를 엄격 분리. Inspector 편집·git diff 추적 용이. </a:t>
            </a:r>
            <a:r>
              <a:rPr lang="en-US" sz="1125" dirty="0">
                <a:solidFill>
                  <a:srgbClr val="79B8FF"/>
                </a:solidFill>
                <a:latin typeface="JetBrains Mono" pitchFamily="34" charset="0"/>
                <a:ea typeface="JetBrains Mono" pitchFamily="34" charset="-122"/>
                <a:cs typeface="JetBrains Mono" pitchFamily="34" charset="-120"/>
              </a:rPr>
              <a:t>GameAssets </a:t>
            </a:r>
            <a:r>
              <a:rPr lang="en-US" sz="1350" dirty="0">
                <a:solidFill>
                  <a:srgbClr val="F0EADB"/>
                </a:solidFill>
                <a:latin typeface="Noto Sans KR" pitchFamily="34" charset="0"/>
                <a:ea typeface="Noto Sans KR" pitchFamily="34" charset="-122"/>
                <a:cs typeface="Noto Sans KR" pitchFamily="34" charset="-120"/>
              </a:rPr>
              <a:t>싱글턴 레지스트리로 </a:t>
            </a:r>
            <a:r>
              <a:rPr lang="en-US" sz="1350" b="1" dirty="0">
                <a:solidFill>
                  <a:srgbClr val="F0EADB"/>
                </a:solidFill>
                <a:latin typeface="Noto Sans KR" pitchFamily="34" charset="0"/>
                <a:ea typeface="Noto Sans KR" pitchFamily="34" charset="-122"/>
                <a:cs typeface="Noto Sans KR" pitchFamily="34" charset="-120"/>
              </a:rPr>
              <a:t>코드 수정 없이 콘텐츠만 추가</a:t>
            </a:r>
            <a:r>
              <a:rPr lang="en-US" sz="1350" dirty="0">
                <a:solidFill>
                  <a:srgbClr val="F0EADB"/>
                </a:solidFill>
                <a:latin typeface="Noto Sans KR" pitchFamily="34" charset="0"/>
                <a:ea typeface="Noto Sans KR" pitchFamily="34" charset="-122"/>
                <a:cs typeface="Noto Sans KR" pitchFamily="34" charset="-120"/>
              </a:rPr>
              <a:t>.</a:t>
            </a:r>
            <a:endParaRPr lang="en-US" sz="1350" dirty="0"/>
          </a:p>
        </p:txBody>
      </p:sp>
      <p:sp>
        <p:nvSpPr>
          <p:cNvPr id="27" name="Shape 25"/>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29" name="Text 0">
            <a:extLst>
              <a:ext uri="{FF2B5EF4-FFF2-40B4-BE49-F238E27FC236}">
                <a16:creationId xmlns:a16="http://schemas.microsoft.com/office/drawing/2014/main" id="{DF384C3A-A690-E96A-AB22-A30734974C4A}"/>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10 / 22</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nvSpPr>
        <p:spPr>
          <a:xfrm>
            <a:off x="7558088" y="609600"/>
            <a:ext cx="3268980"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APP STRUCTURE · 질의응답 2-2</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19200"/>
            <a:ext cx="18105120" cy="584200"/>
          </a:xfrm>
          <a:prstGeom prst="rect">
            <a:avLst/>
          </a:prstGeom>
          <a:noFill/>
          <a:ln/>
        </p:spPr>
        <p:txBody>
          <a:bodyPr wrap="square" lIns="25400" tIns="25400" rIns="25400" bIns="25400" rtlCol="0" anchor="t">
            <a:normAutofit lnSpcReduction="10000"/>
          </a:bodyPr>
          <a:lstStyle/>
          <a:p>
            <a:pPr marL="0" indent="0" algn="l">
              <a:buNone/>
            </a:pPr>
            <a:r>
              <a:rPr lang="en-US" sz="3600" b="1" kern="0" spc="-75" dirty="0">
                <a:solidFill>
                  <a:srgbClr val="F0EADB"/>
                </a:solidFill>
                <a:latin typeface="Noto Sans KR" pitchFamily="34" charset="0"/>
                <a:ea typeface="Noto Sans KR" pitchFamily="34" charset="-122"/>
                <a:cs typeface="Noto Sans KR" pitchFamily="34" charset="-120"/>
              </a:rPr>
              <a:t>앱 구조 — 레이어 &amp; 디렉토리</a:t>
            </a:r>
            <a:endParaRPr lang="en-US" sz="3600" dirty="0"/>
          </a:p>
        </p:txBody>
      </p:sp>
      <p:sp>
        <p:nvSpPr>
          <p:cNvPr id="6" name="Shape 4"/>
          <p:cNvSpPr/>
          <p:nvPr/>
        </p:nvSpPr>
        <p:spPr>
          <a:xfrm>
            <a:off x="914400" y="3735685"/>
            <a:ext cx="8579545" cy="4228505"/>
          </a:xfrm>
          <a:prstGeom prst="roundRect">
            <a:avLst>
              <a:gd name="adj" fmla="val 1802"/>
            </a:avLst>
          </a:prstGeom>
          <a:solidFill>
            <a:srgbClr val="0D1117"/>
          </a:solidFill>
          <a:ln/>
        </p:spPr>
        <p:txBody>
          <a:bodyPr/>
          <a:lstStyle/>
          <a:p>
            <a:endParaRPr lang="ko-KR" altLang="en-US"/>
          </a:p>
        </p:txBody>
      </p:sp>
      <p:sp>
        <p:nvSpPr>
          <p:cNvPr id="7" name="Shape 5"/>
          <p:cNvSpPr/>
          <p:nvPr/>
        </p:nvSpPr>
        <p:spPr>
          <a:xfrm>
            <a:off x="914400" y="7957840"/>
            <a:ext cx="8579545" cy="9525"/>
          </a:xfrm>
          <a:prstGeom prst="rect">
            <a:avLst/>
          </a:prstGeom>
          <a:solidFill>
            <a:srgbClr val="2E3C55"/>
          </a:solidFill>
          <a:ln/>
        </p:spPr>
        <p:txBody>
          <a:bodyPr/>
          <a:lstStyle/>
          <a:p>
            <a:endParaRPr lang="ko-KR" altLang="en-US"/>
          </a:p>
        </p:txBody>
      </p:sp>
      <p:sp>
        <p:nvSpPr>
          <p:cNvPr id="8" name="Shape 6"/>
          <p:cNvSpPr/>
          <p:nvPr/>
        </p:nvSpPr>
        <p:spPr>
          <a:xfrm>
            <a:off x="914400" y="3735685"/>
            <a:ext cx="8579545" cy="9525"/>
          </a:xfrm>
          <a:prstGeom prst="rect">
            <a:avLst/>
          </a:prstGeom>
          <a:solidFill>
            <a:srgbClr val="2E3C55"/>
          </a:solidFill>
          <a:ln/>
        </p:spPr>
        <p:txBody>
          <a:bodyPr/>
          <a:lstStyle/>
          <a:p>
            <a:endParaRPr lang="ko-KR" altLang="en-US"/>
          </a:p>
        </p:txBody>
      </p:sp>
      <p:sp>
        <p:nvSpPr>
          <p:cNvPr id="9" name="Shape 7"/>
          <p:cNvSpPr/>
          <p:nvPr/>
        </p:nvSpPr>
        <p:spPr>
          <a:xfrm>
            <a:off x="914400" y="3735685"/>
            <a:ext cx="38100" cy="4228505"/>
          </a:xfrm>
          <a:prstGeom prst="rect">
            <a:avLst/>
          </a:prstGeom>
          <a:solidFill>
            <a:srgbClr val="D97757"/>
          </a:solidFill>
          <a:ln/>
        </p:spPr>
        <p:txBody>
          <a:bodyPr/>
          <a:lstStyle/>
          <a:p>
            <a:endParaRPr lang="ko-KR" altLang="en-US"/>
          </a:p>
        </p:txBody>
      </p:sp>
      <p:sp>
        <p:nvSpPr>
          <p:cNvPr id="10" name="Shape 8"/>
          <p:cNvSpPr/>
          <p:nvPr/>
        </p:nvSpPr>
        <p:spPr>
          <a:xfrm>
            <a:off x="9487595" y="3735685"/>
            <a:ext cx="9525" cy="4228505"/>
          </a:xfrm>
          <a:prstGeom prst="rect">
            <a:avLst/>
          </a:prstGeom>
          <a:solidFill>
            <a:srgbClr val="2E3C55"/>
          </a:solidFill>
          <a:ln/>
        </p:spPr>
        <p:txBody>
          <a:bodyPr/>
          <a:lstStyle/>
          <a:p>
            <a:endParaRPr lang="ko-KR" altLang="en-US"/>
          </a:p>
        </p:txBody>
      </p:sp>
      <p:sp>
        <p:nvSpPr>
          <p:cNvPr id="11" name="Text 9"/>
          <p:cNvSpPr/>
          <p:nvPr/>
        </p:nvSpPr>
        <p:spPr>
          <a:xfrm>
            <a:off x="1276350" y="4008735"/>
            <a:ext cx="8124017" cy="372864"/>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425" dirty="0">
                <a:solidFill>
                  <a:srgbClr val="79B8FF"/>
                </a:solidFill>
                <a:latin typeface="JetBrains Mono" pitchFamily="34" charset="0"/>
                <a:ea typeface="JetBrains Mono" pitchFamily="34" charset="-122"/>
                <a:cs typeface="JetBrains Mono" pitchFamily="34" charset="-120"/>
              </a:rPr>
              <a:t>Assets/Scripts/</a:t>
            </a:r>
            <a:endParaRPr lang="en-US" sz="1425" dirty="0"/>
          </a:p>
        </p:txBody>
      </p:sp>
      <p:sp>
        <p:nvSpPr>
          <p:cNvPr id="12" name="Text 10"/>
          <p:cNvSpPr/>
          <p:nvPr/>
        </p:nvSpPr>
        <p:spPr>
          <a:xfrm>
            <a:off x="1276350" y="4343499"/>
            <a:ext cx="8124017" cy="372864"/>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425" dirty="0">
                <a:solidFill>
                  <a:srgbClr val="F0EADB"/>
                </a:solidFill>
                <a:latin typeface="JetBrains Mono" pitchFamily="34" charset="0"/>
                <a:ea typeface="JetBrains Mono" pitchFamily="34" charset="-122"/>
                <a:cs typeface="JetBrains Mono" pitchFamily="34" charset="-120"/>
              </a:rPr>
              <a:t>├── </a:t>
            </a:r>
            <a:r>
              <a:rPr lang="en-US" sz="1425" dirty="0">
                <a:solidFill>
                  <a:srgbClr val="E8B84B"/>
                </a:solidFill>
                <a:latin typeface="JetBrains Mono" pitchFamily="34" charset="0"/>
                <a:ea typeface="JetBrains Mono" pitchFamily="34" charset="-122"/>
                <a:cs typeface="JetBrains Mono" pitchFamily="34" charset="-120"/>
              </a:rPr>
              <a:t>Core/ </a:t>
            </a:r>
            <a:r>
              <a:rPr lang="en-US" sz="1425" dirty="0">
                <a:solidFill>
                  <a:srgbClr val="6272A4"/>
                </a:solidFill>
                <a:latin typeface="JetBrains Mono" pitchFamily="34" charset="0"/>
                <a:ea typeface="JetBrains Mono" pitchFamily="34" charset="-122"/>
                <a:cs typeface="JetBrains Mono" pitchFamily="34" charset="-120"/>
              </a:rPr>
              <a:t>전역 싱글턴 · EventBus · SaveLoad</a:t>
            </a:r>
            <a:endParaRPr lang="en-US" sz="1425" dirty="0"/>
          </a:p>
        </p:txBody>
      </p:sp>
      <p:sp>
        <p:nvSpPr>
          <p:cNvPr id="13" name="Text 11"/>
          <p:cNvSpPr/>
          <p:nvPr/>
        </p:nvSpPr>
        <p:spPr>
          <a:xfrm>
            <a:off x="1276350" y="4678263"/>
            <a:ext cx="8124017" cy="372864"/>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425" dirty="0">
                <a:solidFill>
                  <a:srgbClr val="F0EADB"/>
                </a:solidFill>
                <a:latin typeface="JetBrains Mono" pitchFamily="34" charset="0"/>
                <a:ea typeface="JetBrains Mono" pitchFamily="34" charset="-122"/>
                <a:cs typeface="JetBrains Mono" pitchFamily="34" charset="-120"/>
              </a:rPr>
              <a:t>├── </a:t>
            </a:r>
            <a:r>
              <a:rPr lang="en-US" sz="1425" dirty="0">
                <a:solidFill>
                  <a:srgbClr val="E8B84B"/>
                </a:solidFill>
                <a:latin typeface="JetBrains Mono" pitchFamily="34" charset="0"/>
                <a:ea typeface="JetBrains Mono" pitchFamily="34" charset="-122"/>
                <a:cs typeface="JetBrains Mono" pitchFamily="34" charset="-120"/>
              </a:rPr>
              <a:t>Data/ </a:t>
            </a:r>
            <a:r>
              <a:rPr lang="en-US" sz="1425" dirty="0">
                <a:solidFill>
                  <a:srgbClr val="6272A4"/>
                </a:solidFill>
                <a:latin typeface="JetBrains Mono" pitchFamily="34" charset="0"/>
                <a:ea typeface="JetBrains Mono" pitchFamily="34" charset="-122"/>
                <a:cs typeface="JetBrains Mono" pitchFamily="34" charset="-120"/>
              </a:rPr>
              <a:t>ScriptableObject 정의</a:t>
            </a:r>
            <a:endParaRPr lang="en-US" sz="1425" dirty="0"/>
          </a:p>
        </p:txBody>
      </p:sp>
      <p:sp>
        <p:nvSpPr>
          <p:cNvPr id="14" name="Text 12"/>
          <p:cNvSpPr/>
          <p:nvPr/>
        </p:nvSpPr>
        <p:spPr>
          <a:xfrm>
            <a:off x="1276350" y="5013028"/>
            <a:ext cx="8124017" cy="372864"/>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425" dirty="0">
                <a:solidFill>
                  <a:srgbClr val="F0EADB"/>
                </a:solidFill>
                <a:latin typeface="JetBrains Mono" pitchFamily="34" charset="0"/>
                <a:ea typeface="JetBrains Mono" pitchFamily="34" charset="-122"/>
                <a:cs typeface="JetBrains Mono" pitchFamily="34" charset="-120"/>
              </a:rPr>
              <a:t>├── </a:t>
            </a:r>
            <a:r>
              <a:rPr lang="en-US" sz="1425" dirty="0">
                <a:solidFill>
                  <a:srgbClr val="E8B84B"/>
                </a:solidFill>
                <a:latin typeface="JetBrains Mono" pitchFamily="34" charset="0"/>
                <a:ea typeface="JetBrains Mono" pitchFamily="34" charset="-122"/>
                <a:cs typeface="JetBrains Mono" pitchFamily="34" charset="-120"/>
              </a:rPr>
              <a:t>Battle/ </a:t>
            </a:r>
            <a:r>
              <a:rPr lang="en-US" sz="1425" dirty="0">
                <a:solidFill>
                  <a:srgbClr val="6272A4"/>
                </a:solidFill>
                <a:latin typeface="JetBrains Mono" pitchFamily="34" charset="0"/>
                <a:ea typeface="JetBrains Mono" pitchFamily="34" charset="-122"/>
                <a:cs typeface="JetBrains Mono" pitchFamily="34" charset="-120"/>
              </a:rPr>
              <a:t>시뮬·AI·판정 ★ 20 TPS</a:t>
            </a:r>
            <a:endParaRPr lang="en-US" sz="1425" dirty="0"/>
          </a:p>
        </p:txBody>
      </p:sp>
      <p:sp>
        <p:nvSpPr>
          <p:cNvPr id="15" name="Text 13"/>
          <p:cNvSpPr/>
          <p:nvPr/>
        </p:nvSpPr>
        <p:spPr>
          <a:xfrm>
            <a:off x="1276350" y="5347792"/>
            <a:ext cx="8124017" cy="372864"/>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425" dirty="0">
                <a:solidFill>
                  <a:srgbClr val="F0EADB"/>
                </a:solidFill>
                <a:latin typeface="JetBrains Mono" pitchFamily="34" charset="0"/>
                <a:ea typeface="JetBrains Mono" pitchFamily="34" charset="-122"/>
                <a:cs typeface="JetBrains Mono" pitchFamily="34" charset="-120"/>
              </a:rPr>
              <a:t>│ ├── </a:t>
            </a:r>
            <a:r>
              <a:rPr lang="en-US" sz="1425" dirty="0">
                <a:solidFill>
                  <a:srgbClr val="D97757"/>
                </a:solidFill>
                <a:latin typeface="JetBrains Mono" pitchFamily="34" charset="0"/>
                <a:ea typeface="JetBrains Mono" pitchFamily="34" charset="-122"/>
                <a:cs typeface="JetBrains Mono" pitchFamily="34" charset="-120"/>
              </a:rPr>
              <a:t>Events/ </a:t>
            </a:r>
            <a:r>
              <a:rPr lang="en-US" sz="1425" dirty="0">
                <a:solidFill>
                  <a:srgbClr val="6272A4"/>
                </a:solidFill>
                <a:latin typeface="JetBrains Mono" pitchFamily="34" charset="0"/>
                <a:ea typeface="JetBrains Mono" pitchFamily="34" charset="-122"/>
                <a:cs typeface="JetBrains Mono" pitchFamily="34" charset="-120"/>
              </a:rPr>
              <a:t>EventBus 이벤트</a:t>
            </a:r>
            <a:endParaRPr lang="en-US" sz="1425" dirty="0"/>
          </a:p>
        </p:txBody>
      </p:sp>
      <p:sp>
        <p:nvSpPr>
          <p:cNvPr id="16" name="Text 14"/>
          <p:cNvSpPr/>
          <p:nvPr/>
        </p:nvSpPr>
        <p:spPr>
          <a:xfrm>
            <a:off x="1276350" y="5682555"/>
            <a:ext cx="8124017" cy="372864"/>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425" dirty="0">
                <a:solidFill>
                  <a:srgbClr val="F0EADB"/>
                </a:solidFill>
                <a:latin typeface="JetBrains Mono" pitchFamily="34" charset="0"/>
                <a:ea typeface="JetBrains Mono" pitchFamily="34" charset="-122"/>
                <a:cs typeface="JetBrains Mono" pitchFamily="34" charset="-120"/>
              </a:rPr>
              <a:t>│ └── </a:t>
            </a:r>
            <a:r>
              <a:rPr lang="en-US" sz="1425" dirty="0">
                <a:solidFill>
                  <a:srgbClr val="D97757"/>
                </a:solidFill>
                <a:latin typeface="JetBrains Mono" pitchFamily="34" charset="0"/>
                <a:ea typeface="JetBrains Mono" pitchFamily="34" charset="-122"/>
                <a:cs typeface="JetBrains Mono" pitchFamily="34" charset="-120"/>
              </a:rPr>
              <a:t>Conditions/ </a:t>
            </a:r>
            <a:r>
              <a:rPr lang="en-US" sz="1425" dirty="0">
                <a:solidFill>
                  <a:srgbClr val="6272A4"/>
                </a:solidFill>
                <a:latin typeface="JetBrains Mono" pitchFamily="34" charset="0"/>
                <a:ea typeface="JetBrains Mono" pitchFamily="34" charset="-122"/>
                <a:cs typeface="JetBrains Mono" pitchFamily="34" charset="-120"/>
              </a:rPr>
              <a:t>상태이상</a:t>
            </a:r>
            <a:endParaRPr lang="en-US" sz="1425" dirty="0"/>
          </a:p>
        </p:txBody>
      </p:sp>
      <p:sp>
        <p:nvSpPr>
          <p:cNvPr id="17" name="Text 15"/>
          <p:cNvSpPr/>
          <p:nvPr/>
        </p:nvSpPr>
        <p:spPr>
          <a:xfrm>
            <a:off x="1276350" y="6017320"/>
            <a:ext cx="8124017" cy="372864"/>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425" dirty="0">
                <a:solidFill>
                  <a:srgbClr val="F0EADB"/>
                </a:solidFill>
                <a:latin typeface="JetBrains Mono" pitchFamily="34" charset="0"/>
                <a:ea typeface="JetBrains Mono" pitchFamily="34" charset="-122"/>
                <a:cs typeface="JetBrains Mono" pitchFamily="34" charset="-120"/>
              </a:rPr>
              <a:t>├── </a:t>
            </a:r>
            <a:r>
              <a:rPr lang="en-US" sz="1425" dirty="0">
                <a:solidFill>
                  <a:srgbClr val="E8B84B"/>
                </a:solidFill>
                <a:latin typeface="JetBrains Mono" pitchFamily="34" charset="0"/>
                <a:ea typeface="JetBrains Mono" pitchFamily="34" charset="-122"/>
                <a:cs typeface="JetBrains Mono" pitchFamily="34" charset="-120"/>
              </a:rPr>
              <a:t>UI/ </a:t>
            </a:r>
            <a:r>
              <a:rPr lang="en-US" sz="1425" dirty="0">
                <a:solidFill>
                  <a:srgbClr val="6272A4"/>
                </a:solidFill>
                <a:latin typeface="JetBrains Mono" pitchFamily="34" charset="0"/>
                <a:ea typeface="JetBrains Mono" pitchFamily="34" charset="-122"/>
                <a:cs typeface="JetBrains Mono" pitchFamily="34" charset="-120"/>
              </a:rPr>
              <a:t>화면 · HUD · 패널</a:t>
            </a:r>
            <a:endParaRPr lang="en-US" sz="1425" dirty="0"/>
          </a:p>
        </p:txBody>
      </p:sp>
      <p:sp>
        <p:nvSpPr>
          <p:cNvPr id="18" name="Text 16"/>
          <p:cNvSpPr/>
          <p:nvPr/>
        </p:nvSpPr>
        <p:spPr>
          <a:xfrm>
            <a:off x="1276350" y="6352084"/>
            <a:ext cx="8124017" cy="372864"/>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425" dirty="0">
                <a:solidFill>
                  <a:srgbClr val="F0EADB"/>
                </a:solidFill>
                <a:latin typeface="JetBrains Mono" pitchFamily="34" charset="0"/>
                <a:ea typeface="JetBrains Mono" pitchFamily="34" charset="-122"/>
                <a:cs typeface="JetBrains Mono" pitchFamily="34" charset="-120"/>
              </a:rPr>
              <a:t>├── </a:t>
            </a:r>
            <a:r>
              <a:rPr lang="en-US" sz="1425" dirty="0">
                <a:solidFill>
                  <a:srgbClr val="E8B84B"/>
                </a:solidFill>
                <a:latin typeface="JetBrains Mono" pitchFamily="34" charset="0"/>
                <a:ea typeface="JetBrains Mono" pitchFamily="34" charset="-122"/>
                <a:cs typeface="JetBrains Mono" pitchFamily="34" charset="-120"/>
              </a:rPr>
              <a:t>Audio/ </a:t>
            </a:r>
            <a:r>
              <a:rPr lang="en-US" sz="1425" dirty="0">
                <a:solidFill>
                  <a:srgbClr val="6272A4"/>
                </a:solidFill>
                <a:latin typeface="JetBrains Mono" pitchFamily="34" charset="0"/>
                <a:ea typeface="JetBrains Mono" pitchFamily="34" charset="-122"/>
                <a:cs typeface="JetBrains Mono" pitchFamily="34" charset="-120"/>
              </a:rPr>
              <a:t>BGM 크로스페이드 · SFX 풀</a:t>
            </a:r>
            <a:endParaRPr lang="en-US" sz="1425" dirty="0"/>
          </a:p>
        </p:txBody>
      </p:sp>
      <p:sp>
        <p:nvSpPr>
          <p:cNvPr id="19" name="Text 17"/>
          <p:cNvSpPr/>
          <p:nvPr/>
        </p:nvSpPr>
        <p:spPr>
          <a:xfrm>
            <a:off x="1276350" y="6686848"/>
            <a:ext cx="8124017" cy="372864"/>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425" dirty="0">
                <a:solidFill>
                  <a:srgbClr val="F0EADB"/>
                </a:solidFill>
                <a:latin typeface="JetBrains Mono" pitchFamily="34" charset="0"/>
                <a:ea typeface="JetBrains Mono" pitchFamily="34" charset="-122"/>
                <a:cs typeface="JetBrains Mono" pitchFamily="34" charset="-120"/>
              </a:rPr>
              <a:t>├── </a:t>
            </a:r>
            <a:r>
              <a:rPr lang="en-US" sz="1425" dirty="0">
                <a:solidFill>
                  <a:srgbClr val="E8B84B"/>
                </a:solidFill>
                <a:latin typeface="JetBrains Mono" pitchFamily="34" charset="0"/>
                <a:ea typeface="JetBrains Mono" pitchFamily="34" charset="-122"/>
                <a:cs typeface="JetBrains Mono" pitchFamily="34" charset="-120"/>
              </a:rPr>
              <a:t>VFX/ </a:t>
            </a:r>
            <a:r>
              <a:rPr lang="en-US" sz="1425" dirty="0">
                <a:solidFill>
                  <a:srgbClr val="6272A4"/>
                </a:solidFill>
                <a:latin typeface="JetBrains Mono" pitchFamily="34" charset="0"/>
                <a:ea typeface="JetBrains Mono" pitchFamily="34" charset="-122"/>
                <a:cs typeface="JetBrains Mono" pitchFamily="34" charset="-120"/>
              </a:rPr>
              <a:t>파티클 풀 · 상태이상</a:t>
            </a:r>
            <a:endParaRPr lang="en-US" sz="1425" dirty="0"/>
          </a:p>
        </p:txBody>
      </p:sp>
      <p:sp>
        <p:nvSpPr>
          <p:cNvPr id="20" name="Text 18"/>
          <p:cNvSpPr/>
          <p:nvPr/>
        </p:nvSpPr>
        <p:spPr>
          <a:xfrm>
            <a:off x="1276350" y="7021612"/>
            <a:ext cx="8124017" cy="372864"/>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425" dirty="0">
                <a:solidFill>
                  <a:srgbClr val="F0EADB"/>
                </a:solidFill>
                <a:latin typeface="JetBrains Mono" pitchFamily="34" charset="0"/>
                <a:ea typeface="JetBrains Mono" pitchFamily="34" charset="-122"/>
                <a:cs typeface="JetBrains Mono" pitchFamily="34" charset="-120"/>
              </a:rPr>
              <a:t>├── </a:t>
            </a:r>
            <a:r>
              <a:rPr lang="en-US" sz="1425" dirty="0">
                <a:solidFill>
                  <a:srgbClr val="E8B84B"/>
                </a:solidFill>
                <a:latin typeface="JetBrains Mono" pitchFamily="34" charset="0"/>
                <a:ea typeface="JetBrains Mono" pitchFamily="34" charset="-122"/>
                <a:cs typeface="JetBrains Mono" pitchFamily="34" charset="-120"/>
              </a:rPr>
              <a:t>Replay/ </a:t>
            </a:r>
            <a:r>
              <a:rPr lang="en-US" sz="1425" dirty="0">
                <a:solidFill>
                  <a:srgbClr val="6272A4"/>
                </a:solidFill>
                <a:latin typeface="JetBrains Mono" pitchFamily="34" charset="0"/>
                <a:ea typeface="JetBrains Mono" pitchFamily="34" charset="-122"/>
                <a:cs typeface="JetBrains Mono" pitchFamily="34" charset="-120"/>
              </a:rPr>
              <a:t>전투 재생</a:t>
            </a:r>
            <a:endParaRPr lang="en-US" sz="1425" dirty="0"/>
          </a:p>
        </p:txBody>
      </p:sp>
      <p:sp>
        <p:nvSpPr>
          <p:cNvPr id="21" name="Text 19"/>
          <p:cNvSpPr/>
          <p:nvPr/>
        </p:nvSpPr>
        <p:spPr>
          <a:xfrm>
            <a:off x="1276350" y="7356376"/>
            <a:ext cx="8124017" cy="372864"/>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425" dirty="0">
                <a:solidFill>
                  <a:srgbClr val="F0EADB"/>
                </a:solidFill>
                <a:latin typeface="JetBrains Mono" pitchFamily="34" charset="0"/>
                <a:ea typeface="JetBrains Mono" pitchFamily="34" charset="-122"/>
                <a:cs typeface="JetBrains Mono" pitchFamily="34" charset="-120"/>
              </a:rPr>
              <a:t>└── </a:t>
            </a:r>
            <a:r>
              <a:rPr lang="en-US" sz="1425" dirty="0">
                <a:solidFill>
                  <a:srgbClr val="E8B84B"/>
                </a:solidFill>
                <a:latin typeface="JetBrains Mono" pitchFamily="34" charset="0"/>
                <a:ea typeface="JetBrains Mono" pitchFamily="34" charset="-122"/>
                <a:cs typeface="JetBrains Mono" pitchFamily="34" charset="-120"/>
              </a:rPr>
              <a:t>Tutorial/ </a:t>
            </a:r>
            <a:r>
              <a:rPr lang="en-US" sz="1425" dirty="0">
                <a:solidFill>
                  <a:srgbClr val="6272A4"/>
                </a:solidFill>
                <a:latin typeface="JetBrains Mono" pitchFamily="34" charset="0"/>
                <a:ea typeface="JetBrains Mono" pitchFamily="34" charset="-122"/>
                <a:cs typeface="JetBrains Mono" pitchFamily="34" charset="-120"/>
              </a:rPr>
              <a:t>4단계 시퀀서</a:t>
            </a:r>
            <a:endParaRPr lang="en-US" sz="1425" dirty="0"/>
          </a:p>
        </p:txBody>
      </p:sp>
      <p:sp>
        <p:nvSpPr>
          <p:cNvPr id="22" name="Text 20"/>
          <p:cNvSpPr/>
          <p:nvPr/>
        </p:nvSpPr>
        <p:spPr>
          <a:xfrm>
            <a:off x="9913045" y="3922713"/>
            <a:ext cx="8206502" cy="292100"/>
          </a:xfrm>
          <a:prstGeom prst="rect">
            <a:avLst/>
          </a:prstGeom>
          <a:noFill/>
          <a:ln/>
        </p:spPr>
        <p:txBody>
          <a:bodyPr wrap="square" lIns="25400" tIns="25400" rIns="25400" bIns="25400" rtlCol="0" anchor="t">
            <a:normAutofit/>
          </a:bodyPr>
          <a:lstStyle/>
          <a:p>
            <a:pPr marL="0" indent="0" algn="l">
              <a:buNone/>
            </a:pPr>
            <a:r>
              <a:rPr lang="en-US" sz="1500" kern="0" spc="75" dirty="0">
                <a:solidFill>
                  <a:srgbClr val="8A9AB8"/>
                </a:solidFill>
                <a:latin typeface="JetBrains Mono" pitchFamily="34" charset="0"/>
                <a:ea typeface="JetBrains Mono" pitchFamily="34" charset="-122"/>
                <a:cs typeface="JetBrains Mono" pitchFamily="34" charset="-120"/>
              </a:rPr>
              <a:t>씬 흐름</a:t>
            </a:r>
            <a:endParaRPr lang="en-US" sz="1500" dirty="0"/>
          </a:p>
        </p:txBody>
      </p:sp>
      <p:sp>
        <p:nvSpPr>
          <p:cNvPr id="23" name="Shape 21"/>
          <p:cNvSpPr/>
          <p:nvPr/>
        </p:nvSpPr>
        <p:spPr>
          <a:xfrm>
            <a:off x="9913045" y="4310063"/>
            <a:ext cx="7460456" cy="565150"/>
          </a:xfrm>
          <a:prstGeom prst="roundRect">
            <a:avLst>
              <a:gd name="adj" fmla="val 10112"/>
            </a:avLst>
          </a:prstGeom>
          <a:solidFill>
            <a:srgbClr val="1A2236"/>
          </a:solidFill>
          <a:ln/>
        </p:spPr>
        <p:txBody>
          <a:bodyPr/>
          <a:lstStyle/>
          <a:p>
            <a:endParaRPr lang="ko-KR" altLang="en-US"/>
          </a:p>
        </p:txBody>
      </p:sp>
      <p:sp>
        <p:nvSpPr>
          <p:cNvPr id="24" name="Text 22"/>
          <p:cNvSpPr/>
          <p:nvPr/>
        </p:nvSpPr>
        <p:spPr>
          <a:xfrm>
            <a:off x="10141645" y="4462463"/>
            <a:ext cx="7227070" cy="29845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JetBrains Mono" pitchFamily="34" charset="0"/>
                <a:ea typeface="JetBrains Mono" pitchFamily="34" charset="-122"/>
                <a:cs typeface="JetBrains Mono" pitchFamily="34" charset="-120"/>
              </a:rPr>
              <a:t>MainMenu</a:t>
            </a:r>
            <a:endParaRPr lang="en-US" sz="1575" dirty="0"/>
          </a:p>
        </p:txBody>
      </p:sp>
      <p:sp>
        <p:nvSpPr>
          <p:cNvPr id="25" name="Text 23"/>
          <p:cNvSpPr/>
          <p:nvPr/>
        </p:nvSpPr>
        <p:spPr>
          <a:xfrm>
            <a:off x="9540022" y="4970463"/>
            <a:ext cx="8206502" cy="298450"/>
          </a:xfrm>
          <a:prstGeom prst="rect">
            <a:avLst/>
          </a:prstGeom>
          <a:noFill/>
          <a:ln/>
        </p:spPr>
        <p:txBody>
          <a:bodyPr wrap="square" lIns="25400" tIns="25400" rIns="25400" bIns="25400" rtlCol="0" anchor="t">
            <a:normAutofit/>
          </a:bodyPr>
          <a:lstStyle/>
          <a:p>
            <a:pPr marL="0" indent="0" algn="ctr">
              <a:buNone/>
            </a:pPr>
            <a:r>
              <a:rPr lang="en-US" sz="1575" dirty="0">
                <a:solidFill>
                  <a:srgbClr val="2E3C55"/>
                </a:solidFill>
                <a:latin typeface="JetBrains Mono" pitchFamily="34" charset="0"/>
                <a:ea typeface="JetBrains Mono" pitchFamily="34" charset="-122"/>
                <a:cs typeface="JetBrains Mono" pitchFamily="34" charset="-120"/>
              </a:rPr>
              <a:t>▼ </a:t>
            </a:r>
            <a:r>
              <a:rPr lang="en-US" sz="1050" dirty="0">
                <a:solidFill>
                  <a:srgbClr val="2E3C55"/>
                </a:solidFill>
                <a:latin typeface="JetBrains Mono" pitchFamily="34" charset="0"/>
                <a:ea typeface="JetBrains Mono" pitchFamily="34" charset="-122"/>
                <a:cs typeface="JetBrains Mono" pitchFamily="34" charset="-120"/>
              </a:rPr>
              <a:t>(Tutorial)</a:t>
            </a:r>
            <a:endParaRPr lang="en-US" sz="1575" dirty="0"/>
          </a:p>
        </p:txBody>
      </p:sp>
      <p:sp>
        <p:nvSpPr>
          <p:cNvPr id="26" name="Shape 24"/>
          <p:cNvSpPr/>
          <p:nvPr/>
        </p:nvSpPr>
        <p:spPr>
          <a:xfrm>
            <a:off x="9913045" y="5326063"/>
            <a:ext cx="7460456" cy="565150"/>
          </a:xfrm>
          <a:prstGeom prst="roundRect">
            <a:avLst>
              <a:gd name="adj" fmla="val 10112"/>
            </a:avLst>
          </a:prstGeom>
          <a:solidFill>
            <a:srgbClr val="1A2236"/>
          </a:solidFill>
          <a:ln/>
        </p:spPr>
        <p:txBody>
          <a:bodyPr/>
          <a:lstStyle/>
          <a:p>
            <a:endParaRPr lang="ko-KR" altLang="en-US"/>
          </a:p>
        </p:txBody>
      </p:sp>
      <p:sp>
        <p:nvSpPr>
          <p:cNvPr id="27" name="Text 25"/>
          <p:cNvSpPr/>
          <p:nvPr/>
        </p:nvSpPr>
        <p:spPr>
          <a:xfrm>
            <a:off x="10141645" y="5478463"/>
            <a:ext cx="7227070" cy="29845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JetBrains Mono" pitchFamily="34" charset="0"/>
                <a:ea typeface="JetBrains Mono" pitchFamily="34" charset="-122"/>
                <a:cs typeface="JetBrains Mono" pitchFamily="34" charset="-120"/>
              </a:rPr>
              <a:t>ChapterHub</a:t>
            </a:r>
            <a:endParaRPr lang="en-US" sz="1575" dirty="0"/>
          </a:p>
        </p:txBody>
      </p:sp>
      <p:sp>
        <p:nvSpPr>
          <p:cNvPr id="28" name="Text 26"/>
          <p:cNvSpPr/>
          <p:nvPr/>
        </p:nvSpPr>
        <p:spPr>
          <a:xfrm>
            <a:off x="9540022" y="5986463"/>
            <a:ext cx="8206502" cy="298450"/>
          </a:xfrm>
          <a:prstGeom prst="rect">
            <a:avLst/>
          </a:prstGeom>
          <a:noFill/>
          <a:ln/>
        </p:spPr>
        <p:txBody>
          <a:bodyPr wrap="square" lIns="25400" tIns="25400" rIns="25400" bIns="25400" rtlCol="0" anchor="t">
            <a:normAutofit/>
          </a:bodyPr>
          <a:lstStyle/>
          <a:p>
            <a:pPr marL="0" indent="0" algn="ctr">
              <a:buNone/>
            </a:pPr>
            <a:r>
              <a:rPr lang="en-US" sz="1575" dirty="0">
                <a:solidFill>
                  <a:srgbClr val="2E3C55"/>
                </a:solidFill>
                <a:latin typeface="JetBrains Mono" pitchFamily="34" charset="0"/>
                <a:ea typeface="JetBrains Mono" pitchFamily="34" charset="-122"/>
                <a:cs typeface="JetBrains Mono" pitchFamily="34" charset="-120"/>
              </a:rPr>
              <a:t>▼</a:t>
            </a:r>
            <a:endParaRPr lang="en-US" sz="1575" dirty="0"/>
          </a:p>
        </p:txBody>
      </p:sp>
      <p:sp>
        <p:nvSpPr>
          <p:cNvPr id="29" name="Shape 27"/>
          <p:cNvSpPr/>
          <p:nvPr/>
        </p:nvSpPr>
        <p:spPr>
          <a:xfrm>
            <a:off x="9913045" y="6342063"/>
            <a:ext cx="7460456" cy="565150"/>
          </a:xfrm>
          <a:prstGeom prst="roundRect">
            <a:avLst>
              <a:gd name="adj" fmla="val 10112"/>
            </a:avLst>
          </a:prstGeom>
          <a:solidFill>
            <a:srgbClr val="232D42"/>
          </a:solidFill>
          <a:ln/>
        </p:spPr>
        <p:txBody>
          <a:bodyPr/>
          <a:lstStyle/>
          <a:p>
            <a:endParaRPr lang="ko-KR" altLang="en-US"/>
          </a:p>
        </p:txBody>
      </p:sp>
      <p:sp>
        <p:nvSpPr>
          <p:cNvPr id="30" name="Shape 28"/>
          <p:cNvSpPr/>
          <p:nvPr/>
        </p:nvSpPr>
        <p:spPr>
          <a:xfrm>
            <a:off x="9913045" y="6342063"/>
            <a:ext cx="38100" cy="565150"/>
          </a:xfrm>
          <a:prstGeom prst="rect">
            <a:avLst/>
          </a:prstGeom>
          <a:solidFill>
            <a:srgbClr val="D97757"/>
          </a:solidFill>
          <a:ln/>
        </p:spPr>
        <p:txBody>
          <a:bodyPr/>
          <a:lstStyle/>
          <a:p>
            <a:endParaRPr lang="ko-KR" altLang="en-US"/>
          </a:p>
        </p:txBody>
      </p:sp>
      <p:sp>
        <p:nvSpPr>
          <p:cNvPr id="31" name="Text 29"/>
          <p:cNvSpPr/>
          <p:nvPr/>
        </p:nvSpPr>
        <p:spPr>
          <a:xfrm>
            <a:off x="10179745" y="6494463"/>
            <a:ext cx="7188970" cy="298450"/>
          </a:xfrm>
          <a:prstGeom prst="rect">
            <a:avLst/>
          </a:prstGeom>
          <a:noFill/>
          <a:ln/>
        </p:spPr>
        <p:txBody>
          <a:bodyPr wrap="square" lIns="25400" tIns="25400" rIns="25400" bIns="25400" rtlCol="0" anchor="t">
            <a:normAutofit/>
          </a:bodyPr>
          <a:lstStyle/>
          <a:p>
            <a:pPr marL="0" indent="0" algn="l">
              <a:buNone/>
            </a:pPr>
            <a:r>
              <a:rPr lang="en-US" sz="1575" b="1" dirty="0">
                <a:solidFill>
                  <a:srgbClr val="F0EADB"/>
                </a:solidFill>
                <a:latin typeface="JetBrains Mono" pitchFamily="34" charset="0"/>
                <a:ea typeface="JetBrains Mono" pitchFamily="34" charset="-122"/>
                <a:cs typeface="JetBrains Mono" pitchFamily="34" charset="-120"/>
              </a:rPr>
              <a:t>Battle</a:t>
            </a:r>
            <a:endParaRPr lang="en-US" sz="1575" dirty="0"/>
          </a:p>
        </p:txBody>
      </p:sp>
      <p:sp>
        <p:nvSpPr>
          <p:cNvPr id="38" name="Shape 36"/>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42" name="Shape 24">
            <a:extLst>
              <a:ext uri="{FF2B5EF4-FFF2-40B4-BE49-F238E27FC236}">
                <a16:creationId xmlns:a16="http://schemas.microsoft.com/office/drawing/2014/main" id="{1F203255-B784-F1A4-62B4-3C1367F72051}"/>
              </a:ext>
            </a:extLst>
          </p:cNvPr>
          <p:cNvSpPr/>
          <p:nvPr/>
        </p:nvSpPr>
        <p:spPr>
          <a:xfrm>
            <a:off x="9913144" y="7386943"/>
            <a:ext cx="7460456" cy="565150"/>
          </a:xfrm>
          <a:prstGeom prst="roundRect">
            <a:avLst>
              <a:gd name="adj" fmla="val 10112"/>
            </a:avLst>
          </a:prstGeom>
          <a:solidFill>
            <a:srgbClr val="1A2236"/>
          </a:solidFill>
          <a:ln/>
        </p:spPr>
        <p:txBody>
          <a:bodyPr/>
          <a:lstStyle/>
          <a:p>
            <a:endParaRPr lang="ko-KR" altLang="en-US"/>
          </a:p>
        </p:txBody>
      </p:sp>
      <p:sp>
        <p:nvSpPr>
          <p:cNvPr id="44" name="Text 25">
            <a:extLst>
              <a:ext uri="{FF2B5EF4-FFF2-40B4-BE49-F238E27FC236}">
                <a16:creationId xmlns:a16="http://schemas.microsoft.com/office/drawing/2014/main" id="{159D75EB-152D-ABC1-69A5-C3ACEFFBE724}"/>
              </a:ext>
            </a:extLst>
          </p:cNvPr>
          <p:cNvSpPr/>
          <p:nvPr/>
        </p:nvSpPr>
        <p:spPr>
          <a:xfrm>
            <a:off x="10141744" y="7539343"/>
            <a:ext cx="7227070" cy="298450"/>
          </a:xfrm>
          <a:prstGeom prst="rect">
            <a:avLst/>
          </a:prstGeom>
          <a:noFill/>
          <a:ln/>
        </p:spPr>
        <p:txBody>
          <a:bodyPr wrap="square" lIns="25400" tIns="25400" rIns="25400" bIns="25400" rtlCol="0" anchor="t">
            <a:normAutofit/>
          </a:bodyPr>
          <a:lstStyle/>
          <a:p>
            <a:pPr marL="0" indent="0" algn="l">
              <a:buNone/>
            </a:pPr>
            <a:r>
              <a:rPr lang="en-US" sz="1575" dirty="0">
                <a:solidFill>
                  <a:srgbClr val="F0EADB"/>
                </a:solidFill>
                <a:latin typeface="JetBrains Mono" pitchFamily="34" charset="0"/>
                <a:ea typeface="JetBrains Mono" pitchFamily="34" charset="-122"/>
                <a:cs typeface="JetBrains Mono" pitchFamily="34" charset="-120"/>
              </a:rPr>
              <a:t>ChapterHub</a:t>
            </a:r>
            <a:endParaRPr lang="en-US" sz="1575" dirty="0"/>
          </a:p>
        </p:txBody>
      </p:sp>
      <p:sp>
        <p:nvSpPr>
          <p:cNvPr id="58" name="Text 26">
            <a:extLst>
              <a:ext uri="{FF2B5EF4-FFF2-40B4-BE49-F238E27FC236}">
                <a16:creationId xmlns:a16="http://schemas.microsoft.com/office/drawing/2014/main" id="{BC1EC75B-D208-23F8-BAE9-41B39ACCC0F3}"/>
              </a:ext>
            </a:extLst>
          </p:cNvPr>
          <p:cNvSpPr/>
          <p:nvPr/>
        </p:nvSpPr>
        <p:spPr>
          <a:xfrm>
            <a:off x="9540022" y="6993243"/>
            <a:ext cx="8206502" cy="298450"/>
          </a:xfrm>
          <a:prstGeom prst="rect">
            <a:avLst/>
          </a:prstGeom>
          <a:noFill/>
          <a:ln/>
        </p:spPr>
        <p:txBody>
          <a:bodyPr wrap="square" lIns="25400" tIns="25400" rIns="25400" bIns="25400" rtlCol="0" anchor="t">
            <a:normAutofit/>
          </a:bodyPr>
          <a:lstStyle/>
          <a:p>
            <a:pPr marL="0" indent="0" algn="ctr">
              <a:buNone/>
            </a:pPr>
            <a:r>
              <a:rPr lang="en-US" sz="1575" dirty="0">
                <a:solidFill>
                  <a:srgbClr val="2E3C55"/>
                </a:solidFill>
                <a:latin typeface="JetBrains Mono" pitchFamily="34" charset="0"/>
                <a:ea typeface="JetBrains Mono" pitchFamily="34" charset="-122"/>
                <a:cs typeface="JetBrains Mono" pitchFamily="34" charset="-120"/>
              </a:rPr>
              <a:t>▼</a:t>
            </a:r>
            <a:endParaRPr lang="en-US" sz="1575" dirty="0"/>
          </a:p>
        </p:txBody>
      </p:sp>
      <p:sp>
        <p:nvSpPr>
          <p:cNvPr id="60" name="Text 0">
            <a:extLst>
              <a:ext uri="{FF2B5EF4-FFF2-40B4-BE49-F238E27FC236}">
                <a16:creationId xmlns:a16="http://schemas.microsoft.com/office/drawing/2014/main" id="{F21346D6-4EF9-B997-C380-9CE77B5B7F88}"/>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11 / 22</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nvSpPr>
        <p:spPr>
          <a:xfrm>
            <a:off x="8525867" y="609600"/>
            <a:ext cx="1200150"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TECH STACK</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57300"/>
            <a:ext cx="18105120" cy="628650"/>
          </a:xfrm>
          <a:prstGeom prst="rect">
            <a:avLst/>
          </a:prstGeom>
          <a:noFill/>
          <a:ln/>
        </p:spPr>
        <p:txBody>
          <a:bodyPr wrap="square" lIns="25400" tIns="25400" rIns="25400" bIns="25400" rtlCol="0" anchor="t">
            <a:normAutofit lnSpcReduction="10000"/>
          </a:bodyPr>
          <a:lstStyle/>
          <a:p>
            <a:pPr marL="0" indent="0" algn="l">
              <a:buNone/>
            </a:pPr>
            <a:r>
              <a:rPr lang="en-US" sz="3900" b="1" kern="0" spc="-75" dirty="0">
                <a:solidFill>
                  <a:srgbClr val="F0EADB"/>
                </a:solidFill>
                <a:latin typeface="Noto Sans KR" pitchFamily="34" charset="0"/>
                <a:ea typeface="Noto Sans KR" pitchFamily="34" charset="-122"/>
                <a:cs typeface="Noto Sans KR" pitchFamily="34" charset="-120"/>
              </a:rPr>
              <a:t>기술 스택</a:t>
            </a:r>
            <a:endParaRPr lang="en-US" sz="3900" dirty="0"/>
          </a:p>
        </p:txBody>
      </p:sp>
      <p:sp>
        <p:nvSpPr>
          <p:cNvPr id="6" name="Shape 4"/>
          <p:cNvSpPr/>
          <p:nvPr/>
        </p:nvSpPr>
        <p:spPr>
          <a:xfrm>
            <a:off x="914400" y="3313113"/>
            <a:ext cx="8096250" cy="917575"/>
          </a:xfrm>
          <a:prstGeom prst="roundRect">
            <a:avLst>
              <a:gd name="adj" fmla="val 8304"/>
            </a:avLst>
          </a:prstGeom>
          <a:solidFill>
            <a:srgbClr val="1A2236"/>
          </a:solidFill>
          <a:ln/>
        </p:spPr>
        <p:txBody>
          <a:bodyPr/>
          <a:lstStyle/>
          <a:p>
            <a:endParaRPr lang="ko-KR" altLang="en-US"/>
          </a:p>
        </p:txBody>
      </p:sp>
      <p:sp>
        <p:nvSpPr>
          <p:cNvPr id="7" name="Text 5"/>
          <p:cNvSpPr/>
          <p:nvPr/>
        </p:nvSpPr>
        <p:spPr>
          <a:xfrm>
            <a:off x="1200150" y="3644900"/>
            <a:ext cx="933450" cy="292100"/>
          </a:xfrm>
          <a:prstGeom prst="rect">
            <a:avLst/>
          </a:prstGeom>
          <a:noFill/>
          <a:ln/>
        </p:spPr>
        <p:txBody>
          <a:bodyPr wrap="square" lIns="25400" tIns="25400" rIns="25400" bIns="25400" rtlCol="0" anchor="t">
            <a:normAutofit/>
          </a:bodyPr>
          <a:lstStyle/>
          <a:p>
            <a:pPr marL="0" indent="0" algn="l">
              <a:buNone/>
            </a:pPr>
            <a:r>
              <a:rPr lang="en-US" sz="1500" dirty="0">
                <a:solidFill>
                  <a:srgbClr val="D97757"/>
                </a:solidFill>
                <a:latin typeface="JetBrains Mono" pitchFamily="34" charset="0"/>
                <a:ea typeface="JetBrains Mono" pitchFamily="34" charset="-122"/>
                <a:cs typeface="JetBrains Mono" pitchFamily="34" charset="-120"/>
              </a:rPr>
              <a:t>엔진</a:t>
            </a:r>
            <a:endParaRPr lang="en-US" sz="1500" dirty="0"/>
          </a:p>
        </p:txBody>
      </p:sp>
      <p:sp>
        <p:nvSpPr>
          <p:cNvPr id="8" name="Text 6"/>
          <p:cNvSpPr/>
          <p:nvPr/>
        </p:nvSpPr>
        <p:spPr>
          <a:xfrm>
            <a:off x="2286000" y="3503612"/>
            <a:ext cx="3618411" cy="433387"/>
          </a:xfrm>
          <a:prstGeom prst="rect">
            <a:avLst/>
          </a:prstGeom>
          <a:noFill/>
          <a:ln/>
        </p:spPr>
        <p:txBody>
          <a:bodyPr wrap="square" lIns="25400" tIns="25400" rIns="25400" bIns="25400" rtlCol="0" anchor="t">
            <a:normAutofit/>
          </a:bodyPr>
          <a:lstStyle/>
          <a:p>
            <a:pPr marL="0" indent="0" algn="l">
              <a:buNone/>
            </a:pPr>
            <a:r>
              <a:rPr lang="en-US" sz="1875" b="1" dirty="0">
                <a:solidFill>
                  <a:srgbClr val="F0EADB"/>
                </a:solidFill>
                <a:latin typeface="Noto Sans KR" pitchFamily="34" charset="0"/>
                <a:ea typeface="Noto Sans KR" pitchFamily="34" charset="-122"/>
                <a:cs typeface="Noto Sans KR" pitchFamily="34" charset="-120"/>
              </a:rPr>
              <a:t>Unity 6 · URP 17.3</a:t>
            </a:r>
            <a:endParaRPr lang="en-US" sz="1875" dirty="0"/>
          </a:p>
        </p:txBody>
      </p:sp>
      <p:sp>
        <p:nvSpPr>
          <p:cNvPr id="9" name="Text 7"/>
          <p:cNvSpPr/>
          <p:nvPr/>
        </p:nvSpPr>
        <p:spPr>
          <a:xfrm>
            <a:off x="2286000" y="3817938"/>
            <a:ext cx="2127151"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2D/3D 혼합 경량 렌더</a:t>
            </a:r>
            <a:endParaRPr lang="en-US" sz="1200" dirty="0"/>
          </a:p>
        </p:txBody>
      </p:sp>
      <p:sp>
        <p:nvSpPr>
          <p:cNvPr id="10" name="Shape 8"/>
          <p:cNvSpPr/>
          <p:nvPr/>
        </p:nvSpPr>
        <p:spPr>
          <a:xfrm>
            <a:off x="9277350" y="3313113"/>
            <a:ext cx="8096250" cy="917575"/>
          </a:xfrm>
          <a:prstGeom prst="roundRect">
            <a:avLst>
              <a:gd name="adj" fmla="val 8304"/>
            </a:avLst>
          </a:prstGeom>
          <a:solidFill>
            <a:srgbClr val="1A2236"/>
          </a:solidFill>
          <a:ln/>
        </p:spPr>
        <p:txBody>
          <a:bodyPr/>
          <a:lstStyle/>
          <a:p>
            <a:endParaRPr lang="ko-KR" altLang="en-US"/>
          </a:p>
        </p:txBody>
      </p:sp>
      <p:sp>
        <p:nvSpPr>
          <p:cNvPr id="11" name="Text 9"/>
          <p:cNvSpPr/>
          <p:nvPr/>
        </p:nvSpPr>
        <p:spPr>
          <a:xfrm>
            <a:off x="9563100" y="3644900"/>
            <a:ext cx="933450" cy="292100"/>
          </a:xfrm>
          <a:prstGeom prst="rect">
            <a:avLst/>
          </a:prstGeom>
          <a:noFill/>
          <a:ln/>
        </p:spPr>
        <p:txBody>
          <a:bodyPr wrap="square" lIns="25400" tIns="25400" rIns="25400" bIns="25400" rtlCol="0" anchor="t">
            <a:normAutofit/>
          </a:bodyPr>
          <a:lstStyle/>
          <a:p>
            <a:pPr marL="0" indent="0" algn="l">
              <a:buNone/>
            </a:pPr>
            <a:r>
              <a:rPr lang="en-US" sz="1500" dirty="0">
                <a:solidFill>
                  <a:srgbClr val="D97757"/>
                </a:solidFill>
                <a:latin typeface="JetBrains Mono" pitchFamily="34" charset="0"/>
                <a:ea typeface="JetBrains Mono" pitchFamily="34" charset="-122"/>
                <a:cs typeface="JetBrains Mono" pitchFamily="34" charset="-120"/>
              </a:rPr>
              <a:t>언어</a:t>
            </a:r>
            <a:endParaRPr lang="en-US" sz="1500" dirty="0"/>
          </a:p>
        </p:txBody>
      </p:sp>
      <p:sp>
        <p:nvSpPr>
          <p:cNvPr id="12" name="Text 10"/>
          <p:cNvSpPr/>
          <p:nvPr/>
        </p:nvSpPr>
        <p:spPr>
          <a:xfrm>
            <a:off x="10648950" y="3503613"/>
            <a:ext cx="1724858"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0EADB"/>
                </a:solidFill>
                <a:latin typeface="Noto Sans KR" pitchFamily="34" charset="0"/>
                <a:ea typeface="Noto Sans KR" pitchFamily="34" charset="-122"/>
                <a:cs typeface="Noto Sans KR" pitchFamily="34" charset="-120"/>
              </a:rPr>
              <a:t>C#</a:t>
            </a:r>
            <a:endParaRPr lang="en-US" sz="1875" dirty="0"/>
          </a:p>
        </p:txBody>
      </p:sp>
      <p:sp>
        <p:nvSpPr>
          <p:cNvPr id="13" name="Text 11"/>
          <p:cNvSpPr/>
          <p:nvPr/>
        </p:nvSpPr>
        <p:spPr>
          <a:xfrm>
            <a:off x="10648950" y="3817938"/>
            <a:ext cx="1724858"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Unity 네이티브 · 강타입</a:t>
            </a:r>
            <a:endParaRPr lang="en-US" sz="1200" dirty="0"/>
          </a:p>
        </p:txBody>
      </p:sp>
      <p:sp>
        <p:nvSpPr>
          <p:cNvPr id="14" name="Shape 12"/>
          <p:cNvSpPr/>
          <p:nvPr/>
        </p:nvSpPr>
        <p:spPr>
          <a:xfrm>
            <a:off x="914400" y="4383088"/>
            <a:ext cx="8096250" cy="917575"/>
          </a:xfrm>
          <a:prstGeom prst="roundRect">
            <a:avLst>
              <a:gd name="adj" fmla="val 8304"/>
            </a:avLst>
          </a:prstGeom>
          <a:solidFill>
            <a:srgbClr val="1A2236"/>
          </a:solidFill>
          <a:ln/>
        </p:spPr>
        <p:txBody>
          <a:bodyPr/>
          <a:lstStyle/>
          <a:p>
            <a:endParaRPr lang="ko-KR" altLang="en-US"/>
          </a:p>
        </p:txBody>
      </p:sp>
      <p:sp>
        <p:nvSpPr>
          <p:cNvPr id="15" name="Text 13"/>
          <p:cNvSpPr/>
          <p:nvPr/>
        </p:nvSpPr>
        <p:spPr>
          <a:xfrm>
            <a:off x="1200150" y="4714875"/>
            <a:ext cx="933450" cy="292100"/>
          </a:xfrm>
          <a:prstGeom prst="rect">
            <a:avLst/>
          </a:prstGeom>
          <a:noFill/>
          <a:ln/>
        </p:spPr>
        <p:txBody>
          <a:bodyPr wrap="square" lIns="25400" tIns="25400" rIns="25400" bIns="25400" rtlCol="0" anchor="t">
            <a:normAutofit/>
          </a:bodyPr>
          <a:lstStyle/>
          <a:p>
            <a:pPr marL="0" indent="0" algn="l">
              <a:buNone/>
            </a:pPr>
            <a:r>
              <a:rPr lang="en-US" sz="1500" dirty="0">
                <a:solidFill>
                  <a:srgbClr val="D97757"/>
                </a:solidFill>
                <a:latin typeface="JetBrains Mono" pitchFamily="34" charset="0"/>
                <a:ea typeface="JetBrains Mono" pitchFamily="34" charset="-122"/>
                <a:cs typeface="JetBrains Mono" pitchFamily="34" charset="-120"/>
              </a:rPr>
              <a:t>데이터</a:t>
            </a:r>
            <a:endParaRPr lang="en-US" sz="1500" dirty="0"/>
          </a:p>
        </p:txBody>
      </p:sp>
      <p:sp>
        <p:nvSpPr>
          <p:cNvPr id="16" name="Text 14"/>
          <p:cNvSpPr/>
          <p:nvPr/>
        </p:nvSpPr>
        <p:spPr>
          <a:xfrm>
            <a:off x="2286000" y="4573588"/>
            <a:ext cx="208163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0EADB"/>
                </a:solidFill>
                <a:latin typeface="Noto Sans KR" pitchFamily="34" charset="0"/>
                <a:ea typeface="Noto Sans KR" pitchFamily="34" charset="-122"/>
                <a:cs typeface="Noto Sans KR" pitchFamily="34" charset="-120"/>
              </a:rPr>
              <a:t>ScriptableObject</a:t>
            </a:r>
            <a:endParaRPr lang="en-US" sz="1875" dirty="0"/>
          </a:p>
        </p:txBody>
      </p:sp>
      <p:sp>
        <p:nvSpPr>
          <p:cNvPr id="17" name="Text 15"/>
          <p:cNvSpPr/>
          <p:nvPr/>
        </p:nvSpPr>
        <p:spPr>
          <a:xfrm>
            <a:off x="2286000" y="4887913"/>
            <a:ext cx="2081639"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Inspector 편집 · Git diff</a:t>
            </a:r>
            <a:endParaRPr lang="en-US" sz="1200" dirty="0"/>
          </a:p>
        </p:txBody>
      </p:sp>
      <p:sp>
        <p:nvSpPr>
          <p:cNvPr id="18" name="Shape 16"/>
          <p:cNvSpPr/>
          <p:nvPr/>
        </p:nvSpPr>
        <p:spPr>
          <a:xfrm>
            <a:off x="9277350" y="4383088"/>
            <a:ext cx="8096250" cy="917575"/>
          </a:xfrm>
          <a:prstGeom prst="roundRect">
            <a:avLst>
              <a:gd name="adj" fmla="val 8304"/>
            </a:avLst>
          </a:prstGeom>
          <a:solidFill>
            <a:srgbClr val="1A2236"/>
          </a:solidFill>
          <a:ln/>
        </p:spPr>
        <p:txBody>
          <a:bodyPr/>
          <a:lstStyle/>
          <a:p>
            <a:endParaRPr lang="ko-KR" altLang="en-US"/>
          </a:p>
        </p:txBody>
      </p:sp>
      <p:sp>
        <p:nvSpPr>
          <p:cNvPr id="19" name="Text 17"/>
          <p:cNvSpPr/>
          <p:nvPr/>
        </p:nvSpPr>
        <p:spPr>
          <a:xfrm>
            <a:off x="9563100" y="4714875"/>
            <a:ext cx="933450" cy="292100"/>
          </a:xfrm>
          <a:prstGeom prst="rect">
            <a:avLst/>
          </a:prstGeom>
          <a:noFill/>
          <a:ln/>
        </p:spPr>
        <p:txBody>
          <a:bodyPr wrap="square" lIns="25400" tIns="25400" rIns="25400" bIns="25400" rtlCol="0" anchor="t">
            <a:normAutofit/>
          </a:bodyPr>
          <a:lstStyle/>
          <a:p>
            <a:pPr marL="0" indent="0" algn="l">
              <a:buNone/>
            </a:pPr>
            <a:r>
              <a:rPr lang="en-US" sz="1500" dirty="0">
                <a:solidFill>
                  <a:srgbClr val="D97757"/>
                </a:solidFill>
                <a:latin typeface="JetBrains Mono" pitchFamily="34" charset="0"/>
                <a:ea typeface="JetBrains Mono" pitchFamily="34" charset="-122"/>
                <a:cs typeface="JetBrains Mono" pitchFamily="34" charset="-120"/>
              </a:rPr>
              <a:t>저장</a:t>
            </a:r>
            <a:endParaRPr lang="en-US" sz="1500" dirty="0"/>
          </a:p>
        </p:txBody>
      </p:sp>
      <p:sp>
        <p:nvSpPr>
          <p:cNvPr id="20" name="Text 18"/>
          <p:cNvSpPr/>
          <p:nvPr/>
        </p:nvSpPr>
        <p:spPr>
          <a:xfrm>
            <a:off x="10648950" y="4573588"/>
            <a:ext cx="21972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0EADB"/>
                </a:solidFill>
                <a:latin typeface="Noto Sans KR" pitchFamily="34" charset="0"/>
                <a:ea typeface="Noto Sans KR" pitchFamily="34" charset="-122"/>
                <a:cs typeface="Noto Sans KR" pitchFamily="34" charset="-120"/>
              </a:rPr>
              <a:t>Newtonsoft JSON</a:t>
            </a:r>
            <a:endParaRPr lang="en-US" sz="1875" dirty="0"/>
          </a:p>
        </p:txBody>
      </p:sp>
      <p:sp>
        <p:nvSpPr>
          <p:cNvPr id="21" name="Text 19"/>
          <p:cNvSpPr/>
          <p:nvPr/>
        </p:nvSpPr>
        <p:spPr>
          <a:xfrm>
            <a:off x="10648950" y="4887913"/>
            <a:ext cx="2197219"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3슬롯 로컬 저장</a:t>
            </a:r>
            <a:endParaRPr lang="en-US" sz="1200" dirty="0"/>
          </a:p>
        </p:txBody>
      </p:sp>
      <p:sp>
        <p:nvSpPr>
          <p:cNvPr id="22" name="Shape 20"/>
          <p:cNvSpPr/>
          <p:nvPr/>
        </p:nvSpPr>
        <p:spPr>
          <a:xfrm>
            <a:off x="914400" y="5453063"/>
            <a:ext cx="8096250" cy="917575"/>
          </a:xfrm>
          <a:prstGeom prst="roundRect">
            <a:avLst>
              <a:gd name="adj" fmla="val 8304"/>
            </a:avLst>
          </a:prstGeom>
          <a:solidFill>
            <a:srgbClr val="1A2236"/>
          </a:solidFill>
          <a:ln/>
        </p:spPr>
        <p:txBody>
          <a:bodyPr/>
          <a:lstStyle/>
          <a:p>
            <a:endParaRPr lang="ko-KR" altLang="en-US"/>
          </a:p>
        </p:txBody>
      </p:sp>
      <p:sp>
        <p:nvSpPr>
          <p:cNvPr id="23" name="Text 21"/>
          <p:cNvSpPr/>
          <p:nvPr/>
        </p:nvSpPr>
        <p:spPr>
          <a:xfrm>
            <a:off x="1200150" y="5784850"/>
            <a:ext cx="933450" cy="292100"/>
          </a:xfrm>
          <a:prstGeom prst="rect">
            <a:avLst/>
          </a:prstGeom>
          <a:noFill/>
          <a:ln/>
        </p:spPr>
        <p:txBody>
          <a:bodyPr wrap="square" lIns="25400" tIns="25400" rIns="25400" bIns="25400" rtlCol="0" anchor="t">
            <a:normAutofit/>
          </a:bodyPr>
          <a:lstStyle/>
          <a:p>
            <a:pPr marL="0" indent="0" algn="l">
              <a:buNone/>
            </a:pPr>
            <a:r>
              <a:rPr lang="en-US" sz="1500" dirty="0">
                <a:solidFill>
                  <a:srgbClr val="D97757"/>
                </a:solidFill>
                <a:latin typeface="JetBrains Mono" pitchFamily="34" charset="0"/>
                <a:ea typeface="JetBrains Mono" pitchFamily="34" charset="-122"/>
                <a:cs typeface="JetBrains Mono" pitchFamily="34" charset="-120"/>
              </a:rPr>
              <a:t>입력</a:t>
            </a:r>
            <a:endParaRPr lang="en-US" sz="1500" dirty="0"/>
          </a:p>
        </p:txBody>
      </p:sp>
      <p:sp>
        <p:nvSpPr>
          <p:cNvPr id="24" name="Text 22"/>
          <p:cNvSpPr/>
          <p:nvPr/>
        </p:nvSpPr>
        <p:spPr>
          <a:xfrm>
            <a:off x="2286000" y="5643563"/>
            <a:ext cx="2239566"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0EADB"/>
                </a:solidFill>
                <a:latin typeface="Noto Sans KR" pitchFamily="34" charset="0"/>
                <a:ea typeface="Noto Sans KR" pitchFamily="34" charset="-122"/>
                <a:cs typeface="Noto Sans KR" pitchFamily="34" charset="-120"/>
              </a:rPr>
              <a:t>New Input System</a:t>
            </a:r>
            <a:endParaRPr lang="en-US" sz="1875" dirty="0"/>
          </a:p>
        </p:txBody>
      </p:sp>
      <p:sp>
        <p:nvSpPr>
          <p:cNvPr id="25" name="Text 23"/>
          <p:cNvSpPr/>
          <p:nvPr/>
        </p:nvSpPr>
        <p:spPr>
          <a:xfrm>
            <a:off x="2286000" y="5957888"/>
            <a:ext cx="2239566"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확장성</a:t>
            </a:r>
            <a:endParaRPr lang="en-US" sz="1200" dirty="0"/>
          </a:p>
        </p:txBody>
      </p:sp>
      <p:sp>
        <p:nvSpPr>
          <p:cNvPr id="26" name="Shape 24"/>
          <p:cNvSpPr/>
          <p:nvPr/>
        </p:nvSpPr>
        <p:spPr>
          <a:xfrm>
            <a:off x="9277350" y="5453063"/>
            <a:ext cx="8096250" cy="917575"/>
          </a:xfrm>
          <a:prstGeom prst="roundRect">
            <a:avLst>
              <a:gd name="adj" fmla="val 8304"/>
            </a:avLst>
          </a:prstGeom>
          <a:solidFill>
            <a:srgbClr val="1A2236"/>
          </a:solidFill>
          <a:ln/>
        </p:spPr>
        <p:txBody>
          <a:bodyPr/>
          <a:lstStyle/>
          <a:p>
            <a:endParaRPr lang="ko-KR" altLang="en-US"/>
          </a:p>
        </p:txBody>
      </p:sp>
      <p:sp>
        <p:nvSpPr>
          <p:cNvPr id="27" name="Text 25"/>
          <p:cNvSpPr/>
          <p:nvPr/>
        </p:nvSpPr>
        <p:spPr>
          <a:xfrm>
            <a:off x="9563100" y="5784850"/>
            <a:ext cx="933450" cy="292100"/>
          </a:xfrm>
          <a:prstGeom prst="rect">
            <a:avLst/>
          </a:prstGeom>
          <a:noFill/>
          <a:ln/>
        </p:spPr>
        <p:txBody>
          <a:bodyPr wrap="square" lIns="25400" tIns="25400" rIns="25400" bIns="25400" rtlCol="0" anchor="t">
            <a:normAutofit/>
          </a:bodyPr>
          <a:lstStyle/>
          <a:p>
            <a:pPr marL="0" indent="0" algn="l">
              <a:buNone/>
            </a:pPr>
            <a:r>
              <a:rPr lang="en-US" sz="1500" dirty="0">
                <a:solidFill>
                  <a:srgbClr val="D97757"/>
                </a:solidFill>
                <a:latin typeface="JetBrains Mono" pitchFamily="34" charset="0"/>
                <a:ea typeface="JetBrains Mono" pitchFamily="34" charset="-122"/>
                <a:cs typeface="JetBrains Mono" pitchFamily="34" charset="-120"/>
              </a:rPr>
              <a:t>AI</a:t>
            </a:r>
            <a:endParaRPr lang="en-US" sz="1500" dirty="0"/>
          </a:p>
        </p:txBody>
      </p:sp>
      <p:sp>
        <p:nvSpPr>
          <p:cNvPr id="28" name="Text 26"/>
          <p:cNvSpPr/>
          <p:nvPr/>
        </p:nvSpPr>
        <p:spPr>
          <a:xfrm>
            <a:off x="10648950" y="5643563"/>
            <a:ext cx="1472416"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0EADB"/>
                </a:solidFill>
                <a:latin typeface="Noto Sans KR" pitchFamily="34" charset="0"/>
                <a:ea typeface="Noto Sans KR" pitchFamily="34" charset="-122"/>
                <a:cs typeface="Noto Sans KR" pitchFamily="34" charset="-120"/>
              </a:rPr>
              <a:t>AI NavMesh</a:t>
            </a:r>
            <a:endParaRPr lang="en-US" sz="1875" dirty="0"/>
          </a:p>
        </p:txBody>
      </p:sp>
      <p:sp>
        <p:nvSpPr>
          <p:cNvPr id="29" name="Text 27"/>
          <p:cNvSpPr/>
          <p:nvPr/>
        </p:nvSpPr>
        <p:spPr>
          <a:xfrm>
            <a:off x="10648950" y="5957888"/>
            <a:ext cx="1472416"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적 이동 경로</a:t>
            </a:r>
            <a:endParaRPr lang="en-US" sz="1200" dirty="0"/>
          </a:p>
        </p:txBody>
      </p:sp>
      <p:sp>
        <p:nvSpPr>
          <p:cNvPr id="30" name="Shape 28"/>
          <p:cNvSpPr/>
          <p:nvPr/>
        </p:nvSpPr>
        <p:spPr>
          <a:xfrm>
            <a:off x="914400" y="6523038"/>
            <a:ext cx="8096250" cy="917575"/>
          </a:xfrm>
          <a:prstGeom prst="roundRect">
            <a:avLst>
              <a:gd name="adj" fmla="val 8304"/>
            </a:avLst>
          </a:prstGeom>
          <a:solidFill>
            <a:srgbClr val="1A2236"/>
          </a:solidFill>
          <a:ln/>
        </p:spPr>
        <p:txBody>
          <a:bodyPr/>
          <a:lstStyle/>
          <a:p>
            <a:endParaRPr lang="ko-KR" altLang="en-US"/>
          </a:p>
        </p:txBody>
      </p:sp>
      <p:sp>
        <p:nvSpPr>
          <p:cNvPr id="31" name="Text 29"/>
          <p:cNvSpPr/>
          <p:nvPr/>
        </p:nvSpPr>
        <p:spPr>
          <a:xfrm>
            <a:off x="1200150" y="6854825"/>
            <a:ext cx="933450" cy="292100"/>
          </a:xfrm>
          <a:prstGeom prst="rect">
            <a:avLst/>
          </a:prstGeom>
          <a:noFill/>
          <a:ln/>
        </p:spPr>
        <p:txBody>
          <a:bodyPr wrap="square" lIns="25400" tIns="25400" rIns="25400" bIns="25400" rtlCol="0" anchor="t">
            <a:normAutofit/>
          </a:bodyPr>
          <a:lstStyle/>
          <a:p>
            <a:pPr marL="0" indent="0" algn="l">
              <a:buNone/>
            </a:pPr>
            <a:r>
              <a:rPr lang="en-US" sz="1500" dirty="0">
                <a:solidFill>
                  <a:srgbClr val="D97757"/>
                </a:solidFill>
                <a:latin typeface="JetBrains Mono" pitchFamily="34" charset="0"/>
                <a:ea typeface="JetBrains Mono" pitchFamily="34" charset="-122"/>
                <a:cs typeface="JetBrains Mono" pitchFamily="34" charset="-120"/>
              </a:rPr>
              <a:t>테스트</a:t>
            </a:r>
            <a:endParaRPr lang="en-US" sz="1500" dirty="0"/>
          </a:p>
        </p:txBody>
      </p:sp>
      <p:sp>
        <p:nvSpPr>
          <p:cNvPr id="32" name="Text 30"/>
          <p:cNvSpPr/>
          <p:nvPr/>
        </p:nvSpPr>
        <p:spPr>
          <a:xfrm>
            <a:off x="2286000" y="6713538"/>
            <a:ext cx="2693591"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0EADB"/>
                </a:solidFill>
                <a:latin typeface="Noto Sans KR" pitchFamily="34" charset="0"/>
                <a:ea typeface="Noto Sans KR" pitchFamily="34" charset="-122"/>
                <a:cs typeface="Noto Sans KR" pitchFamily="34" charset="-120"/>
              </a:rPr>
              <a:t>Unity Test Framework</a:t>
            </a:r>
            <a:endParaRPr lang="en-US" sz="1875" dirty="0"/>
          </a:p>
        </p:txBody>
      </p:sp>
      <p:sp>
        <p:nvSpPr>
          <p:cNvPr id="33" name="Text 31"/>
          <p:cNvSpPr/>
          <p:nvPr/>
        </p:nvSpPr>
        <p:spPr>
          <a:xfrm>
            <a:off x="2286000" y="7027863"/>
            <a:ext cx="2693591"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유닛 · 통합</a:t>
            </a:r>
            <a:endParaRPr lang="en-US" sz="1200" dirty="0"/>
          </a:p>
        </p:txBody>
      </p:sp>
      <p:sp>
        <p:nvSpPr>
          <p:cNvPr id="34" name="Shape 32"/>
          <p:cNvSpPr/>
          <p:nvPr/>
        </p:nvSpPr>
        <p:spPr>
          <a:xfrm>
            <a:off x="9277350" y="6523038"/>
            <a:ext cx="8096250" cy="917575"/>
          </a:xfrm>
          <a:prstGeom prst="roundRect">
            <a:avLst>
              <a:gd name="adj" fmla="val 8304"/>
            </a:avLst>
          </a:prstGeom>
          <a:solidFill>
            <a:srgbClr val="1A2236"/>
          </a:solidFill>
          <a:ln/>
        </p:spPr>
        <p:txBody>
          <a:bodyPr/>
          <a:lstStyle/>
          <a:p>
            <a:endParaRPr lang="ko-KR" altLang="en-US"/>
          </a:p>
        </p:txBody>
      </p:sp>
      <p:sp>
        <p:nvSpPr>
          <p:cNvPr id="35" name="Text 33"/>
          <p:cNvSpPr/>
          <p:nvPr/>
        </p:nvSpPr>
        <p:spPr>
          <a:xfrm>
            <a:off x="9563100" y="6854825"/>
            <a:ext cx="933450" cy="292100"/>
          </a:xfrm>
          <a:prstGeom prst="rect">
            <a:avLst/>
          </a:prstGeom>
          <a:noFill/>
          <a:ln/>
        </p:spPr>
        <p:txBody>
          <a:bodyPr wrap="square" lIns="25400" tIns="25400" rIns="25400" bIns="25400" rtlCol="0" anchor="t">
            <a:normAutofit/>
          </a:bodyPr>
          <a:lstStyle/>
          <a:p>
            <a:pPr marL="0" indent="0" algn="l">
              <a:buNone/>
            </a:pPr>
            <a:r>
              <a:rPr lang="en-US" sz="1500" dirty="0">
                <a:solidFill>
                  <a:srgbClr val="D97757"/>
                </a:solidFill>
                <a:latin typeface="JetBrains Mono" pitchFamily="34" charset="0"/>
                <a:ea typeface="JetBrains Mono" pitchFamily="34" charset="-122"/>
                <a:cs typeface="JetBrains Mono" pitchFamily="34" charset="-120"/>
              </a:rPr>
              <a:t>통신</a:t>
            </a:r>
            <a:endParaRPr lang="en-US" sz="1500" dirty="0"/>
          </a:p>
        </p:txBody>
      </p:sp>
      <p:sp>
        <p:nvSpPr>
          <p:cNvPr id="36" name="Text 34"/>
          <p:cNvSpPr/>
          <p:nvPr/>
        </p:nvSpPr>
        <p:spPr>
          <a:xfrm>
            <a:off x="10648950" y="6713538"/>
            <a:ext cx="1885623"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0EADB"/>
                </a:solidFill>
                <a:latin typeface="Noto Sans KR" pitchFamily="34" charset="0"/>
                <a:ea typeface="Noto Sans KR" pitchFamily="34" charset="-122"/>
                <a:cs typeface="Noto Sans KR" pitchFamily="34" charset="-120"/>
              </a:rPr>
              <a:t>EventBus (정적)</a:t>
            </a:r>
            <a:endParaRPr lang="en-US" sz="1875" dirty="0"/>
          </a:p>
        </p:txBody>
      </p:sp>
      <p:sp>
        <p:nvSpPr>
          <p:cNvPr id="37" name="Text 35"/>
          <p:cNvSpPr/>
          <p:nvPr/>
        </p:nvSpPr>
        <p:spPr>
          <a:xfrm>
            <a:off x="10648950" y="7027863"/>
            <a:ext cx="1885623"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느슨한 결합</a:t>
            </a:r>
            <a:endParaRPr lang="en-US" sz="1200" dirty="0"/>
          </a:p>
        </p:txBody>
      </p:sp>
      <p:sp>
        <p:nvSpPr>
          <p:cNvPr id="51" name="Shape 49"/>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53" name="Text 0">
            <a:extLst>
              <a:ext uri="{FF2B5EF4-FFF2-40B4-BE49-F238E27FC236}">
                <a16:creationId xmlns:a16="http://schemas.microsoft.com/office/drawing/2014/main" id="{3BFC1F48-AE94-D92D-CF9D-1CAFB053B76C}"/>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12 / 22</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570490" y="609600"/>
            <a:ext cx="333817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APPLIED TECH · AI TOOLCHAIN</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lnSpcReduction="10000"/>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00150"/>
            <a:ext cx="5328027" cy="603250"/>
          </a:xfrm>
          <a:prstGeom prst="rect">
            <a:avLst/>
          </a:prstGeom>
          <a:noFill/>
          <a:ln/>
        </p:spPr>
        <p:txBody>
          <a:bodyPr wrap="square" lIns="25400" tIns="25400" rIns="25400" bIns="25400" rtlCol="0" anchor="t">
            <a:normAutofit lnSpcReduction="10000"/>
          </a:bodyPr>
          <a:lstStyle/>
          <a:p>
            <a:pPr marL="0" indent="0" algn="l">
              <a:buNone/>
            </a:pPr>
            <a:r>
              <a:rPr lang="en-US" sz="3750" b="1" kern="0" spc="-75" dirty="0">
                <a:solidFill>
                  <a:srgbClr val="F0EADB"/>
                </a:solidFill>
                <a:latin typeface="Noto Sans KR" pitchFamily="34" charset="0"/>
                <a:ea typeface="Noto Sans KR" pitchFamily="34" charset="-122"/>
                <a:cs typeface="Noto Sans KR" pitchFamily="34" charset="-120"/>
              </a:rPr>
              <a:t>적용 기술 — </a:t>
            </a:r>
            <a:r>
              <a:rPr lang="en-US" sz="2250" b="1" kern="0" spc="-75" dirty="0">
                <a:solidFill>
                  <a:srgbClr val="8A9AB8"/>
                </a:solidFill>
                <a:latin typeface="Noto Sans KR" pitchFamily="34" charset="0"/>
                <a:ea typeface="Noto Sans KR" pitchFamily="34" charset="-122"/>
                <a:cs typeface="Noto Sans KR" pitchFamily="34" charset="-120"/>
              </a:rPr>
              <a:t>AI 페어 개발 도구체인</a:t>
            </a:r>
            <a:endParaRPr lang="en-US" sz="3750" dirty="0"/>
          </a:p>
        </p:txBody>
      </p:sp>
      <p:sp>
        <p:nvSpPr>
          <p:cNvPr id="6" name="Text 4"/>
          <p:cNvSpPr/>
          <p:nvPr/>
        </p:nvSpPr>
        <p:spPr>
          <a:xfrm>
            <a:off x="14672866" y="1549400"/>
            <a:ext cx="2970808" cy="254000"/>
          </a:xfrm>
          <a:prstGeom prst="rect">
            <a:avLst/>
          </a:prstGeom>
          <a:noFill/>
          <a:ln/>
        </p:spPr>
        <p:txBody>
          <a:bodyPr wrap="square" lIns="25400" tIns="25400" rIns="25400" bIns="25400" rtlCol="0" anchor="t">
            <a:normAutofit/>
          </a:bodyPr>
          <a:lstStyle/>
          <a:p>
            <a:pPr marL="0" indent="0" algn="l">
              <a:buNone/>
            </a:pPr>
            <a:r>
              <a:rPr lang="en-US" sz="1275" dirty="0">
                <a:solidFill>
                  <a:srgbClr val="8A9AB8"/>
                </a:solidFill>
                <a:latin typeface="JetBrains Mono" pitchFamily="34" charset="0"/>
                <a:ea typeface="JetBrains Mono" pitchFamily="34" charset="-122"/>
                <a:cs typeface="JetBrains Mono" pitchFamily="34" charset="-120"/>
              </a:rPr>
              <a:t>Claude Code 스킬 · Unity 연결</a:t>
            </a:r>
            <a:endParaRPr lang="en-US" sz="1275" dirty="0"/>
          </a:p>
        </p:txBody>
      </p:sp>
      <p:sp>
        <p:nvSpPr>
          <p:cNvPr id="7" name="Shape 5"/>
          <p:cNvSpPr/>
          <p:nvPr/>
        </p:nvSpPr>
        <p:spPr>
          <a:xfrm>
            <a:off x="914400" y="3621088"/>
            <a:ext cx="16459200" cy="962025"/>
          </a:xfrm>
          <a:prstGeom prst="roundRect">
            <a:avLst>
              <a:gd name="adj" fmla="val 7921"/>
            </a:avLst>
          </a:prstGeom>
          <a:solidFill>
            <a:srgbClr val="1A2236"/>
          </a:solidFill>
          <a:ln/>
        </p:spPr>
        <p:txBody>
          <a:bodyPr/>
          <a:lstStyle/>
          <a:p>
            <a:endParaRPr lang="ko-KR" altLang="en-US"/>
          </a:p>
        </p:txBody>
      </p:sp>
      <p:sp>
        <p:nvSpPr>
          <p:cNvPr id="8" name="Shape 6"/>
          <p:cNvSpPr/>
          <p:nvPr/>
        </p:nvSpPr>
        <p:spPr>
          <a:xfrm>
            <a:off x="914400" y="3621088"/>
            <a:ext cx="38100" cy="962025"/>
          </a:xfrm>
          <a:prstGeom prst="rect">
            <a:avLst/>
          </a:prstGeom>
          <a:solidFill>
            <a:srgbClr val="D97757"/>
          </a:solidFill>
          <a:ln/>
        </p:spPr>
        <p:txBody>
          <a:bodyPr/>
          <a:lstStyle/>
          <a:p>
            <a:endParaRPr lang="ko-KR" altLang="en-US"/>
          </a:p>
        </p:txBody>
      </p:sp>
      <p:sp>
        <p:nvSpPr>
          <p:cNvPr id="9" name="Text 7"/>
          <p:cNvSpPr/>
          <p:nvPr/>
        </p:nvSpPr>
        <p:spPr>
          <a:xfrm>
            <a:off x="1238250" y="3924300"/>
            <a:ext cx="400050" cy="393700"/>
          </a:xfrm>
          <a:prstGeom prst="rect">
            <a:avLst/>
          </a:prstGeom>
          <a:noFill/>
          <a:ln/>
        </p:spPr>
        <p:txBody>
          <a:bodyPr wrap="square" lIns="25400" tIns="25400" rIns="25400" bIns="25400" rtlCol="0" anchor="t">
            <a:normAutofit/>
          </a:bodyPr>
          <a:lstStyle/>
          <a:p>
            <a:pPr marL="0" indent="0" algn="l">
              <a:buNone/>
            </a:pPr>
            <a:r>
              <a:rPr lang="en-US" sz="2100" b="1" dirty="0">
                <a:solidFill>
                  <a:srgbClr val="D97757"/>
                </a:solidFill>
                <a:latin typeface="JetBrains Mono" pitchFamily="34" charset="0"/>
                <a:ea typeface="JetBrains Mono" pitchFamily="34" charset="-122"/>
                <a:cs typeface="JetBrains Mono" pitchFamily="34" charset="-120"/>
              </a:rPr>
              <a:t>01</a:t>
            </a:r>
            <a:endParaRPr lang="en-US" sz="2100" dirty="0"/>
          </a:p>
        </p:txBody>
      </p:sp>
      <p:sp>
        <p:nvSpPr>
          <p:cNvPr id="10" name="Text 8"/>
          <p:cNvSpPr/>
          <p:nvPr/>
        </p:nvSpPr>
        <p:spPr>
          <a:xfrm>
            <a:off x="1828800" y="3856038"/>
            <a:ext cx="2933700" cy="3302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0EADB"/>
                </a:solidFill>
                <a:latin typeface="Noto Sans KR" pitchFamily="34" charset="0"/>
                <a:ea typeface="Noto Sans KR" pitchFamily="34" charset="-122"/>
                <a:cs typeface="Noto Sans KR" pitchFamily="34" charset="-120"/>
              </a:rPr>
              <a:t>Superpowers</a:t>
            </a:r>
            <a:endParaRPr lang="en-US" sz="1950" dirty="0"/>
          </a:p>
        </p:txBody>
      </p:sp>
      <p:sp>
        <p:nvSpPr>
          <p:cNvPr id="11" name="Text 9"/>
          <p:cNvSpPr/>
          <p:nvPr/>
        </p:nvSpPr>
        <p:spPr>
          <a:xfrm>
            <a:off x="1828800" y="4176712"/>
            <a:ext cx="2933700" cy="209550"/>
          </a:xfrm>
          <a:prstGeom prst="rect">
            <a:avLst/>
          </a:prstGeom>
          <a:noFill/>
          <a:ln/>
        </p:spPr>
        <p:txBody>
          <a:bodyPr wrap="square" lIns="25400" tIns="25400" rIns="25400" bIns="25400" rtlCol="0" anchor="t">
            <a:normAutofit lnSpcReduction="10000"/>
          </a:bodyPr>
          <a:lstStyle/>
          <a:p>
            <a:pPr marL="0" indent="0" algn="l">
              <a:buNone/>
            </a:pPr>
            <a:r>
              <a:rPr lang="en-US" sz="1050" dirty="0">
                <a:solidFill>
                  <a:srgbClr val="8A9AB8"/>
                </a:solidFill>
                <a:latin typeface="JetBrains Mono" pitchFamily="34" charset="0"/>
                <a:ea typeface="JetBrains Mono" pitchFamily="34" charset="-122"/>
                <a:cs typeface="JetBrains Mono" pitchFamily="34" charset="-120"/>
              </a:rPr>
              <a:t>obra/superpowers</a:t>
            </a:r>
            <a:endParaRPr lang="en-US" sz="1050" dirty="0"/>
          </a:p>
        </p:txBody>
      </p:sp>
      <p:sp>
        <p:nvSpPr>
          <p:cNvPr id="12" name="Shape 10"/>
          <p:cNvSpPr/>
          <p:nvPr/>
        </p:nvSpPr>
        <p:spPr>
          <a:xfrm>
            <a:off x="4762500" y="3956050"/>
            <a:ext cx="1123950" cy="292100"/>
          </a:xfrm>
          <a:prstGeom prst="roundRect">
            <a:avLst>
              <a:gd name="adj" fmla="val 45652"/>
            </a:avLst>
          </a:prstGeom>
          <a:solidFill>
            <a:srgbClr val="232D42"/>
          </a:solidFill>
          <a:ln w="6350">
            <a:solidFill>
              <a:srgbClr val="3A2A26"/>
            </a:solidFill>
            <a:prstDash val="solid"/>
          </a:ln>
        </p:spPr>
        <p:txBody>
          <a:bodyPr/>
          <a:lstStyle/>
          <a:p>
            <a:endParaRPr lang="ko-KR" altLang="en-US"/>
          </a:p>
        </p:txBody>
      </p:sp>
      <p:sp>
        <p:nvSpPr>
          <p:cNvPr id="13" name="Text 11"/>
          <p:cNvSpPr/>
          <p:nvPr/>
        </p:nvSpPr>
        <p:spPr>
          <a:xfrm>
            <a:off x="4845050" y="4019550"/>
            <a:ext cx="958850" cy="203200"/>
          </a:xfrm>
          <a:prstGeom prst="rect">
            <a:avLst/>
          </a:prstGeom>
          <a:noFill/>
          <a:ln/>
        </p:spPr>
        <p:txBody>
          <a:bodyPr wrap="square" lIns="25400" tIns="25400" rIns="25400" bIns="25400" rtlCol="0" anchor="t">
            <a:normAutofit/>
          </a:bodyPr>
          <a:lstStyle/>
          <a:p>
            <a:pPr marL="0" indent="0" algn="ctr">
              <a:buNone/>
            </a:pPr>
            <a:r>
              <a:rPr lang="en-US" sz="975" dirty="0">
                <a:solidFill>
                  <a:srgbClr val="D97757"/>
                </a:solidFill>
                <a:latin typeface="JetBrains Mono" pitchFamily="34" charset="0"/>
                <a:ea typeface="JetBrains Mono" pitchFamily="34" charset="-122"/>
                <a:cs typeface="JetBrains Mono" pitchFamily="34" charset="-120"/>
              </a:rPr>
              <a:t>개발 방법론</a:t>
            </a:r>
            <a:endParaRPr lang="en-US" sz="975" dirty="0"/>
          </a:p>
        </p:txBody>
      </p:sp>
      <p:sp>
        <p:nvSpPr>
          <p:cNvPr id="14" name="Text 12"/>
          <p:cNvSpPr/>
          <p:nvPr/>
        </p:nvSpPr>
        <p:spPr>
          <a:xfrm>
            <a:off x="6153150" y="3830638"/>
            <a:ext cx="11262741" cy="581025"/>
          </a:xfrm>
          <a:prstGeom prst="rect">
            <a:avLst/>
          </a:prstGeom>
          <a:noFill/>
          <a:ln/>
        </p:spPr>
        <p:txBody>
          <a:bodyPr wrap="square" lIns="25400" tIns="25400" rIns="25400" bIns="25400" rtlCol="0" anchor="t">
            <a:normAutofit/>
          </a:bodyPr>
          <a:lstStyle/>
          <a:p>
            <a:pPr marL="0" indent="0" algn="l">
              <a:lnSpc>
                <a:spcPct val="150000"/>
              </a:lnSpc>
              <a:buNone/>
            </a:pPr>
            <a:r>
              <a:rPr lang="en-US" sz="1425" dirty="0">
                <a:solidFill>
                  <a:srgbClr val="C2CCDC"/>
                </a:solidFill>
                <a:latin typeface="Noto Sans KR" pitchFamily="34" charset="0"/>
                <a:ea typeface="Noto Sans KR" pitchFamily="34" charset="-122"/>
                <a:cs typeface="Noto Sans KR" pitchFamily="34" charset="-120"/>
              </a:rPr>
              <a:t>브레인스토밍 → 계획 → TDD 구현 → 코드 리뷰 → 마무리를 자동 강제하는 오픈소스 스킬 프레임워크. </a:t>
            </a:r>
            <a:r>
              <a:rPr lang="en-US" sz="1425" dirty="0">
                <a:solidFill>
                  <a:srgbClr val="F0EADB"/>
                </a:solidFill>
                <a:latin typeface="Noto Sans KR" pitchFamily="34" charset="0"/>
                <a:ea typeface="Noto Sans KR" pitchFamily="34" charset="-122"/>
                <a:cs typeface="Noto Sans KR" pitchFamily="34" charset="-120"/>
              </a:rPr>
              <a:t>코드 전에 설계·테스트를 먼저 </a:t>
            </a:r>
            <a:r>
              <a:rPr lang="en-US" sz="1425" dirty="0">
                <a:solidFill>
                  <a:srgbClr val="C2CCDC"/>
                </a:solidFill>
                <a:latin typeface="Noto Sans KR" pitchFamily="34" charset="0"/>
                <a:ea typeface="Noto Sans KR" pitchFamily="34" charset="-122"/>
                <a:cs typeface="Noto Sans KR" pitchFamily="34" charset="-120"/>
              </a:rPr>
              <a:t>하도록 규율.</a:t>
            </a:r>
            <a:endParaRPr lang="en-US" sz="1425" dirty="0"/>
          </a:p>
        </p:txBody>
      </p:sp>
      <p:sp>
        <p:nvSpPr>
          <p:cNvPr id="15" name="Shape 13"/>
          <p:cNvSpPr/>
          <p:nvPr/>
        </p:nvSpPr>
        <p:spPr>
          <a:xfrm>
            <a:off x="914400" y="4716463"/>
            <a:ext cx="16459200" cy="962025"/>
          </a:xfrm>
          <a:prstGeom prst="roundRect">
            <a:avLst>
              <a:gd name="adj" fmla="val 7921"/>
            </a:avLst>
          </a:prstGeom>
          <a:solidFill>
            <a:srgbClr val="1A2236"/>
          </a:solidFill>
          <a:ln/>
        </p:spPr>
        <p:txBody>
          <a:bodyPr/>
          <a:lstStyle/>
          <a:p>
            <a:endParaRPr lang="ko-KR" altLang="en-US"/>
          </a:p>
        </p:txBody>
      </p:sp>
      <p:sp>
        <p:nvSpPr>
          <p:cNvPr id="16" name="Shape 14"/>
          <p:cNvSpPr/>
          <p:nvPr/>
        </p:nvSpPr>
        <p:spPr>
          <a:xfrm>
            <a:off x="914400" y="4716463"/>
            <a:ext cx="38100" cy="962025"/>
          </a:xfrm>
          <a:prstGeom prst="rect">
            <a:avLst/>
          </a:prstGeom>
          <a:solidFill>
            <a:srgbClr val="D97757"/>
          </a:solidFill>
          <a:ln/>
        </p:spPr>
        <p:txBody>
          <a:bodyPr/>
          <a:lstStyle/>
          <a:p>
            <a:endParaRPr lang="ko-KR" altLang="en-US"/>
          </a:p>
        </p:txBody>
      </p:sp>
      <p:sp>
        <p:nvSpPr>
          <p:cNvPr id="17" name="Text 15"/>
          <p:cNvSpPr/>
          <p:nvPr/>
        </p:nvSpPr>
        <p:spPr>
          <a:xfrm>
            <a:off x="1238250" y="5019675"/>
            <a:ext cx="400050" cy="393700"/>
          </a:xfrm>
          <a:prstGeom prst="rect">
            <a:avLst/>
          </a:prstGeom>
          <a:noFill/>
          <a:ln/>
        </p:spPr>
        <p:txBody>
          <a:bodyPr wrap="square" lIns="25400" tIns="25400" rIns="25400" bIns="25400" rtlCol="0" anchor="t">
            <a:normAutofit/>
          </a:bodyPr>
          <a:lstStyle/>
          <a:p>
            <a:pPr marL="0" indent="0" algn="l">
              <a:buNone/>
            </a:pPr>
            <a:r>
              <a:rPr lang="en-US" sz="2100" b="1" dirty="0">
                <a:solidFill>
                  <a:srgbClr val="D97757"/>
                </a:solidFill>
                <a:latin typeface="JetBrains Mono" pitchFamily="34" charset="0"/>
                <a:ea typeface="JetBrains Mono" pitchFamily="34" charset="-122"/>
                <a:cs typeface="JetBrains Mono" pitchFamily="34" charset="-120"/>
              </a:rPr>
              <a:t>02</a:t>
            </a:r>
            <a:endParaRPr lang="en-US" sz="2100" dirty="0"/>
          </a:p>
        </p:txBody>
      </p:sp>
      <p:sp>
        <p:nvSpPr>
          <p:cNvPr id="18" name="Text 16"/>
          <p:cNvSpPr/>
          <p:nvPr/>
        </p:nvSpPr>
        <p:spPr>
          <a:xfrm>
            <a:off x="1828800" y="4951413"/>
            <a:ext cx="2933700" cy="3302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0EADB"/>
                </a:solidFill>
                <a:latin typeface="Noto Sans KR" pitchFamily="34" charset="0"/>
                <a:ea typeface="Noto Sans KR" pitchFamily="34" charset="-122"/>
                <a:cs typeface="Noto Sans KR" pitchFamily="34" charset="-120"/>
              </a:rPr>
              <a:t>Agent Skills</a:t>
            </a:r>
            <a:endParaRPr lang="en-US" sz="1950" dirty="0"/>
          </a:p>
        </p:txBody>
      </p:sp>
      <p:sp>
        <p:nvSpPr>
          <p:cNvPr id="19" name="Text 17"/>
          <p:cNvSpPr/>
          <p:nvPr/>
        </p:nvSpPr>
        <p:spPr>
          <a:xfrm>
            <a:off x="1828800" y="5272088"/>
            <a:ext cx="2933700" cy="209550"/>
          </a:xfrm>
          <a:prstGeom prst="rect">
            <a:avLst/>
          </a:prstGeom>
          <a:noFill/>
          <a:ln/>
        </p:spPr>
        <p:txBody>
          <a:bodyPr wrap="square" lIns="25400" tIns="25400" rIns="25400" bIns="25400" rtlCol="0" anchor="t">
            <a:normAutofit lnSpcReduction="10000"/>
          </a:bodyPr>
          <a:lstStyle/>
          <a:p>
            <a:pPr marL="0" indent="0" algn="l">
              <a:buNone/>
            </a:pPr>
            <a:r>
              <a:rPr lang="en-US" sz="1050" dirty="0">
                <a:solidFill>
                  <a:srgbClr val="8A9AB8"/>
                </a:solidFill>
                <a:latin typeface="JetBrains Mono" pitchFamily="34" charset="0"/>
                <a:ea typeface="JetBrains Mono" pitchFamily="34" charset="-122"/>
                <a:cs typeface="JetBrains Mono" pitchFamily="34" charset="-120"/>
              </a:rPr>
              <a:t>addyosmani/agent-skills</a:t>
            </a:r>
            <a:endParaRPr lang="en-US" sz="1050" dirty="0"/>
          </a:p>
        </p:txBody>
      </p:sp>
      <p:sp>
        <p:nvSpPr>
          <p:cNvPr id="20" name="Shape 18"/>
          <p:cNvSpPr/>
          <p:nvPr/>
        </p:nvSpPr>
        <p:spPr>
          <a:xfrm>
            <a:off x="4762500" y="5051425"/>
            <a:ext cx="1123950" cy="292100"/>
          </a:xfrm>
          <a:prstGeom prst="roundRect">
            <a:avLst>
              <a:gd name="adj" fmla="val 45652"/>
            </a:avLst>
          </a:prstGeom>
          <a:solidFill>
            <a:srgbClr val="232D42"/>
          </a:solidFill>
          <a:ln w="6350">
            <a:solidFill>
              <a:srgbClr val="3A2A26"/>
            </a:solidFill>
            <a:prstDash val="solid"/>
          </a:ln>
        </p:spPr>
        <p:txBody>
          <a:bodyPr/>
          <a:lstStyle/>
          <a:p>
            <a:endParaRPr lang="ko-KR" altLang="en-US"/>
          </a:p>
        </p:txBody>
      </p:sp>
      <p:sp>
        <p:nvSpPr>
          <p:cNvPr id="21" name="Text 19"/>
          <p:cNvSpPr/>
          <p:nvPr/>
        </p:nvSpPr>
        <p:spPr>
          <a:xfrm>
            <a:off x="4845050" y="5114925"/>
            <a:ext cx="958850" cy="203200"/>
          </a:xfrm>
          <a:prstGeom prst="rect">
            <a:avLst/>
          </a:prstGeom>
          <a:noFill/>
          <a:ln/>
        </p:spPr>
        <p:txBody>
          <a:bodyPr wrap="square" lIns="25400" tIns="25400" rIns="25400" bIns="25400" rtlCol="0" anchor="t">
            <a:normAutofit/>
          </a:bodyPr>
          <a:lstStyle/>
          <a:p>
            <a:pPr marL="0" indent="0" algn="ctr">
              <a:buNone/>
            </a:pPr>
            <a:r>
              <a:rPr lang="en-US" sz="975" dirty="0">
                <a:solidFill>
                  <a:srgbClr val="D97757"/>
                </a:solidFill>
                <a:latin typeface="JetBrains Mono" pitchFamily="34" charset="0"/>
                <a:ea typeface="JetBrains Mono" pitchFamily="34" charset="-122"/>
                <a:cs typeface="JetBrains Mono" pitchFamily="34" charset="-120"/>
              </a:rPr>
              <a:t>스킬팩</a:t>
            </a:r>
            <a:endParaRPr lang="en-US" sz="975" dirty="0"/>
          </a:p>
        </p:txBody>
      </p:sp>
      <p:sp>
        <p:nvSpPr>
          <p:cNvPr id="22" name="Text 20"/>
          <p:cNvSpPr/>
          <p:nvPr/>
        </p:nvSpPr>
        <p:spPr>
          <a:xfrm>
            <a:off x="6153150" y="4926013"/>
            <a:ext cx="11262741" cy="5810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F0EADB"/>
                </a:solidFill>
                <a:latin typeface="Noto Sans KR" pitchFamily="34" charset="0"/>
                <a:ea typeface="Noto Sans KR" pitchFamily="34" charset="-122"/>
                <a:cs typeface="Noto Sans KR" pitchFamily="34" charset="-120"/>
              </a:rPr>
              <a:t>DEFINE → PLAN → BUILD → VERIFY → REVIEW → SHIP </a:t>
            </a:r>
            <a:r>
              <a:rPr lang="en-US" sz="1425" dirty="0">
                <a:solidFill>
                  <a:srgbClr val="C2CCDC"/>
                </a:solidFill>
                <a:latin typeface="Noto Sans KR" pitchFamily="34" charset="0"/>
                <a:ea typeface="Noto Sans KR" pitchFamily="34" charset="-122"/>
                <a:cs typeface="Noto Sans KR" pitchFamily="34" charset="-120"/>
              </a:rPr>
              <a:t>개발 생애주기를 8개 슬래시 커맨드·24개 스킬로 인코딩. 스펙·테스트·리뷰·보안 등 시니어 워크플로를 일관되게 강제.</a:t>
            </a:r>
            <a:endParaRPr lang="en-US" sz="1425" dirty="0"/>
          </a:p>
        </p:txBody>
      </p:sp>
      <p:sp>
        <p:nvSpPr>
          <p:cNvPr id="23" name="Shape 21"/>
          <p:cNvSpPr/>
          <p:nvPr/>
        </p:nvSpPr>
        <p:spPr>
          <a:xfrm>
            <a:off x="914400" y="5811838"/>
            <a:ext cx="16459200" cy="962025"/>
          </a:xfrm>
          <a:prstGeom prst="roundRect">
            <a:avLst>
              <a:gd name="adj" fmla="val 7921"/>
            </a:avLst>
          </a:prstGeom>
          <a:solidFill>
            <a:srgbClr val="1A2236"/>
          </a:solidFill>
          <a:ln/>
        </p:spPr>
        <p:txBody>
          <a:bodyPr/>
          <a:lstStyle/>
          <a:p>
            <a:endParaRPr lang="ko-KR" altLang="en-US"/>
          </a:p>
        </p:txBody>
      </p:sp>
      <p:sp>
        <p:nvSpPr>
          <p:cNvPr id="24" name="Shape 22"/>
          <p:cNvSpPr/>
          <p:nvPr/>
        </p:nvSpPr>
        <p:spPr>
          <a:xfrm>
            <a:off x="914400" y="5811838"/>
            <a:ext cx="38100" cy="962025"/>
          </a:xfrm>
          <a:prstGeom prst="rect">
            <a:avLst/>
          </a:prstGeom>
          <a:solidFill>
            <a:srgbClr val="5BC8A8"/>
          </a:solidFill>
          <a:ln/>
        </p:spPr>
        <p:txBody>
          <a:bodyPr/>
          <a:lstStyle/>
          <a:p>
            <a:endParaRPr lang="ko-KR" altLang="en-US"/>
          </a:p>
        </p:txBody>
      </p:sp>
      <p:sp>
        <p:nvSpPr>
          <p:cNvPr id="25" name="Text 23"/>
          <p:cNvSpPr/>
          <p:nvPr/>
        </p:nvSpPr>
        <p:spPr>
          <a:xfrm>
            <a:off x="1238250" y="6115050"/>
            <a:ext cx="400050" cy="393700"/>
          </a:xfrm>
          <a:prstGeom prst="rect">
            <a:avLst/>
          </a:prstGeom>
          <a:noFill/>
          <a:ln/>
        </p:spPr>
        <p:txBody>
          <a:bodyPr wrap="square" lIns="25400" tIns="25400" rIns="25400" bIns="25400" rtlCol="0" anchor="t">
            <a:normAutofit/>
          </a:bodyPr>
          <a:lstStyle/>
          <a:p>
            <a:pPr marL="0" indent="0" algn="l">
              <a:buNone/>
            </a:pPr>
            <a:r>
              <a:rPr lang="en-US" sz="2100" b="1" dirty="0">
                <a:solidFill>
                  <a:srgbClr val="5BC8A8"/>
                </a:solidFill>
                <a:latin typeface="JetBrains Mono" pitchFamily="34" charset="0"/>
                <a:ea typeface="JetBrains Mono" pitchFamily="34" charset="-122"/>
                <a:cs typeface="JetBrains Mono" pitchFamily="34" charset="-120"/>
              </a:rPr>
              <a:t>03</a:t>
            </a:r>
            <a:endParaRPr lang="en-US" sz="2100" dirty="0"/>
          </a:p>
        </p:txBody>
      </p:sp>
      <p:sp>
        <p:nvSpPr>
          <p:cNvPr id="26" name="Text 24"/>
          <p:cNvSpPr/>
          <p:nvPr/>
        </p:nvSpPr>
        <p:spPr>
          <a:xfrm>
            <a:off x="1828800" y="6046788"/>
            <a:ext cx="2933700" cy="3302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0EADB"/>
                </a:solidFill>
                <a:latin typeface="Noto Sans KR" pitchFamily="34" charset="0"/>
                <a:ea typeface="Noto Sans KR" pitchFamily="34" charset="-122"/>
                <a:cs typeface="Noto Sans KR" pitchFamily="34" charset="-120"/>
              </a:rPr>
              <a:t>Unity MCP</a:t>
            </a:r>
            <a:endParaRPr lang="en-US" sz="1950" dirty="0"/>
          </a:p>
        </p:txBody>
      </p:sp>
      <p:sp>
        <p:nvSpPr>
          <p:cNvPr id="27" name="Text 25"/>
          <p:cNvSpPr/>
          <p:nvPr/>
        </p:nvSpPr>
        <p:spPr>
          <a:xfrm>
            <a:off x="1828800" y="6367463"/>
            <a:ext cx="2933700" cy="209550"/>
          </a:xfrm>
          <a:prstGeom prst="rect">
            <a:avLst/>
          </a:prstGeom>
          <a:noFill/>
          <a:ln/>
        </p:spPr>
        <p:txBody>
          <a:bodyPr wrap="square" lIns="25400" tIns="25400" rIns="25400" bIns="25400" rtlCol="0" anchor="t">
            <a:normAutofit lnSpcReduction="10000"/>
          </a:bodyPr>
          <a:lstStyle/>
          <a:p>
            <a:pPr marL="0" indent="0" algn="l">
              <a:buNone/>
            </a:pPr>
            <a:r>
              <a:rPr lang="en-US" sz="1050" dirty="0">
                <a:solidFill>
                  <a:srgbClr val="8A9AB8"/>
                </a:solidFill>
                <a:latin typeface="JetBrains Mono" pitchFamily="34" charset="0"/>
                <a:ea typeface="JetBrains Mono" pitchFamily="34" charset="-122"/>
                <a:cs typeface="JetBrains Mono" pitchFamily="34" charset="-120"/>
              </a:rPr>
              <a:t>Model Context Protocol</a:t>
            </a:r>
            <a:endParaRPr lang="en-US" sz="1050" dirty="0"/>
          </a:p>
        </p:txBody>
      </p:sp>
      <p:sp>
        <p:nvSpPr>
          <p:cNvPr id="28" name="Shape 26"/>
          <p:cNvSpPr/>
          <p:nvPr/>
        </p:nvSpPr>
        <p:spPr>
          <a:xfrm>
            <a:off x="4762500" y="6146800"/>
            <a:ext cx="1123950" cy="292100"/>
          </a:xfrm>
          <a:prstGeom prst="roundRect">
            <a:avLst>
              <a:gd name="adj" fmla="val 45652"/>
            </a:avLst>
          </a:prstGeom>
          <a:solidFill>
            <a:srgbClr val="13261F"/>
          </a:solidFill>
          <a:ln w="6350">
            <a:solidFill>
              <a:srgbClr val="1D3A30"/>
            </a:solidFill>
            <a:prstDash val="solid"/>
          </a:ln>
        </p:spPr>
        <p:txBody>
          <a:bodyPr/>
          <a:lstStyle/>
          <a:p>
            <a:endParaRPr lang="ko-KR" altLang="en-US"/>
          </a:p>
        </p:txBody>
      </p:sp>
      <p:sp>
        <p:nvSpPr>
          <p:cNvPr id="29" name="Text 27"/>
          <p:cNvSpPr/>
          <p:nvPr/>
        </p:nvSpPr>
        <p:spPr>
          <a:xfrm>
            <a:off x="4845050" y="6210300"/>
            <a:ext cx="958850" cy="203200"/>
          </a:xfrm>
          <a:prstGeom prst="rect">
            <a:avLst/>
          </a:prstGeom>
          <a:noFill/>
          <a:ln/>
        </p:spPr>
        <p:txBody>
          <a:bodyPr wrap="square" lIns="25400" tIns="25400" rIns="25400" bIns="25400" rtlCol="0" anchor="t">
            <a:normAutofit/>
          </a:bodyPr>
          <a:lstStyle/>
          <a:p>
            <a:pPr marL="0" indent="0" algn="ctr">
              <a:buNone/>
            </a:pPr>
            <a:r>
              <a:rPr lang="en-US" sz="975" dirty="0">
                <a:solidFill>
                  <a:srgbClr val="5BC8A8"/>
                </a:solidFill>
                <a:latin typeface="JetBrains Mono" pitchFamily="34" charset="0"/>
                <a:ea typeface="JetBrains Mono" pitchFamily="34" charset="-122"/>
                <a:cs typeface="JetBrains Mono" pitchFamily="34" charset="-120"/>
              </a:rPr>
              <a:t>에디터 브리지</a:t>
            </a:r>
            <a:endParaRPr lang="en-US" sz="975" dirty="0"/>
          </a:p>
        </p:txBody>
      </p:sp>
      <p:sp>
        <p:nvSpPr>
          <p:cNvPr id="30" name="Text 28"/>
          <p:cNvSpPr/>
          <p:nvPr/>
        </p:nvSpPr>
        <p:spPr>
          <a:xfrm>
            <a:off x="6153150" y="6021388"/>
            <a:ext cx="11262741" cy="581025"/>
          </a:xfrm>
          <a:prstGeom prst="rect">
            <a:avLst/>
          </a:prstGeom>
          <a:noFill/>
          <a:ln/>
        </p:spPr>
        <p:txBody>
          <a:bodyPr wrap="square" lIns="25400" tIns="25400" rIns="25400" bIns="25400" rtlCol="0" anchor="t">
            <a:normAutofit/>
          </a:bodyPr>
          <a:lstStyle/>
          <a:p>
            <a:pPr marL="0" indent="0" algn="l">
              <a:lnSpc>
                <a:spcPct val="150000"/>
              </a:lnSpc>
              <a:buNone/>
            </a:pPr>
            <a:r>
              <a:rPr lang="en-US" sz="1425" dirty="0">
                <a:solidFill>
                  <a:srgbClr val="C2CCDC"/>
                </a:solidFill>
                <a:latin typeface="Noto Sans KR" pitchFamily="34" charset="0"/>
                <a:ea typeface="Noto Sans KR" pitchFamily="34" charset="-122"/>
                <a:cs typeface="Noto Sans KR" pitchFamily="34" charset="-120"/>
              </a:rPr>
              <a:t>MCP로 AI를 </a:t>
            </a:r>
            <a:r>
              <a:rPr lang="en-US" sz="1425" dirty="0">
                <a:solidFill>
                  <a:srgbClr val="F0EADB"/>
                </a:solidFill>
                <a:latin typeface="Noto Sans KR" pitchFamily="34" charset="0"/>
                <a:ea typeface="Noto Sans KR" pitchFamily="34" charset="-122"/>
                <a:cs typeface="Noto Sans KR" pitchFamily="34" charset="-120"/>
              </a:rPr>
              <a:t>Unity 에디터에 직접 연결 </a:t>
            </a:r>
            <a:r>
              <a:rPr lang="en-US" sz="1425" dirty="0">
                <a:solidFill>
                  <a:srgbClr val="C2CCDC"/>
                </a:solidFill>
                <a:latin typeface="Noto Sans KR" pitchFamily="34" charset="0"/>
                <a:ea typeface="Noto Sans KR" pitchFamily="34" charset="-122"/>
                <a:cs typeface="Noto Sans KR" pitchFamily="34" charset="-120"/>
              </a:rPr>
              <a:t>. 씬 제어·에셋 관리·스크립트 편집·테스트 실행·프로파일링을 에디터 안에서 자동화 — AI 페어 개발의 통로.</a:t>
            </a:r>
            <a:endParaRPr lang="en-US" sz="1425" dirty="0"/>
          </a:p>
        </p:txBody>
      </p:sp>
      <p:sp>
        <p:nvSpPr>
          <p:cNvPr id="31" name="Shape 29"/>
          <p:cNvSpPr/>
          <p:nvPr/>
        </p:nvSpPr>
        <p:spPr>
          <a:xfrm>
            <a:off x="914400" y="6907213"/>
            <a:ext cx="16459200" cy="962025"/>
          </a:xfrm>
          <a:prstGeom prst="roundRect">
            <a:avLst>
              <a:gd name="adj" fmla="val 7921"/>
            </a:avLst>
          </a:prstGeom>
          <a:solidFill>
            <a:srgbClr val="1A2236"/>
          </a:solidFill>
          <a:ln/>
        </p:spPr>
        <p:txBody>
          <a:bodyPr/>
          <a:lstStyle/>
          <a:p>
            <a:endParaRPr lang="ko-KR" altLang="en-US"/>
          </a:p>
        </p:txBody>
      </p:sp>
      <p:sp>
        <p:nvSpPr>
          <p:cNvPr id="32" name="Shape 30"/>
          <p:cNvSpPr/>
          <p:nvPr/>
        </p:nvSpPr>
        <p:spPr>
          <a:xfrm>
            <a:off x="914400" y="6907213"/>
            <a:ext cx="38100" cy="962025"/>
          </a:xfrm>
          <a:prstGeom prst="rect">
            <a:avLst/>
          </a:prstGeom>
          <a:solidFill>
            <a:srgbClr val="D97757"/>
          </a:solidFill>
          <a:ln/>
        </p:spPr>
        <p:txBody>
          <a:bodyPr/>
          <a:lstStyle/>
          <a:p>
            <a:endParaRPr lang="ko-KR" altLang="en-US"/>
          </a:p>
        </p:txBody>
      </p:sp>
      <p:sp>
        <p:nvSpPr>
          <p:cNvPr id="33" name="Text 31"/>
          <p:cNvSpPr/>
          <p:nvPr/>
        </p:nvSpPr>
        <p:spPr>
          <a:xfrm>
            <a:off x="1238250" y="7210425"/>
            <a:ext cx="400050" cy="393700"/>
          </a:xfrm>
          <a:prstGeom prst="rect">
            <a:avLst/>
          </a:prstGeom>
          <a:noFill/>
          <a:ln/>
        </p:spPr>
        <p:txBody>
          <a:bodyPr wrap="square" lIns="25400" tIns="25400" rIns="25400" bIns="25400" rtlCol="0" anchor="t">
            <a:normAutofit/>
          </a:bodyPr>
          <a:lstStyle/>
          <a:p>
            <a:pPr marL="0" indent="0" algn="l">
              <a:buNone/>
            </a:pPr>
            <a:r>
              <a:rPr lang="en-US" sz="2100" b="1" dirty="0">
                <a:solidFill>
                  <a:srgbClr val="D97757"/>
                </a:solidFill>
                <a:latin typeface="JetBrains Mono" pitchFamily="34" charset="0"/>
                <a:ea typeface="JetBrains Mono" pitchFamily="34" charset="-122"/>
                <a:cs typeface="JetBrains Mono" pitchFamily="34" charset="-120"/>
              </a:rPr>
              <a:t>04</a:t>
            </a:r>
            <a:endParaRPr lang="en-US" sz="2100" dirty="0"/>
          </a:p>
        </p:txBody>
      </p:sp>
      <p:sp>
        <p:nvSpPr>
          <p:cNvPr id="34" name="Text 32"/>
          <p:cNvSpPr/>
          <p:nvPr/>
        </p:nvSpPr>
        <p:spPr>
          <a:xfrm>
            <a:off x="1828800" y="7142163"/>
            <a:ext cx="2933700" cy="3302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0EADB"/>
                </a:solidFill>
                <a:latin typeface="Noto Sans KR" pitchFamily="34" charset="0"/>
                <a:ea typeface="Noto Sans KR" pitchFamily="34" charset="-122"/>
                <a:cs typeface="Noto Sans KR" pitchFamily="34" charset="-120"/>
              </a:rPr>
              <a:t>Graphify</a:t>
            </a:r>
            <a:endParaRPr lang="en-US" sz="1950" dirty="0"/>
          </a:p>
        </p:txBody>
      </p:sp>
      <p:sp>
        <p:nvSpPr>
          <p:cNvPr id="35" name="Text 33"/>
          <p:cNvSpPr/>
          <p:nvPr/>
        </p:nvSpPr>
        <p:spPr>
          <a:xfrm>
            <a:off x="1828800" y="7462838"/>
            <a:ext cx="2933700" cy="209550"/>
          </a:xfrm>
          <a:prstGeom prst="rect">
            <a:avLst/>
          </a:prstGeom>
          <a:noFill/>
          <a:ln/>
        </p:spPr>
        <p:txBody>
          <a:bodyPr wrap="square" lIns="25400" tIns="25400" rIns="25400" bIns="25400" rtlCol="0" anchor="t">
            <a:normAutofit lnSpcReduction="10000"/>
          </a:bodyPr>
          <a:lstStyle/>
          <a:p>
            <a:pPr marL="0" indent="0" algn="l">
              <a:buNone/>
            </a:pPr>
            <a:r>
              <a:rPr lang="en-US" sz="1050" dirty="0">
                <a:solidFill>
                  <a:srgbClr val="8A9AB8"/>
                </a:solidFill>
                <a:latin typeface="JetBrains Mono" pitchFamily="34" charset="0"/>
                <a:ea typeface="JetBrains Mono" pitchFamily="34" charset="-122"/>
                <a:cs typeface="JetBrains Mono" pitchFamily="34" charset="-120"/>
              </a:rPr>
              <a:t>safishamsi/graphify</a:t>
            </a:r>
            <a:endParaRPr lang="en-US" sz="1050" dirty="0"/>
          </a:p>
        </p:txBody>
      </p:sp>
      <p:sp>
        <p:nvSpPr>
          <p:cNvPr id="36" name="Shape 34"/>
          <p:cNvSpPr/>
          <p:nvPr/>
        </p:nvSpPr>
        <p:spPr>
          <a:xfrm>
            <a:off x="4762500" y="7242175"/>
            <a:ext cx="1123950" cy="292100"/>
          </a:xfrm>
          <a:prstGeom prst="roundRect">
            <a:avLst>
              <a:gd name="adj" fmla="val 45652"/>
            </a:avLst>
          </a:prstGeom>
          <a:solidFill>
            <a:srgbClr val="232D42"/>
          </a:solidFill>
          <a:ln w="6350">
            <a:solidFill>
              <a:srgbClr val="3A2A26"/>
            </a:solidFill>
            <a:prstDash val="solid"/>
          </a:ln>
        </p:spPr>
        <p:txBody>
          <a:bodyPr/>
          <a:lstStyle/>
          <a:p>
            <a:endParaRPr lang="ko-KR" altLang="en-US"/>
          </a:p>
        </p:txBody>
      </p:sp>
      <p:sp>
        <p:nvSpPr>
          <p:cNvPr id="37" name="Text 35"/>
          <p:cNvSpPr/>
          <p:nvPr/>
        </p:nvSpPr>
        <p:spPr>
          <a:xfrm>
            <a:off x="4845050" y="7305675"/>
            <a:ext cx="958850" cy="203200"/>
          </a:xfrm>
          <a:prstGeom prst="rect">
            <a:avLst/>
          </a:prstGeom>
          <a:noFill/>
          <a:ln/>
        </p:spPr>
        <p:txBody>
          <a:bodyPr wrap="square" lIns="25400" tIns="25400" rIns="25400" bIns="25400" rtlCol="0" anchor="t">
            <a:normAutofit/>
          </a:bodyPr>
          <a:lstStyle/>
          <a:p>
            <a:pPr marL="0" indent="0" algn="ctr">
              <a:buNone/>
            </a:pPr>
            <a:r>
              <a:rPr lang="en-US" sz="975" dirty="0">
                <a:solidFill>
                  <a:srgbClr val="D97757"/>
                </a:solidFill>
                <a:latin typeface="JetBrains Mono" pitchFamily="34" charset="0"/>
                <a:ea typeface="JetBrains Mono" pitchFamily="34" charset="-122"/>
                <a:cs typeface="JetBrains Mono" pitchFamily="34" charset="-120"/>
              </a:rPr>
              <a:t>지식 그래프</a:t>
            </a:r>
            <a:endParaRPr lang="en-US" sz="975" dirty="0"/>
          </a:p>
        </p:txBody>
      </p:sp>
      <p:sp>
        <p:nvSpPr>
          <p:cNvPr id="38" name="Text 36"/>
          <p:cNvSpPr/>
          <p:nvPr/>
        </p:nvSpPr>
        <p:spPr>
          <a:xfrm>
            <a:off x="6153150" y="7116763"/>
            <a:ext cx="11262741" cy="581025"/>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425" dirty="0">
                <a:solidFill>
                  <a:srgbClr val="F0EADB"/>
                </a:solidFill>
                <a:latin typeface="Noto Sans KR" pitchFamily="34" charset="0"/>
                <a:ea typeface="Noto Sans KR" pitchFamily="34" charset="-122"/>
                <a:cs typeface="Noto Sans KR" pitchFamily="34" charset="-120"/>
              </a:rPr>
              <a:t>코드·문서·PDF·이미지를 읽어 지식 그래프를 구축 </a:t>
            </a:r>
            <a:r>
              <a:rPr lang="en-US" sz="1425" dirty="0">
                <a:solidFill>
                  <a:srgbClr val="C2CCDC"/>
                </a:solidFill>
                <a:latin typeface="Noto Sans KR" pitchFamily="34" charset="0"/>
                <a:ea typeface="Noto Sans KR" pitchFamily="34" charset="-122"/>
                <a:cs typeface="Noto Sans KR" pitchFamily="34" charset="-120"/>
              </a:rPr>
              <a:t>하는 멀티모달 Claude Code 스킬. 흩어진 자료의 숨은 구조·연결을 드러내고 쿼리당 토큰을 크게 절감.</a:t>
            </a:r>
            <a:endParaRPr lang="en-US" sz="1425" dirty="0"/>
          </a:p>
        </p:txBody>
      </p:sp>
      <p:sp>
        <p:nvSpPr>
          <p:cNvPr id="39" name="Shape 37"/>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41" name="Text 0">
            <a:extLst>
              <a:ext uri="{FF2B5EF4-FFF2-40B4-BE49-F238E27FC236}">
                <a16:creationId xmlns:a16="http://schemas.microsoft.com/office/drawing/2014/main" id="{56A5BDA2-097C-A30A-A930-6125E9AF5626}"/>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13 / 22</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nvSpPr>
        <p:spPr>
          <a:xfrm>
            <a:off x="6421735" y="609600"/>
            <a:ext cx="576895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DEV ENVIRONMENT &amp; SETUP · 질의응답 2-3 / 소양 3-7</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19200"/>
            <a:ext cx="18105120" cy="584200"/>
          </a:xfrm>
          <a:prstGeom prst="rect">
            <a:avLst/>
          </a:prstGeom>
          <a:noFill/>
          <a:ln/>
        </p:spPr>
        <p:txBody>
          <a:bodyPr wrap="square" lIns="25400" tIns="25400" rIns="25400" bIns="25400" rtlCol="0" anchor="t">
            <a:normAutofit lnSpcReduction="10000"/>
          </a:bodyPr>
          <a:lstStyle/>
          <a:p>
            <a:pPr marL="0" indent="0" algn="l">
              <a:buNone/>
            </a:pPr>
            <a:r>
              <a:rPr lang="en-US" sz="3600" b="1" kern="0" spc="-75" dirty="0">
                <a:solidFill>
                  <a:srgbClr val="F0EADB"/>
                </a:solidFill>
                <a:latin typeface="Noto Sans KR" pitchFamily="34" charset="0"/>
                <a:ea typeface="Noto Sans KR" pitchFamily="34" charset="-122"/>
                <a:cs typeface="Noto Sans KR" pitchFamily="34" charset="-120"/>
              </a:rPr>
              <a:t>개발 환경 &amp; 설치 가이드</a:t>
            </a:r>
            <a:endParaRPr lang="en-US" sz="3600" dirty="0"/>
          </a:p>
        </p:txBody>
      </p:sp>
      <p:sp>
        <p:nvSpPr>
          <p:cNvPr id="6" name="Shape 4"/>
          <p:cNvSpPr/>
          <p:nvPr/>
        </p:nvSpPr>
        <p:spPr>
          <a:xfrm>
            <a:off x="914400" y="2032000"/>
            <a:ext cx="8039100" cy="1943100"/>
          </a:xfrm>
          <a:prstGeom prst="roundRect">
            <a:avLst>
              <a:gd name="adj" fmla="val 3922"/>
            </a:avLst>
          </a:prstGeom>
          <a:solidFill>
            <a:srgbClr val="1A2236"/>
          </a:solidFill>
          <a:ln/>
        </p:spPr>
        <p:txBody>
          <a:bodyPr/>
          <a:lstStyle/>
          <a:p>
            <a:endParaRPr lang="ko-KR" altLang="en-US" dirty="0"/>
          </a:p>
        </p:txBody>
      </p:sp>
      <p:sp>
        <p:nvSpPr>
          <p:cNvPr id="7" name="Text 5"/>
          <p:cNvSpPr/>
          <p:nvPr/>
        </p:nvSpPr>
        <p:spPr>
          <a:xfrm>
            <a:off x="1200150" y="2279650"/>
            <a:ext cx="8214360" cy="26670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D97757"/>
                </a:solidFill>
                <a:latin typeface="Noto Sans KR" pitchFamily="34" charset="0"/>
                <a:ea typeface="Noto Sans KR" pitchFamily="34" charset="-122"/>
                <a:cs typeface="Noto Sans KR" pitchFamily="34" charset="-120"/>
              </a:rPr>
              <a:t>환경</a:t>
            </a:r>
            <a:endParaRPr lang="en-US" sz="1500" dirty="0"/>
          </a:p>
        </p:txBody>
      </p:sp>
      <p:sp>
        <p:nvSpPr>
          <p:cNvPr id="8" name="Text 6"/>
          <p:cNvSpPr/>
          <p:nvPr/>
        </p:nvSpPr>
        <p:spPr>
          <a:xfrm>
            <a:off x="1200150" y="2641600"/>
            <a:ext cx="7691628" cy="1123950"/>
          </a:xfrm>
          <a:prstGeom prst="rect">
            <a:avLst/>
          </a:prstGeom>
          <a:noFill/>
          <a:ln/>
        </p:spPr>
        <p:txBody>
          <a:bodyPr wrap="square" lIns="25400" tIns="25400" rIns="25400" bIns="25400" rtlCol="0" anchor="t">
            <a:normAutofit/>
          </a:bodyPr>
          <a:lstStyle/>
          <a:p>
            <a:pPr marL="0" indent="0" algn="l">
              <a:lnSpc>
                <a:spcPct val="190000"/>
              </a:lnSpc>
              <a:buNone/>
            </a:pPr>
            <a:r>
              <a:rPr lang="en-US" sz="1500" dirty="0">
                <a:solidFill>
                  <a:srgbClr val="F0EADB"/>
                </a:solidFill>
                <a:latin typeface="JetBrains Mono" pitchFamily="34" charset="0"/>
                <a:ea typeface="JetBrains Mono" pitchFamily="34" charset="-122"/>
                <a:cs typeface="JetBrains Mono" pitchFamily="34" charset="-120"/>
              </a:rPr>
              <a:t>Unity 6 (6000.0.x) · URP 17.3.0 IDE Visual Studio 2022 / Rider OS Windows 11 / Claude Code</a:t>
            </a:r>
          </a:p>
        </p:txBody>
      </p:sp>
      <p:sp>
        <p:nvSpPr>
          <p:cNvPr id="9" name="Shape 7"/>
          <p:cNvSpPr/>
          <p:nvPr/>
        </p:nvSpPr>
        <p:spPr>
          <a:xfrm>
            <a:off x="914400" y="4165600"/>
            <a:ext cx="8039100" cy="1755874"/>
          </a:xfrm>
          <a:prstGeom prst="roundRect">
            <a:avLst>
              <a:gd name="adj" fmla="val 4340"/>
            </a:avLst>
          </a:prstGeom>
          <a:solidFill>
            <a:srgbClr val="1A2236"/>
          </a:solidFill>
          <a:ln/>
        </p:spPr>
        <p:txBody>
          <a:bodyPr/>
          <a:lstStyle/>
          <a:p>
            <a:endParaRPr lang="ko-KR" altLang="en-US"/>
          </a:p>
        </p:txBody>
      </p:sp>
      <p:sp>
        <p:nvSpPr>
          <p:cNvPr id="10" name="Text 8"/>
          <p:cNvSpPr/>
          <p:nvPr/>
        </p:nvSpPr>
        <p:spPr>
          <a:xfrm>
            <a:off x="1200150" y="4413250"/>
            <a:ext cx="8214360" cy="26670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D97757"/>
                </a:solidFill>
                <a:latin typeface="Noto Sans KR" pitchFamily="34" charset="0"/>
                <a:ea typeface="Noto Sans KR" pitchFamily="34" charset="-122"/>
                <a:cs typeface="Noto Sans KR" pitchFamily="34" charset="-120"/>
              </a:rPr>
              <a:t>주요 패키지 </a:t>
            </a:r>
            <a:r>
              <a:rPr lang="en-US" sz="1125" dirty="0">
                <a:solidFill>
                  <a:srgbClr val="8A9AB8"/>
                </a:solidFill>
                <a:latin typeface="Noto Sans KR" pitchFamily="34" charset="0"/>
                <a:ea typeface="Noto Sans KR" pitchFamily="34" charset="-122"/>
                <a:cs typeface="Noto Sans KR" pitchFamily="34" charset="-120"/>
              </a:rPr>
              <a:t>manifest.json</a:t>
            </a:r>
            <a:endParaRPr lang="en-US" sz="1500" dirty="0"/>
          </a:p>
        </p:txBody>
      </p:sp>
      <p:sp>
        <p:nvSpPr>
          <p:cNvPr id="11" name="Text 9"/>
          <p:cNvSpPr/>
          <p:nvPr/>
        </p:nvSpPr>
        <p:spPr>
          <a:xfrm>
            <a:off x="1200150" y="4775200"/>
            <a:ext cx="7691628" cy="936724"/>
          </a:xfrm>
          <a:prstGeom prst="rect">
            <a:avLst/>
          </a:prstGeom>
          <a:noFill/>
          <a:ln/>
        </p:spPr>
        <p:txBody>
          <a:bodyPr wrap="square" lIns="25400" tIns="25400" rIns="25400" bIns="25400" rtlCol="0" anchor="t">
            <a:normAutofit/>
          </a:bodyPr>
          <a:lstStyle/>
          <a:p>
            <a:pPr marL="0" indent="0" algn="l">
              <a:lnSpc>
                <a:spcPct val="185000"/>
              </a:lnSpc>
              <a:buNone/>
            </a:pPr>
            <a:r>
              <a:rPr lang="en-US" sz="1275" dirty="0">
                <a:solidFill>
                  <a:srgbClr val="8A9AB8"/>
                </a:solidFill>
                <a:latin typeface="JetBrains Mono" pitchFamily="34" charset="0"/>
                <a:ea typeface="JetBrains Mono" pitchFamily="34" charset="-122"/>
                <a:cs typeface="JetBrains Mono" pitchFamily="34" charset="-120"/>
              </a:rPr>
              <a:t>inputsystem 1.18.0 · ai.navigation 2.0.13 timeline 1.8.12 · newtonsoft-json 3.2.2 test-framework 1.6.0 · recorder 5.1.6</a:t>
            </a:r>
            <a:endParaRPr lang="en-US" sz="1275" dirty="0"/>
          </a:p>
        </p:txBody>
      </p:sp>
      <p:sp>
        <p:nvSpPr>
          <p:cNvPr id="12" name="Shape 10"/>
          <p:cNvSpPr/>
          <p:nvPr/>
        </p:nvSpPr>
        <p:spPr>
          <a:xfrm>
            <a:off x="9258300" y="2032000"/>
            <a:ext cx="8039100" cy="3094931"/>
          </a:xfrm>
          <a:prstGeom prst="roundRect">
            <a:avLst>
              <a:gd name="adj" fmla="val 2462"/>
            </a:avLst>
          </a:prstGeom>
          <a:solidFill>
            <a:srgbClr val="0D1117"/>
          </a:solidFill>
          <a:ln/>
        </p:spPr>
        <p:txBody>
          <a:bodyPr/>
          <a:lstStyle/>
          <a:p>
            <a:endParaRPr lang="ko-KR" altLang="en-US"/>
          </a:p>
        </p:txBody>
      </p:sp>
      <p:sp>
        <p:nvSpPr>
          <p:cNvPr id="13" name="Shape 11"/>
          <p:cNvSpPr/>
          <p:nvPr/>
        </p:nvSpPr>
        <p:spPr>
          <a:xfrm>
            <a:off x="9334500" y="5120581"/>
            <a:ext cx="8039100" cy="9525"/>
          </a:xfrm>
          <a:prstGeom prst="rect">
            <a:avLst/>
          </a:prstGeom>
          <a:solidFill>
            <a:srgbClr val="2E3C55"/>
          </a:solidFill>
          <a:ln/>
        </p:spPr>
        <p:txBody>
          <a:bodyPr/>
          <a:lstStyle/>
          <a:p>
            <a:endParaRPr lang="ko-KR" altLang="en-US"/>
          </a:p>
        </p:txBody>
      </p:sp>
      <p:sp>
        <p:nvSpPr>
          <p:cNvPr id="14" name="Shape 12"/>
          <p:cNvSpPr/>
          <p:nvPr/>
        </p:nvSpPr>
        <p:spPr>
          <a:xfrm>
            <a:off x="9334500" y="2032000"/>
            <a:ext cx="8039100" cy="9525"/>
          </a:xfrm>
          <a:prstGeom prst="rect">
            <a:avLst/>
          </a:prstGeom>
          <a:solidFill>
            <a:srgbClr val="2E3C55"/>
          </a:solidFill>
          <a:ln/>
        </p:spPr>
        <p:txBody>
          <a:bodyPr/>
          <a:lstStyle/>
          <a:p>
            <a:endParaRPr lang="ko-KR" altLang="en-US"/>
          </a:p>
        </p:txBody>
      </p:sp>
      <p:sp>
        <p:nvSpPr>
          <p:cNvPr id="15" name="Shape 13"/>
          <p:cNvSpPr/>
          <p:nvPr/>
        </p:nvSpPr>
        <p:spPr>
          <a:xfrm>
            <a:off x="9334500" y="2032000"/>
            <a:ext cx="38100" cy="3094931"/>
          </a:xfrm>
          <a:prstGeom prst="rect">
            <a:avLst/>
          </a:prstGeom>
          <a:solidFill>
            <a:srgbClr val="5BC8A8"/>
          </a:solidFill>
          <a:ln/>
        </p:spPr>
        <p:txBody>
          <a:bodyPr/>
          <a:lstStyle/>
          <a:p>
            <a:endParaRPr lang="ko-KR" altLang="en-US"/>
          </a:p>
        </p:txBody>
      </p:sp>
      <p:sp>
        <p:nvSpPr>
          <p:cNvPr id="16" name="Shape 14"/>
          <p:cNvSpPr/>
          <p:nvPr/>
        </p:nvSpPr>
        <p:spPr>
          <a:xfrm>
            <a:off x="17367250" y="2032000"/>
            <a:ext cx="9525" cy="3094931"/>
          </a:xfrm>
          <a:prstGeom prst="rect">
            <a:avLst/>
          </a:prstGeom>
          <a:solidFill>
            <a:srgbClr val="2E3C55"/>
          </a:solidFill>
          <a:ln/>
        </p:spPr>
        <p:txBody>
          <a:bodyPr/>
          <a:lstStyle/>
          <a:p>
            <a:endParaRPr lang="ko-KR" altLang="en-US"/>
          </a:p>
        </p:txBody>
      </p:sp>
      <p:sp>
        <p:nvSpPr>
          <p:cNvPr id="17" name="Text 15"/>
          <p:cNvSpPr/>
          <p:nvPr/>
        </p:nvSpPr>
        <p:spPr>
          <a:xfrm>
            <a:off x="9677400" y="2305050"/>
            <a:ext cx="8123555" cy="26670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5BC8A8"/>
                </a:solidFill>
                <a:latin typeface="Noto Sans KR" pitchFamily="34" charset="0"/>
                <a:ea typeface="Noto Sans KR" pitchFamily="34" charset="-122"/>
                <a:cs typeface="Noto Sans KR" pitchFamily="34" charset="-120"/>
              </a:rPr>
              <a:t>설치 &amp; 실행</a:t>
            </a:r>
            <a:endParaRPr lang="en-US" sz="1500" dirty="0"/>
          </a:p>
        </p:txBody>
      </p:sp>
      <p:sp>
        <p:nvSpPr>
          <p:cNvPr id="18" name="Text 16"/>
          <p:cNvSpPr/>
          <p:nvPr/>
        </p:nvSpPr>
        <p:spPr>
          <a:xfrm>
            <a:off x="9677400" y="2705100"/>
            <a:ext cx="7606602" cy="381000"/>
          </a:xfrm>
          <a:prstGeom prst="rect">
            <a:avLst/>
          </a:prstGeom>
          <a:noFill/>
          <a:ln/>
        </p:spPr>
        <p:txBody>
          <a:bodyPr wrap="square" lIns="25400" tIns="25400" rIns="25400" bIns="25400" rtlCol="0" anchor="t">
            <a:noAutofit/>
          </a:bodyPr>
          <a:lstStyle/>
          <a:p>
            <a:pPr marL="0" indent="0" algn="l">
              <a:lnSpc>
                <a:spcPct val="200000"/>
              </a:lnSpc>
              <a:buNone/>
            </a:pPr>
            <a:r>
              <a:rPr lang="en-US" dirty="0" err="1">
                <a:solidFill>
                  <a:srgbClr val="79B8FF"/>
                </a:solidFill>
                <a:latin typeface="JetBrains Mono" pitchFamily="34" charset="0"/>
                <a:ea typeface="JetBrains Mono" pitchFamily="34" charset="-122"/>
                <a:cs typeface="JetBrains Mono" pitchFamily="34" charset="-120"/>
              </a:rPr>
              <a:t>RTwP_RPG</a:t>
            </a:r>
            <a:r>
              <a:rPr lang="en-US" dirty="0">
                <a:solidFill>
                  <a:srgbClr val="79B8FF"/>
                </a:solidFill>
                <a:latin typeface="JetBrains Mono" pitchFamily="34" charset="0"/>
                <a:ea typeface="JetBrains Mono" pitchFamily="34" charset="-122"/>
                <a:cs typeface="JetBrains Mono" pitchFamily="34" charset="-120"/>
              </a:rPr>
              <a:t> </a:t>
            </a:r>
            <a:r>
              <a:rPr lang="ko-KR" altLang="en-US" dirty="0">
                <a:solidFill>
                  <a:srgbClr val="79B8FF"/>
                </a:solidFill>
                <a:latin typeface="JetBrains Mono" pitchFamily="34" charset="0"/>
                <a:ea typeface="JetBrains Mono" pitchFamily="34" charset="-122"/>
                <a:cs typeface="JetBrains Mono" pitchFamily="34" charset="-120"/>
              </a:rPr>
              <a:t>다운로드</a:t>
            </a:r>
            <a:endParaRPr lang="en-US" dirty="0"/>
          </a:p>
        </p:txBody>
      </p:sp>
      <p:sp>
        <p:nvSpPr>
          <p:cNvPr id="19" name="Text 17"/>
          <p:cNvSpPr/>
          <p:nvPr/>
        </p:nvSpPr>
        <p:spPr>
          <a:xfrm>
            <a:off x="9677400" y="3048000"/>
            <a:ext cx="7606602" cy="381000"/>
          </a:xfrm>
          <a:prstGeom prst="rect">
            <a:avLst/>
          </a:prstGeom>
          <a:noFill/>
          <a:ln/>
        </p:spPr>
        <p:txBody>
          <a:bodyPr wrap="square" lIns="25400" tIns="25400" rIns="25400" bIns="25400" rtlCol="0" anchor="t">
            <a:noAutofit/>
          </a:bodyPr>
          <a:lstStyle/>
          <a:p>
            <a:pPr>
              <a:lnSpc>
                <a:spcPct val="200000"/>
              </a:lnSpc>
            </a:pPr>
            <a:r>
              <a:rPr lang="en-US" dirty="0">
                <a:solidFill>
                  <a:srgbClr val="8A9AB8"/>
                </a:solidFill>
                <a:latin typeface="JetBrains Mono" pitchFamily="34" charset="0"/>
                <a:ea typeface="JetBrains Mono" pitchFamily="34" charset="-122"/>
                <a:cs typeface="JetBrains Mono" pitchFamily="34" charset="-120"/>
              </a:rPr>
              <a:t>→</a:t>
            </a:r>
            <a:r>
              <a:rPr lang="en-US" altLang="ko-KR" dirty="0">
                <a:solidFill>
                  <a:srgbClr val="79B8FF"/>
                </a:solidFill>
                <a:latin typeface="JetBrains Mono" pitchFamily="34" charset="0"/>
                <a:ea typeface="JetBrains Mono" pitchFamily="34" charset="-122"/>
                <a:cs typeface="JetBrains Mono" pitchFamily="34" charset="-120"/>
              </a:rPr>
              <a:t> RTwP_RPG.zip </a:t>
            </a:r>
            <a:r>
              <a:rPr lang="ko-KR" altLang="en-US" dirty="0">
                <a:solidFill>
                  <a:srgbClr val="79B8FF"/>
                </a:solidFill>
                <a:latin typeface="JetBrains Mono" pitchFamily="34" charset="0"/>
                <a:ea typeface="JetBrains Mono" pitchFamily="34" charset="-122"/>
                <a:cs typeface="JetBrains Mono" pitchFamily="34" charset="-120"/>
              </a:rPr>
              <a:t>압축풀기</a:t>
            </a:r>
            <a:r>
              <a:rPr lang="en-US" dirty="0">
                <a:solidFill>
                  <a:srgbClr val="8A9AB8"/>
                </a:solidFill>
                <a:latin typeface="JetBrains Mono" pitchFamily="34" charset="0"/>
                <a:ea typeface="JetBrains Mono" pitchFamily="34" charset="-122"/>
                <a:cs typeface="JetBrains Mono" pitchFamily="34" charset="-120"/>
              </a:rPr>
              <a:t> </a:t>
            </a:r>
            <a:endParaRPr lang="en-US" dirty="0"/>
          </a:p>
        </p:txBody>
      </p:sp>
      <p:sp>
        <p:nvSpPr>
          <p:cNvPr id="20" name="Text 18"/>
          <p:cNvSpPr/>
          <p:nvPr/>
        </p:nvSpPr>
        <p:spPr>
          <a:xfrm>
            <a:off x="9677400" y="3390900"/>
            <a:ext cx="7606602" cy="381000"/>
          </a:xfrm>
          <a:prstGeom prst="rect">
            <a:avLst/>
          </a:prstGeom>
          <a:noFill/>
          <a:ln/>
        </p:spPr>
        <p:txBody>
          <a:bodyPr wrap="square" lIns="25400" tIns="25400" rIns="25400" bIns="25400" rtlCol="0" anchor="t">
            <a:noAutofit/>
          </a:bodyPr>
          <a:lstStyle/>
          <a:p>
            <a:pPr>
              <a:lnSpc>
                <a:spcPct val="200000"/>
              </a:lnSpc>
            </a:pPr>
            <a:r>
              <a:rPr lang="en-US" dirty="0">
                <a:solidFill>
                  <a:srgbClr val="8A9AB8"/>
                </a:solidFill>
                <a:latin typeface="JetBrains Mono" pitchFamily="34" charset="0"/>
                <a:ea typeface="JetBrains Mono" pitchFamily="34" charset="-122"/>
                <a:cs typeface="JetBrains Mono" pitchFamily="34" charset="-120"/>
              </a:rPr>
              <a:t>→ </a:t>
            </a:r>
            <a:r>
              <a:rPr lang="en-US" dirty="0">
                <a:solidFill>
                  <a:schemeClr val="accent1">
                    <a:lumMod val="60000"/>
                    <a:lumOff val="40000"/>
                  </a:schemeClr>
                </a:solidFill>
                <a:latin typeface="JetBrains Mono" pitchFamily="34" charset="0"/>
                <a:ea typeface="JetBrains Mono" pitchFamily="34" charset="-122"/>
                <a:cs typeface="JetBrains Mono" pitchFamily="34" charset="-120"/>
              </a:rPr>
              <a:t>RTwP_RPG.exe </a:t>
            </a:r>
            <a:r>
              <a:rPr lang="ko-KR" altLang="en-US" dirty="0">
                <a:solidFill>
                  <a:schemeClr val="accent1">
                    <a:lumMod val="60000"/>
                    <a:lumOff val="40000"/>
                  </a:schemeClr>
                </a:solidFill>
                <a:latin typeface="JetBrains Mono" pitchFamily="34" charset="0"/>
                <a:ea typeface="JetBrains Mono" pitchFamily="34" charset="-122"/>
                <a:cs typeface="JetBrains Mono" pitchFamily="34" charset="-120"/>
              </a:rPr>
              <a:t>실행</a:t>
            </a:r>
            <a:endParaRPr lang="en-US" dirty="0">
              <a:solidFill>
                <a:schemeClr val="accent1">
                  <a:lumMod val="60000"/>
                  <a:lumOff val="40000"/>
                </a:schemeClr>
              </a:solidFill>
            </a:endParaRPr>
          </a:p>
        </p:txBody>
      </p:sp>
      <p:sp>
        <p:nvSpPr>
          <p:cNvPr id="24" name="Shape 22"/>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26" name="Text 0">
            <a:extLst>
              <a:ext uri="{FF2B5EF4-FFF2-40B4-BE49-F238E27FC236}">
                <a16:creationId xmlns:a16="http://schemas.microsoft.com/office/drawing/2014/main" id="{06BC9D82-2DFA-974E-2EAD-EE7ABD0DF74D}"/>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14 / 22</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nvSpPr>
        <p:spPr>
          <a:xfrm>
            <a:off x="7501930" y="609600"/>
            <a:ext cx="3392636"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BUILD &amp; DEPLOY · 질의응답 2-4</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lnSpcReduction="10000"/>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19200"/>
            <a:ext cx="18105120" cy="584200"/>
          </a:xfrm>
          <a:prstGeom prst="rect">
            <a:avLst/>
          </a:prstGeom>
          <a:noFill/>
          <a:ln/>
        </p:spPr>
        <p:txBody>
          <a:bodyPr wrap="square" lIns="25400" tIns="25400" rIns="25400" bIns="25400" rtlCol="0" anchor="t">
            <a:normAutofit lnSpcReduction="10000"/>
          </a:bodyPr>
          <a:lstStyle/>
          <a:p>
            <a:pPr marL="0" indent="0" algn="l">
              <a:buNone/>
            </a:pPr>
            <a:r>
              <a:rPr lang="en-US" sz="3600" b="1" kern="0" spc="-75" dirty="0">
                <a:solidFill>
                  <a:srgbClr val="F0EADB"/>
                </a:solidFill>
                <a:latin typeface="Noto Sans KR" pitchFamily="34" charset="0"/>
                <a:ea typeface="Noto Sans KR" pitchFamily="34" charset="-122"/>
                <a:cs typeface="Noto Sans KR" pitchFamily="34" charset="-120"/>
              </a:rPr>
              <a:t>빌드 &amp; 배포 파이프라인</a:t>
            </a:r>
            <a:endParaRPr lang="en-US" sz="3600" dirty="0"/>
          </a:p>
        </p:txBody>
      </p:sp>
      <p:sp>
        <p:nvSpPr>
          <p:cNvPr id="6" name="Shape 4"/>
          <p:cNvSpPr/>
          <p:nvPr/>
        </p:nvSpPr>
        <p:spPr>
          <a:xfrm>
            <a:off x="914400" y="4538067"/>
            <a:ext cx="5041900" cy="1715691"/>
          </a:xfrm>
          <a:prstGeom prst="roundRect">
            <a:avLst>
              <a:gd name="adj" fmla="val 4441"/>
            </a:avLst>
          </a:prstGeom>
          <a:solidFill>
            <a:srgbClr val="1A2236"/>
          </a:solidFill>
          <a:ln/>
        </p:spPr>
        <p:txBody>
          <a:bodyPr/>
          <a:lstStyle/>
          <a:p>
            <a:endParaRPr lang="ko-KR" altLang="en-US"/>
          </a:p>
        </p:txBody>
      </p:sp>
      <p:sp>
        <p:nvSpPr>
          <p:cNvPr id="7" name="Shape 5"/>
          <p:cNvSpPr/>
          <p:nvPr/>
        </p:nvSpPr>
        <p:spPr>
          <a:xfrm>
            <a:off x="914400" y="4538067"/>
            <a:ext cx="5041900" cy="38100"/>
          </a:xfrm>
          <a:prstGeom prst="rect">
            <a:avLst/>
          </a:prstGeom>
          <a:solidFill>
            <a:srgbClr val="D97757"/>
          </a:solidFill>
          <a:ln/>
        </p:spPr>
        <p:txBody>
          <a:bodyPr/>
          <a:lstStyle/>
          <a:p>
            <a:endParaRPr lang="ko-KR" altLang="en-US"/>
          </a:p>
        </p:txBody>
      </p:sp>
      <p:sp>
        <p:nvSpPr>
          <p:cNvPr id="8" name="Text 6"/>
          <p:cNvSpPr/>
          <p:nvPr/>
        </p:nvSpPr>
        <p:spPr>
          <a:xfrm>
            <a:off x="1200150" y="4900017"/>
            <a:ext cx="4917440" cy="254000"/>
          </a:xfrm>
          <a:prstGeom prst="rect">
            <a:avLst/>
          </a:prstGeom>
          <a:noFill/>
          <a:ln/>
        </p:spPr>
        <p:txBody>
          <a:bodyPr wrap="square" lIns="25400" tIns="25400" rIns="25400" bIns="25400" rtlCol="0" anchor="t">
            <a:normAutofit/>
          </a:bodyPr>
          <a:lstStyle/>
          <a:p>
            <a:pPr marL="0" indent="0" algn="l">
              <a:buNone/>
            </a:pPr>
            <a:r>
              <a:rPr lang="en-US" sz="1275" dirty="0">
                <a:solidFill>
                  <a:srgbClr val="D97757"/>
                </a:solidFill>
                <a:latin typeface="JetBrains Mono" pitchFamily="34" charset="0"/>
                <a:ea typeface="JetBrains Mono" pitchFamily="34" charset="-122"/>
                <a:cs typeface="JetBrains Mono" pitchFamily="34" charset="-120"/>
              </a:rPr>
              <a:t>01 · 개발</a:t>
            </a:r>
            <a:endParaRPr lang="en-US" sz="1275" dirty="0"/>
          </a:p>
        </p:txBody>
      </p:sp>
      <p:sp>
        <p:nvSpPr>
          <p:cNvPr id="9" name="Text 7"/>
          <p:cNvSpPr/>
          <p:nvPr/>
        </p:nvSpPr>
        <p:spPr>
          <a:xfrm>
            <a:off x="1200150" y="5249267"/>
            <a:ext cx="4917440" cy="31115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0EADB"/>
                </a:solidFill>
                <a:latin typeface="Noto Sans KR" pitchFamily="34" charset="0"/>
                <a:ea typeface="Noto Sans KR" pitchFamily="34" charset="-122"/>
                <a:cs typeface="Noto Sans KR" pitchFamily="34" charset="-120"/>
              </a:rPr>
              <a:t>Play Mode</a:t>
            </a:r>
            <a:endParaRPr lang="en-US" sz="1800" dirty="0"/>
          </a:p>
        </p:txBody>
      </p:sp>
      <p:sp>
        <p:nvSpPr>
          <p:cNvPr id="10" name="Text 8"/>
          <p:cNvSpPr/>
          <p:nvPr/>
        </p:nvSpPr>
        <p:spPr>
          <a:xfrm>
            <a:off x="1200150" y="5655668"/>
            <a:ext cx="4917440" cy="312341"/>
          </a:xfrm>
          <a:prstGeom prst="rect">
            <a:avLst/>
          </a:prstGeom>
          <a:noFill/>
          <a:ln/>
        </p:spPr>
        <p:txBody>
          <a:bodyPr wrap="square" lIns="25400" tIns="25400" rIns="25400" bIns="25400" rtlCol="0" anchor="t">
            <a:normAutofit fontScale="92500"/>
          </a:bodyPr>
          <a:lstStyle/>
          <a:p>
            <a:pPr marL="0" indent="0" algn="l">
              <a:lnSpc>
                <a:spcPct val="160000"/>
              </a:lnSpc>
              <a:buNone/>
            </a:pPr>
            <a:r>
              <a:rPr lang="en-US" sz="1350" dirty="0">
                <a:solidFill>
                  <a:srgbClr val="8A9AB8"/>
                </a:solidFill>
                <a:latin typeface="Noto Sans KR" pitchFamily="34" charset="0"/>
                <a:ea typeface="Noto Sans KR" pitchFamily="34" charset="-122"/>
                <a:cs typeface="Noto Sans KR" pitchFamily="34" charset="-120"/>
              </a:rPr>
              <a:t>Unity Editor에서 즉시 실행 · 빠른 반복</a:t>
            </a:r>
            <a:endParaRPr lang="en-US" sz="1350" dirty="0"/>
          </a:p>
        </p:txBody>
      </p:sp>
      <p:sp>
        <p:nvSpPr>
          <p:cNvPr id="11" name="Text 9"/>
          <p:cNvSpPr/>
          <p:nvPr/>
        </p:nvSpPr>
        <p:spPr>
          <a:xfrm>
            <a:off x="6146800" y="5189538"/>
            <a:ext cx="361950" cy="450850"/>
          </a:xfrm>
          <a:prstGeom prst="rect">
            <a:avLst/>
          </a:prstGeom>
          <a:noFill/>
          <a:ln/>
        </p:spPr>
        <p:txBody>
          <a:bodyPr wrap="square" lIns="25400" tIns="25400" rIns="25400" bIns="25400" rtlCol="0" anchor="t">
            <a:normAutofit/>
          </a:bodyPr>
          <a:lstStyle/>
          <a:p>
            <a:pPr marL="0" indent="0" algn="l">
              <a:buNone/>
            </a:pPr>
            <a:r>
              <a:rPr lang="en-US" sz="2250" dirty="0">
                <a:solidFill>
                  <a:srgbClr val="2E3C55"/>
                </a:solidFill>
                <a:latin typeface="Noto Sans KR" pitchFamily="34" charset="0"/>
                <a:ea typeface="Noto Sans KR" pitchFamily="34" charset="-122"/>
                <a:cs typeface="Noto Sans KR" pitchFamily="34" charset="-120"/>
              </a:rPr>
              <a:t>→</a:t>
            </a:r>
            <a:endParaRPr lang="en-US" sz="2250" dirty="0"/>
          </a:p>
        </p:txBody>
      </p:sp>
      <p:sp>
        <p:nvSpPr>
          <p:cNvPr id="12" name="Shape 10"/>
          <p:cNvSpPr/>
          <p:nvPr/>
        </p:nvSpPr>
        <p:spPr>
          <a:xfrm>
            <a:off x="6623050" y="4394597"/>
            <a:ext cx="5041900" cy="2002631"/>
          </a:xfrm>
          <a:prstGeom prst="roundRect">
            <a:avLst>
              <a:gd name="adj" fmla="val 3805"/>
            </a:avLst>
          </a:prstGeom>
          <a:solidFill>
            <a:srgbClr val="1A2236"/>
          </a:solidFill>
          <a:ln/>
        </p:spPr>
        <p:txBody>
          <a:bodyPr/>
          <a:lstStyle/>
          <a:p>
            <a:endParaRPr lang="ko-KR" altLang="en-US"/>
          </a:p>
        </p:txBody>
      </p:sp>
      <p:sp>
        <p:nvSpPr>
          <p:cNvPr id="13" name="Shape 11"/>
          <p:cNvSpPr/>
          <p:nvPr/>
        </p:nvSpPr>
        <p:spPr>
          <a:xfrm>
            <a:off x="6623050" y="4394597"/>
            <a:ext cx="5041900" cy="38100"/>
          </a:xfrm>
          <a:prstGeom prst="rect">
            <a:avLst/>
          </a:prstGeom>
          <a:solidFill>
            <a:srgbClr val="E8B84B"/>
          </a:solidFill>
          <a:ln/>
        </p:spPr>
        <p:txBody>
          <a:bodyPr/>
          <a:lstStyle/>
          <a:p>
            <a:endParaRPr lang="ko-KR" altLang="en-US"/>
          </a:p>
        </p:txBody>
      </p:sp>
      <p:sp>
        <p:nvSpPr>
          <p:cNvPr id="14" name="Text 12"/>
          <p:cNvSpPr/>
          <p:nvPr/>
        </p:nvSpPr>
        <p:spPr>
          <a:xfrm>
            <a:off x="6908800" y="4756547"/>
            <a:ext cx="4917440" cy="254000"/>
          </a:xfrm>
          <a:prstGeom prst="rect">
            <a:avLst/>
          </a:prstGeom>
          <a:noFill/>
          <a:ln/>
        </p:spPr>
        <p:txBody>
          <a:bodyPr wrap="square" lIns="25400" tIns="25400" rIns="25400" bIns="25400" rtlCol="0" anchor="t">
            <a:normAutofit/>
          </a:bodyPr>
          <a:lstStyle/>
          <a:p>
            <a:pPr marL="0" indent="0" algn="l">
              <a:buNone/>
            </a:pPr>
            <a:r>
              <a:rPr lang="en-US" sz="1275" dirty="0">
                <a:solidFill>
                  <a:srgbClr val="E8B84B"/>
                </a:solidFill>
                <a:latin typeface="JetBrains Mono" pitchFamily="34" charset="0"/>
                <a:ea typeface="JetBrains Mono" pitchFamily="34" charset="-122"/>
                <a:cs typeface="JetBrains Mono" pitchFamily="34" charset="-120"/>
              </a:rPr>
              <a:t>02 · 빌드</a:t>
            </a:r>
            <a:endParaRPr lang="en-US" sz="1275" dirty="0"/>
          </a:p>
        </p:txBody>
      </p:sp>
      <p:sp>
        <p:nvSpPr>
          <p:cNvPr id="15" name="Text 13"/>
          <p:cNvSpPr/>
          <p:nvPr/>
        </p:nvSpPr>
        <p:spPr>
          <a:xfrm>
            <a:off x="6908800" y="5105797"/>
            <a:ext cx="4917440" cy="31115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0EADB"/>
                </a:solidFill>
                <a:latin typeface="Noto Sans KR" pitchFamily="34" charset="0"/>
                <a:ea typeface="Noto Sans KR" pitchFamily="34" charset="-122"/>
                <a:cs typeface="Noto Sans KR" pitchFamily="34" charset="-120"/>
              </a:rPr>
              <a:t>Windows 타겟</a:t>
            </a:r>
            <a:endParaRPr lang="en-US" sz="1800" dirty="0"/>
          </a:p>
        </p:txBody>
      </p:sp>
      <p:sp>
        <p:nvSpPr>
          <p:cNvPr id="16" name="Text 14"/>
          <p:cNvSpPr/>
          <p:nvPr/>
        </p:nvSpPr>
        <p:spPr>
          <a:xfrm>
            <a:off x="6908800" y="5512197"/>
            <a:ext cx="4604512" cy="599281"/>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350" dirty="0">
                <a:solidFill>
                  <a:srgbClr val="8A9AB8"/>
                </a:solidFill>
                <a:latin typeface="Noto Sans KR" pitchFamily="34" charset="0"/>
                <a:ea typeface="Noto Sans KR" pitchFamily="34" charset="-122"/>
                <a:cs typeface="Noto Sans KR" pitchFamily="34" charset="-120"/>
              </a:rPr>
              <a:t>Unity 내장 빌드 기능 · Build Settings → Build → </a:t>
            </a:r>
            <a:r>
              <a:rPr lang="en-US" sz="1350" dirty="0">
                <a:solidFill>
                  <a:srgbClr val="F0EADB"/>
                </a:solidFill>
                <a:latin typeface="JetBrains Mono" pitchFamily="34" charset="0"/>
                <a:ea typeface="JetBrains Mono" pitchFamily="34" charset="-122"/>
                <a:cs typeface="JetBrains Mono" pitchFamily="34" charset="-120"/>
              </a:rPr>
              <a:t>RTwP_RPG.exe </a:t>
            </a:r>
            <a:r>
              <a:rPr lang="en-US" sz="1350" dirty="0">
                <a:solidFill>
                  <a:srgbClr val="8A9AB8"/>
                </a:solidFill>
                <a:latin typeface="Noto Sans KR" pitchFamily="34" charset="0"/>
                <a:ea typeface="Noto Sans KR" pitchFamily="34" charset="-122"/>
                <a:cs typeface="Noto Sans KR" pitchFamily="34" charset="-120"/>
              </a:rPr>
              <a:t>+ Data/</a:t>
            </a:r>
            <a:endParaRPr lang="en-US" sz="1350" dirty="0"/>
          </a:p>
        </p:txBody>
      </p:sp>
      <p:sp>
        <p:nvSpPr>
          <p:cNvPr id="17" name="Text 15"/>
          <p:cNvSpPr/>
          <p:nvPr/>
        </p:nvSpPr>
        <p:spPr>
          <a:xfrm>
            <a:off x="11855451" y="5189538"/>
            <a:ext cx="361950" cy="450850"/>
          </a:xfrm>
          <a:prstGeom prst="rect">
            <a:avLst/>
          </a:prstGeom>
          <a:noFill/>
          <a:ln/>
        </p:spPr>
        <p:txBody>
          <a:bodyPr wrap="square" lIns="25400" tIns="25400" rIns="25400" bIns="25400" rtlCol="0" anchor="t">
            <a:normAutofit/>
          </a:bodyPr>
          <a:lstStyle/>
          <a:p>
            <a:pPr marL="0" indent="0" algn="l">
              <a:buNone/>
            </a:pPr>
            <a:r>
              <a:rPr lang="en-US" sz="2250" dirty="0">
                <a:solidFill>
                  <a:srgbClr val="2E3C55"/>
                </a:solidFill>
                <a:latin typeface="Noto Sans KR" pitchFamily="34" charset="0"/>
                <a:ea typeface="Noto Sans KR" pitchFamily="34" charset="-122"/>
                <a:cs typeface="Noto Sans KR" pitchFamily="34" charset="-120"/>
              </a:rPr>
              <a:t>→</a:t>
            </a:r>
            <a:endParaRPr lang="en-US" sz="2250" dirty="0"/>
          </a:p>
        </p:txBody>
      </p:sp>
      <p:sp>
        <p:nvSpPr>
          <p:cNvPr id="18" name="Shape 16"/>
          <p:cNvSpPr/>
          <p:nvPr/>
        </p:nvSpPr>
        <p:spPr>
          <a:xfrm>
            <a:off x="12331701" y="4538067"/>
            <a:ext cx="5041900" cy="1715691"/>
          </a:xfrm>
          <a:prstGeom prst="roundRect">
            <a:avLst>
              <a:gd name="adj" fmla="val 4441"/>
            </a:avLst>
          </a:prstGeom>
          <a:solidFill>
            <a:srgbClr val="1A2236"/>
          </a:solidFill>
          <a:ln/>
        </p:spPr>
        <p:txBody>
          <a:bodyPr/>
          <a:lstStyle/>
          <a:p>
            <a:endParaRPr lang="ko-KR" altLang="en-US"/>
          </a:p>
        </p:txBody>
      </p:sp>
      <p:sp>
        <p:nvSpPr>
          <p:cNvPr id="19" name="Shape 17"/>
          <p:cNvSpPr/>
          <p:nvPr/>
        </p:nvSpPr>
        <p:spPr>
          <a:xfrm>
            <a:off x="12331701" y="4538067"/>
            <a:ext cx="5041900" cy="38100"/>
          </a:xfrm>
          <a:prstGeom prst="rect">
            <a:avLst/>
          </a:prstGeom>
          <a:solidFill>
            <a:srgbClr val="5BC8A8"/>
          </a:solidFill>
          <a:ln/>
        </p:spPr>
        <p:txBody>
          <a:bodyPr/>
          <a:lstStyle/>
          <a:p>
            <a:endParaRPr lang="ko-KR" altLang="en-US"/>
          </a:p>
        </p:txBody>
      </p:sp>
      <p:sp>
        <p:nvSpPr>
          <p:cNvPr id="20" name="Text 18"/>
          <p:cNvSpPr/>
          <p:nvPr/>
        </p:nvSpPr>
        <p:spPr>
          <a:xfrm>
            <a:off x="12617451" y="4900017"/>
            <a:ext cx="4917440" cy="254000"/>
          </a:xfrm>
          <a:prstGeom prst="rect">
            <a:avLst/>
          </a:prstGeom>
          <a:noFill/>
          <a:ln/>
        </p:spPr>
        <p:txBody>
          <a:bodyPr wrap="square" lIns="25400" tIns="25400" rIns="25400" bIns="25400" rtlCol="0" anchor="t">
            <a:normAutofit/>
          </a:bodyPr>
          <a:lstStyle/>
          <a:p>
            <a:pPr marL="0" indent="0" algn="l">
              <a:buNone/>
            </a:pPr>
            <a:r>
              <a:rPr lang="en-US" sz="1275" dirty="0">
                <a:solidFill>
                  <a:srgbClr val="5BC8A8"/>
                </a:solidFill>
                <a:latin typeface="JetBrains Mono" pitchFamily="34" charset="0"/>
                <a:ea typeface="JetBrains Mono" pitchFamily="34" charset="-122"/>
                <a:cs typeface="JetBrains Mono" pitchFamily="34" charset="-120"/>
              </a:rPr>
              <a:t>03 · 배포</a:t>
            </a:r>
            <a:endParaRPr lang="en-US" sz="1275" dirty="0"/>
          </a:p>
        </p:txBody>
      </p:sp>
      <p:sp>
        <p:nvSpPr>
          <p:cNvPr id="21" name="Text 19"/>
          <p:cNvSpPr/>
          <p:nvPr/>
        </p:nvSpPr>
        <p:spPr>
          <a:xfrm>
            <a:off x="12617451" y="5249267"/>
            <a:ext cx="4917440" cy="31115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0EADB"/>
                </a:solidFill>
                <a:latin typeface="Noto Sans KR" pitchFamily="34" charset="0"/>
                <a:ea typeface="Noto Sans KR" pitchFamily="34" charset="-122"/>
                <a:cs typeface="Noto Sans KR" pitchFamily="34" charset="-120"/>
              </a:rPr>
              <a:t>itch.io</a:t>
            </a:r>
            <a:endParaRPr lang="en-US" sz="1800" dirty="0"/>
          </a:p>
        </p:txBody>
      </p:sp>
      <p:sp>
        <p:nvSpPr>
          <p:cNvPr id="22" name="Text 20"/>
          <p:cNvSpPr/>
          <p:nvPr/>
        </p:nvSpPr>
        <p:spPr>
          <a:xfrm>
            <a:off x="12617451" y="5655668"/>
            <a:ext cx="4917440" cy="312341"/>
          </a:xfrm>
          <a:prstGeom prst="rect">
            <a:avLst/>
          </a:prstGeom>
          <a:noFill/>
          <a:ln/>
        </p:spPr>
        <p:txBody>
          <a:bodyPr wrap="square" lIns="25400" tIns="25400" rIns="25400" bIns="25400" rtlCol="0" anchor="t">
            <a:normAutofit fontScale="92500"/>
          </a:bodyPr>
          <a:lstStyle/>
          <a:p>
            <a:pPr marL="0" indent="0" algn="l">
              <a:lnSpc>
                <a:spcPct val="160000"/>
              </a:lnSpc>
              <a:buNone/>
            </a:pPr>
            <a:r>
              <a:rPr lang="en-US" sz="1350" dirty="0">
                <a:solidFill>
                  <a:srgbClr val="8A9AB8"/>
                </a:solidFill>
                <a:latin typeface="Noto Sans KR" pitchFamily="34" charset="0"/>
                <a:ea typeface="Noto Sans KR" pitchFamily="34" charset="-122"/>
                <a:cs typeface="Noto Sans KR" pitchFamily="34" charset="-120"/>
              </a:rPr>
              <a:t>exe + Data/ 압축 → 업로드 · Windows 독립 실행형</a:t>
            </a:r>
            <a:endParaRPr lang="en-US" sz="1350" dirty="0"/>
          </a:p>
        </p:txBody>
      </p:sp>
      <p:sp>
        <p:nvSpPr>
          <p:cNvPr id="27" name="Shape 25"/>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29" name="Text 0">
            <a:extLst>
              <a:ext uri="{FF2B5EF4-FFF2-40B4-BE49-F238E27FC236}">
                <a16:creationId xmlns:a16="http://schemas.microsoft.com/office/drawing/2014/main" id="{E5F67AD3-0961-8899-1C7E-F2E036BC939B}"/>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15 / 22</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nvSpPr>
        <p:spPr>
          <a:xfrm>
            <a:off x="8413453" y="609600"/>
            <a:ext cx="1483658"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ARCHITECTURE</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lnSpcReduction="10000"/>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57300"/>
            <a:ext cx="18105120" cy="628650"/>
          </a:xfrm>
          <a:prstGeom prst="rect">
            <a:avLst/>
          </a:prstGeom>
          <a:noFill/>
          <a:ln/>
        </p:spPr>
        <p:txBody>
          <a:bodyPr wrap="square" lIns="25400" tIns="25400" rIns="25400" bIns="25400" rtlCol="0" anchor="t">
            <a:normAutofit lnSpcReduction="10000"/>
          </a:bodyPr>
          <a:lstStyle/>
          <a:p>
            <a:pPr marL="0" indent="0" algn="l">
              <a:buNone/>
            </a:pPr>
            <a:r>
              <a:rPr lang="en-US" sz="3900" b="1" kern="0" spc="-75" dirty="0">
                <a:solidFill>
                  <a:srgbClr val="F0EADB"/>
                </a:solidFill>
                <a:latin typeface="Noto Sans KR" pitchFamily="34" charset="0"/>
                <a:ea typeface="Noto Sans KR" pitchFamily="34" charset="-122"/>
                <a:cs typeface="Noto Sans KR" pitchFamily="34" charset="-120"/>
              </a:rPr>
              <a:t>아키텍처 레이어</a:t>
            </a:r>
            <a:endParaRPr lang="en-US" sz="3900" dirty="0"/>
          </a:p>
        </p:txBody>
      </p:sp>
      <p:sp>
        <p:nvSpPr>
          <p:cNvPr id="6" name="Shape 4"/>
          <p:cNvSpPr/>
          <p:nvPr/>
        </p:nvSpPr>
        <p:spPr>
          <a:xfrm>
            <a:off x="2095500" y="2205038"/>
            <a:ext cx="14097000" cy="762000"/>
          </a:xfrm>
          <a:prstGeom prst="roundRect">
            <a:avLst>
              <a:gd name="adj" fmla="val 10000"/>
            </a:avLst>
          </a:prstGeom>
          <a:solidFill>
            <a:srgbClr val="1A2236"/>
          </a:solidFill>
          <a:ln/>
        </p:spPr>
        <p:txBody>
          <a:bodyPr/>
          <a:lstStyle/>
          <a:p>
            <a:endParaRPr lang="ko-KR" altLang="en-US"/>
          </a:p>
        </p:txBody>
      </p:sp>
      <p:sp>
        <p:nvSpPr>
          <p:cNvPr id="7" name="Text 5"/>
          <p:cNvSpPr/>
          <p:nvPr/>
        </p:nvSpPr>
        <p:spPr>
          <a:xfrm>
            <a:off x="2438400" y="2455863"/>
            <a:ext cx="1781175"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8A9AB8"/>
                </a:solidFill>
                <a:latin typeface="Noto Sans KR" pitchFamily="34" charset="0"/>
                <a:ea typeface="Noto Sans KR" pitchFamily="34" charset="-122"/>
                <a:cs typeface="Noto Sans KR" pitchFamily="34" charset="-120"/>
              </a:rPr>
              <a:t>입력 레이어</a:t>
            </a:r>
            <a:endParaRPr lang="en-US" sz="1725" dirty="0"/>
          </a:p>
        </p:txBody>
      </p:sp>
      <p:sp>
        <p:nvSpPr>
          <p:cNvPr id="8" name="Text 6"/>
          <p:cNvSpPr/>
          <p:nvPr/>
        </p:nvSpPr>
        <p:spPr>
          <a:xfrm>
            <a:off x="4362450" y="2433638"/>
            <a:ext cx="10965250"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0EADB"/>
                </a:solidFill>
                <a:latin typeface="JetBrains Mono" pitchFamily="34" charset="0"/>
                <a:ea typeface="JetBrains Mono" pitchFamily="34" charset="-122"/>
                <a:cs typeface="JetBrains Mono" pitchFamily="34" charset="-120"/>
              </a:rPr>
              <a:t>BattleInputHandler</a:t>
            </a:r>
            <a:endParaRPr lang="en-US" sz="1800" dirty="0"/>
          </a:p>
        </p:txBody>
      </p:sp>
      <p:sp>
        <p:nvSpPr>
          <p:cNvPr id="9" name="Text 7"/>
          <p:cNvSpPr/>
          <p:nvPr/>
        </p:nvSpPr>
        <p:spPr>
          <a:xfrm>
            <a:off x="14635659" y="2462213"/>
            <a:ext cx="1335336" cy="28575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Noto Sans KR" pitchFamily="34" charset="0"/>
                <a:ea typeface="Noto Sans KR" pitchFamily="34" charset="-122"/>
                <a:cs typeface="Noto Sans KR" pitchFamily="34" charset="-120"/>
              </a:rPr>
              <a:t>← 플레이어 클릭</a:t>
            </a:r>
            <a:endParaRPr lang="en-US" sz="1350" dirty="0"/>
          </a:p>
        </p:txBody>
      </p:sp>
      <p:sp>
        <p:nvSpPr>
          <p:cNvPr id="10" name="Text 8"/>
          <p:cNvSpPr/>
          <p:nvPr/>
        </p:nvSpPr>
        <p:spPr>
          <a:xfrm>
            <a:off x="1390650" y="3100388"/>
            <a:ext cx="15506700" cy="285750"/>
          </a:xfrm>
          <a:prstGeom prst="rect">
            <a:avLst/>
          </a:prstGeom>
          <a:noFill/>
          <a:ln/>
        </p:spPr>
        <p:txBody>
          <a:bodyPr wrap="square" lIns="25400" tIns="25400" rIns="25400" bIns="25400" rtlCol="0" anchor="t">
            <a:normAutofit/>
          </a:bodyPr>
          <a:lstStyle/>
          <a:p>
            <a:pPr marL="0" indent="0" algn="ctr">
              <a:buNone/>
            </a:pPr>
            <a:r>
              <a:rPr lang="en-US" sz="1350" dirty="0">
                <a:solidFill>
                  <a:srgbClr val="2E3C55"/>
                </a:solidFill>
                <a:latin typeface="Noto Sans KR" pitchFamily="34" charset="0"/>
                <a:ea typeface="Noto Sans KR" pitchFamily="34" charset="-122"/>
                <a:cs typeface="Noto Sans KR" pitchFamily="34" charset="-120"/>
              </a:rPr>
              <a:t>▼</a:t>
            </a:r>
            <a:endParaRPr lang="en-US" sz="1350" dirty="0"/>
          </a:p>
        </p:txBody>
      </p:sp>
      <p:sp>
        <p:nvSpPr>
          <p:cNvPr id="11" name="Shape 9"/>
          <p:cNvSpPr/>
          <p:nvPr/>
        </p:nvSpPr>
        <p:spPr>
          <a:xfrm>
            <a:off x="2095500" y="3481388"/>
            <a:ext cx="14097000" cy="762000"/>
          </a:xfrm>
          <a:prstGeom prst="roundRect">
            <a:avLst>
              <a:gd name="adj" fmla="val 10000"/>
            </a:avLst>
          </a:prstGeom>
          <a:solidFill>
            <a:srgbClr val="1A2236"/>
          </a:solidFill>
          <a:ln/>
        </p:spPr>
        <p:txBody>
          <a:bodyPr/>
          <a:lstStyle/>
          <a:p>
            <a:endParaRPr lang="ko-KR" altLang="en-US"/>
          </a:p>
        </p:txBody>
      </p:sp>
      <p:sp>
        <p:nvSpPr>
          <p:cNvPr id="12" name="Text 10"/>
          <p:cNvSpPr/>
          <p:nvPr/>
        </p:nvSpPr>
        <p:spPr>
          <a:xfrm>
            <a:off x="2438400" y="3732213"/>
            <a:ext cx="1781175"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8A9AB8"/>
                </a:solidFill>
                <a:latin typeface="Noto Sans KR" pitchFamily="34" charset="0"/>
                <a:ea typeface="Noto Sans KR" pitchFamily="34" charset="-122"/>
                <a:cs typeface="Noto Sans KR" pitchFamily="34" charset="-120"/>
              </a:rPr>
              <a:t>명령 레이어</a:t>
            </a:r>
            <a:endParaRPr lang="en-US" sz="1725" dirty="0"/>
          </a:p>
        </p:txBody>
      </p:sp>
      <p:sp>
        <p:nvSpPr>
          <p:cNvPr id="13" name="Text 11"/>
          <p:cNvSpPr/>
          <p:nvPr/>
        </p:nvSpPr>
        <p:spPr>
          <a:xfrm>
            <a:off x="4362450" y="3709988"/>
            <a:ext cx="1171209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0EADB"/>
                </a:solidFill>
                <a:latin typeface="JetBrains Mono" pitchFamily="34" charset="0"/>
                <a:ea typeface="JetBrains Mono" pitchFamily="34" charset="-122"/>
                <a:cs typeface="JetBrains Mono" pitchFamily="34" charset="-120"/>
              </a:rPr>
              <a:t>CommandQueue</a:t>
            </a:r>
            <a:endParaRPr lang="en-US" sz="1800" dirty="0"/>
          </a:p>
        </p:txBody>
      </p:sp>
      <p:sp>
        <p:nvSpPr>
          <p:cNvPr id="14" name="Text 12"/>
          <p:cNvSpPr/>
          <p:nvPr/>
        </p:nvSpPr>
        <p:spPr>
          <a:xfrm>
            <a:off x="15314613" y="3738563"/>
            <a:ext cx="611188" cy="28575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Noto Sans KR" pitchFamily="34" charset="0"/>
                <a:ea typeface="Noto Sans KR" pitchFamily="34" charset="-122"/>
                <a:cs typeface="Noto Sans KR" pitchFamily="34" charset="-120"/>
              </a:rPr>
              <a:t>← 큐잉</a:t>
            </a:r>
            <a:endParaRPr lang="en-US" sz="1350" dirty="0"/>
          </a:p>
        </p:txBody>
      </p:sp>
      <p:sp>
        <p:nvSpPr>
          <p:cNvPr id="15" name="Text 13"/>
          <p:cNvSpPr/>
          <p:nvPr/>
        </p:nvSpPr>
        <p:spPr>
          <a:xfrm>
            <a:off x="1390650" y="4376738"/>
            <a:ext cx="15506700" cy="285750"/>
          </a:xfrm>
          <a:prstGeom prst="rect">
            <a:avLst/>
          </a:prstGeom>
          <a:noFill/>
          <a:ln/>
        </p:spPr>
        <p:txBody>
          <a:bodyPr wrap="square" lIns="25400" tIns="25400" rIns="25400" bIns="25400" rtlCol="0" anchor="t">
            <a:normAutofit/>
          </a:bodyPr>
          <a:lstStyle/>
          <a:p>
            <a:pPr marL="0" indent="0" algn="ctr">
              <a:buNone/>
            </a:pPr>
            <a:r>
              <a:rPr lang="en-US" sz="1350" dirty="0">
                <a:solidFill>
                  <a:srgbClr val="2E3C55"/>
                </a:solidFill>
                <a:latin typeface="Noto Sans KR" pitchFamily="34" charset="0"/>
                <a:ea typeface="Noto Sans KR" pitchFamily="34" charset="-122"/>
                <a:cs typeface="Noto Sans KR" pitchFamily="34" charset="-120"/>
              </a:rPr>
              <a:t>▼</a:t>
            </a:r>
            <a:endParaRPr lang="en-US" sz="1350" dirty="0"/>
          </a:p>
        </p:txBody>
      </p:sp>
      <p:sp>
        <p:nvSpPr>
          <p:cNvPr id="16" name="Shape 14"/>
          <p:cNvSpPr/>
          <p:nvPr/>
        </p:nvSpPr>
        <p:spPr>
          <a:xfrm>
            <a:off x="2095500" y="4757738"/>
            <a:ext cx="14097000" cy="762000"/>
          </a:xfrm>
          <a:prstGeom prst="roundRect">
            <a:avLst>
              <a:gd name="adj" fmla="val 10000"/>
            </a:avLst>
          </a:prstGeom>
          <a:solidFill>
            <a:srgbClr val="232D42"/>
          </a:solidFill>
          <a:ln/>
          <a:effectLst>
            <a:outerShdw blurRad="285750" dist="76200" dir="5400000" algn="bl" rotWithShape="0">
              <a:srgbClr val="D97757">
                <a:alpha val="15000"/>
              </a:srgbClr>
            </a:outerShdw>
          </a:effectLst>
        </p:spPr>
        <p:txBody>
          <a:bodyPr/>
          <a:lstStyle/>
          <a:p>
            <a:endParaRPr lang="ko-KR" altLang="en-US"/>
          </a:p>
        </p:txBody>
      </p:sp>
      <p:sp>
        <p:nvSpPr>
          <p:cNvPr id="17" name="Shape 15"/>
          <p:cNvSpPr/>
          <p:nvPr/>
        </p:nvSpPr>
        <p:spPr>
          <a:xfrm>
            <a:off x="2095500" y="4757738"/>
            <a:ext cx="44450" cy="762000"/>
          </a:xfrm>
          <a:prstGeom prst="rect">
            <a:avLst/>
          </a:prstGeom>
          <a:solidFill>
            <a:srgbClr val="D97757"/>
          </a:solidFill>
          <a:ln/>
        </p:spPr>
        <p:txBody>
          <a:bodyPr/>
          <a:lstStyle/>
          <a:p>
            <a:endParaRPr lang="ko-KR" altLang="en-US"/>
          </a:p>
        </p:txBody>
      </p:sp>
      <p:sp>
        <p:nvSpPr>
          <p:cNvPr id="18" name="Text 16"/>
          <p:cNvSpPr/>
          <p:nvPr/>
        </p:nvSpPr>
        <p:spPr>
          <a:xfrm>
            <a:off x="2482850" y="5008563"/>
            <a:ext cx="1781175"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D97757"/>
                </a:solidFill>
                <a:latin typeface="Noto Sans KR" pitchFamily="34" charset="0"/>
                <a:ea typeface="Noto Sans KR" pitchFamily="34" charset="-122"/>
                <a:cs typeface="Noto Sans KR" pitchFamily="34" charset="-120"/>
              </a:rPr>
              <a:t>시뮬 레이어</a:t>
            </a:r>
            <a:endParaRPr lang="en-US" sz="1725" dirty="0"/>
          </a:p>
        </p:txBody>
      </p:sp>
      <p:sp>
        <p:nvSpPr>
          <p:cNvPr id="19" name="Text 17"/>
          <p:cNvSpPr/>
          <p:nvPr/>
        </p:nvSpPr>
        <p:spPr>
          <a:xfrm>
            <a:off x="4406900" y="4986338"/>
            <a:ext cx="11493600"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F0EADB"/>
                </a:solidFill>
                <a:latin typeface="JetBrains Mono" pitchFamily="34" charset="0"/>
                <a:ea typeface="JetBrains Mono" pitchFamily="34" charset="-122"/>
                <a:cs typeface="JetBrains Mono" pitchFamily="34" charset="-120"/>
              </a:rPr>
              <a:t>BattleSimulation </a:t>
            </a:r>
            <a:r>
              <a:rPr lang="en-US" sz="1800" b="1" dirty="0">
                <a:solidFill>
                  <a:srgbClr val="D97757"/>
                </a:solidFill>
                <a:latin typeface="JetBrains Mono" pitchFamily="34" charset="0"/>
                <a:ea typeface="JetBrains Mono" pitchFamily="34" charset="-122"/>
                <a:cs typeface="JetBrains Mono" pitchFamily="34" charset="-120"/>
              </a:rPr>
              <a:t>· 20 TPS</a:t>
            </a:r>
            <a:endParaRPr lang="en-US" sz="1800" dirty="0"/>
          </a:p>
        </p:txBody>
      </p:sp>
      <p:sp>
        <p:nvSpPr>
          <p:cNvPr id="20" name="Text 18"/>
          <p:cNvSpPr/>
          <p:nvPr/>
        </p:nvSpPr>
        <p:spPr>
          <a:xfrm>
            <a:off x="15160427" y="5033963"/>
            <a:ext cx="765373" cy="247650"/>
          </a:xfrm>
          <a:prstGeom prst="rect">
            <a:avLst/>
          </a:prstGeom>
          <a:noFill/>
          <a:ln/>
        </p:spPr>
        <p:txBody>
          <a:bodyPr wrap="square" lIns="25400" tIns="25400" rIns="25400" bIns="25400" rtlCol="0" anchor="t">
            <a:normAutofit fontScale="92500"/>
          </a:bodyPr>
          <a:lstStyle/>
          <a:p>
            <a:pPr marL="0" indent="0" algn="l">
              <a:buNone/>
            </a:pPr>
            <a:r>
              <a:rPr lang="en-US" sz="1350" b="1" dirty="0">
                <a:solidFill>
                  <a:srgbClr val="D97757"/>
                </a:solidFill>
                <a:latin typeface="Noto Sans KR" pitchFamily="34" charset="0"/>
                <a:ea typeface="Noto Sans KR" pitchFamily="34" charset="-122"/>
                <a:cs typeface="Noto Sans KR" pitchFamily="34" charset="-120"/>
              </a:rPr>
              <a:t>★ 틱 엔진</a:t>
            </a:r>
            <a:endParaRPr lang="en-US" sz="1350" dirty="0"/>
          </a:p>
        </p:txBody>
      </p:sp>
      <p:sp>
        <p:nvSpPr>
          <p:cNvPr id="21" name="Text 19"/>
          <p:cNvSpPr/>
          <p:nvPr/>
        </p:nvSpPr>
        <p:spPr>
          <a:xfrm>
            <a:off x="1390650" y="5653088"/>
            <a:ext cx="15506700" cy="285750"/>
          </a:xfrm>
          <a:prstGeom prst="rect">
            <a:avLst/>
          </a:prstGeom>
          <a:noFill/>
          <a:ln/>
        </p:spPr>
        <p:txBody>
          <a:bodyPr wrap="square" lIns="25400" tIns="25400" rIns="25400" bIns="25400" rtlCol="0" anchor="t">
            <a:normAutofit/>
          </a:bodyPr>
          <a:lstStyle/>
          <a:p>
            <a:pPr marL="0" indent="0" algn="ctr">
              <a:buNone/>
            </a:pPr>
            <a:r>
              <a:rPr lang="en-US" sz="1350" dirty="0">
                <a:solidFill>
                  <a:srgbClr val="2E3C55"/>
                </a:solidFill>
                <a:latin typeface="Noto Sans KR" pitchFamily="34" charset="0"/>
                <a:ea typeface="Noto Sans KR" pitchFamily="34" charset="-122"/>
                <a:cs typeface="Noto Sans KR" pitchFamily="34" charset="-120"/>
              </a:rPr>
              <a:t>▼</a:t>
            </a:r>
            <a:endParaRPr lang="en-US" sz="1350" dirty="0"/>
          </a:p>
        </p:txBody>
      </p:sp>
      <p:sp>
        <p:nvSpPr>
          <p:cNvPr id="22" name="Shape 20"/>
          <p:cNvSpPr/>
          <p:nvPr/>
        </p:nvSpPr>
        <p:spPr>
          <a:xfrm>
            <a:off x="2095500" y="6034088"/>
            <a:ext cx="14097000" cy="762000"/>
          </a:xfrm>
          <a:prstGeom prst="roundRect">
            <a:avLst>
              <a:gd name="adj" fmla="val 10000"/>
            </a:avLst>
          </a:prstGeom>
          <a:solidFill>
            <a:srgbClr val="1A2236"/>
          </a:solidFill>
          <a:ln/>
        </p:spPr>
        <p:txBody>
          <a:bodyPr/>
          <a:lstStyle/>
          <a:p>
            <a:endParaRPr lang="ko-KR" altLang="en-US"/>
          </a:p>
        </p:txBody>
      </p:sp>
      <p:sp>
        <p:nvSpPr>
          <p:cNvPr id="23" name="Text 21"/>
          <p:cNvSpPr/>
          <p:nvPr/>
        </p:nvSpPr>
        <p:spPr>
          <a:xfrm>
            <a:off x="2438400" y="6284913"/>
            <a:ext cx="1781175"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8A9AB8"/>
                </a:solidFill>
                <a:latin typeface="Noto Sans KR" pitchFamily="34" charset="0"/>
                <a:ea typeface="Noto Sans KR" pitchFamily="34" charset="-122"/>
                <a:cs typeface="Noto Sans KR" pitchFamily="34" charset="-120"/>
              </a:rPr>
              <a:t>판정 레이어</a:t>
            </a:r>
            <a:endParaRPr lang="en-US" sz="1725" dirty="0"/>
          </a:p>
        </p:txBody>
      </p:sp>
      <p:sp>
        <p:nvSpPr>
          <p:cNvPr id="24" name="Text 22"/>
          <p:cNvSpPr/>
          <p:nvPr/>
        </p:nvSpPr>
        <p:spPr>
          <a:xfrm>
            <a:off x="4362450" y="6262688"/>
            <a:ext cx="10696327"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0EADB"/>
                </a:solidFill>
                <a:latin typeface="JetBrains Mono" pitchFamily="34" charset="0"/>
                <a:ea typeface="JetBrains Mono" pitchFamily="34" charset="-122"/>
                <a:cs typeface="JetBrains Mono" pitchFamily="34" charset="-120"/>
              </a:rPr>
              <a:t>CombatCalculator</a:t>
            </a:r>
            <a:endParaRPr lang="en-US" sz="1800" dirty="0"/>
          </a:p>
        </p:txBody>
      </p:sp>
      <p:sp>
        <p:nvSpPr>
          <p:cNvPr id="25" name="Text 23"/>
          <p:cNvSpPr/>
          <p:nvPr/>
        </p:nvSpPr>
        <p:spPr>
          <a:xfrm>
            <a:off x="14391184" y="6291263"/>
            <a:ext cx="1604258" cy="28575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Noto Sans KR" pitchFamily="34" charset="0"/>
                <a:ea typeface="Noto Sans KR" pitchFamily="34" charset="-122"/>
                <a:cs typeface="Noto Sans KR" pitchFamily="34" charset="-120"/>
              </a:rPr>
              <a:t>← 데미지/패링/회피</a:t>
            </a:r>
            <a:endParaRPr lang="en-US" sz="1350" dirty="0"/>
          </a:p>
        </p:txBody>
      </p:sp>
      <p:sp>
        <p:nvSpPr>
          <p:cNvPr id="26" name="Text 24"/>
          <p:cNvSpPr/>
          <p:nvPr/>
        </p:nvSpPr>
        <p:spPr>
          <a:xfrm>
            <a:off x="1390650" y="6929438"/>
            <a:ext cx="15506700" cy="285750"/>
          </a:xfrm>
          <a:prstGeom prst="rect">
            <a:avLst/>
          </a:prstGeom>
          <a:noFill/>
          <a:ln/>
        </p:spPr>
        <p:txBody>
          <a:bodyPr wrap="square" lIns="25400" tIns="25400" rIns="25400" bIns="25400" rtlCol="0" anchor="t">
            <a:normAutofit/>
          </a:bodyPr>
          <a:lstStyle/>
          <a:p>
            <a:pPr marL="0" indent="0" algn="ctr">
              <a:buNone/>
            </a:pPr>
            <a:r>
              <a:rPr lang="en-US" sz="1350" dirty="0">
                <a:solidFill>
                  <a:srgbClr val="2E3C55"/>
                </a:solidFill>
                <a:latin typeface="Noto Sans KR" pitchFamily="34" charset="0"/>
                <a:ea typeface="Noto Sans KR" pitchFamily="34" charset="-122"/>
                <a:cs typeface="Noto Sans KR" pitchFamily="34" charset="-120"/>
              </a:rPr>
              <a:t>▼</a:t>
            </a:r>
            <a:endParaRPr lang="en-US" sz="1350" dirty="0"/>
          </a:p>
        </p:txBody>
      </p:sp>
      <p:sp>
        <p:nvSpPr>
          <p:cNvPr id="27" name="Shape 25"/>
          <p:cNvSpPr/>
          <p:nvPr/>
        </p:nvSpPr>
        <p:spPr>
          <a:xfrm>
            <a:off x="2095500" y="7310438"/>
            <a:ext cx="14097000" cy="762000"/>
          </a:xfrm>
          <a:prstGeom prst="roundRect">
            <a:avLst>
              <a:gd name="adj" fmla="val 10000"/>
            </a:avLst>
          </a:prstGeom>
          <a:solidFill>
            <a:srgbClr val="1A2236"/>
          </a:solidFill>
          <a:ln/>
        </p:spPr>
        <p:txBody>
          <a:bodyPr/>
          <a:lstStyle/>
          <a:p>
            <a:endParaRPr lang="ko-KR" altLang="en-US"/>
          </a:p>
        </p:txBody>
      </p:sp>
      <p:sp>
        <p:nvSpPr>
          <p:cNvPr id="28" name="Text 26"/>
          <p:cNvSpPr/>
          <p:nvPr/>
        </p:nvSpPr>
        <p:spPr>
          <a:xfrm>
            <a:off x="2438400" y="7561263"/>
            <a:ext cx="1781175"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8A9AB8"/>
                </a:solidFill>
                <a:latin typeface="Noto Sans KR" pitchFamily="34" charset="0"/>
                <a:ea typeface="Noto Sans KR" pitchFamily="34" charset="-122"/>
                <a:cs typeface="Noto Sans KR" pitchFamily="34" charset="-120"/>
              </a:rPr>
              <a:t>이벤트 레이어</a:t>
            </a:r>
            <a:endParaRPr lang="en-US" sz="1725" dirty="0"/>
          </a:p>
        </p:txBody>
      </p:sp>
      <p:sp>
        <p:nvSpPr>
          <p:cNvPr id="29" name="Text 27"/>
          <p:cNvSpPr/>
          <p:nvPr/>
        </p:nvSpPr>
        <p:spPr>
          <a:xfrm>
            <a:off x="4362450" y="7539037"/>
            <a:ext cx="11138783"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0EADB"/>
                </a:solidFill>
                <a:latin typeface="JetBrains Mono" pitchFamily="34" charset="0"/>
                <a:ea typeface="JetBrains Mono" pitchFamily="34" charset="-122"/>
                <a:cs typeface="JetBrains Mono" pitchFamily="34" charset="-120"/>
              </a:rPr>
              <a:t>EventBus</a:t>
            </a:r>
            <a:endParaRPr lang="en-US" sz="1800" dirty="0"/>
          </a:p>
        </p:txBody>
      </p:sp>
      <p:sp>
        <p:nvSpPr>
          <p:cNvPr id="30" name="Text 28"/>
          <p:cNvSpPr/>
          <p:nvPr/>
        </p:nvSpPr>
        <p:spPr>
          <a:xfrm>
            <a:off x="14793417" y="7567612"/>
            <a:ext cx="1132384" cy="28575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Noto Sans KR" pitchFamily="34" charset="0"/>
                <a:ea typeface="Noto Sans KR" pitchFamily="34" charset="-122"/>
                <a:cs typeface="Noto Sans KR" pitchFamily="34" charset="-120"/>
              </a:rPr>
              <a:t>← 느슨한 결합</a:t>
            </a:r>
            <a:endParaRPr lang="en-US" sz="1350" dirty="0"/>
          </a:p>
        </p:txBody>
      </p:sp>
      <p:sp>
        <p:nvSpPr>
          <p:cNvPr id="31" name="Text 29"/>
          <p:cNvSpPr/>
          <p:nvPr/>
        </p:nvSpPr>
        <p:spPr>
          <a:xfrm>
            <a:off x="1390650" y="8205788"/>
            <a:ext cx="15506700" cy="285750"/>
          </a:xfrm>
          <a:prstGeom prst="rect">
            <a:avLst/>
          </a:prstGeom>
          <a:noFill/>
          <a:ln/>
        </p:spPr>
        <p:txBody>
          <a:bodyPr wrap="square" lIns="25400" tIns="25400" rIns="25400" bIns="25400" rtlCol="0" anchor="t">
            <a:normAutofit/>
          </a:bodyPr>
          <a:lstStyle/>
          <a:p>
            <a:pPr marL="0" indent="0" algn="ctr">
              <a:buNone/>
            </a:pPr>
            <a:r>
              <a:rPr lang="en-US" sz="1350" dirty="0">
                <a:solidFill>
                  <a:srgbClr val="2E3C55"/>
                </a:solidFill>
                <a:latin typeface="Noto Sans KR" pitchFamily="34" charset="0"/>
                <a:ea typeface="Noto Sans KR" pitchFamily="34" charset="-122"/>
                <a:cs typeface="Noto Sans KR" pitchFamily="34" charset="-120"/>
              </a:rPr>
              <a:t>▼</a:t>
            </a:r>
            <a:endParaRPr lang="en-US" sz="1350" dirty="0"/>
          </a:p>
        </p:txBody>
      </p:sp>
      <p:sp>
        <p:nvSpPr>
          <p:cNvPr id="32" name="Shape 30"/>
          <p:cNvSpPr/>
          <p:nvPr/>
        </p:nvSpPr>
        <p:spPr>
          <a:xfrm>
            <a:off x="2095500" y="8586788"/>
            <a:ext cx="14097000" cy="762000"/>
          </a:xfrm>
          <a:prstGeom prst="roundRect">
            <a:avLst>
              <a:gd name="adj" fmla="val 10000"/>
            </a:avLst>
          </a:prstGeom>
          <a:solidFill>
            <a:srgbClr val="1A2236"/>
          </a:solidFill>
          <a:ln/>
        </p:spPr>
        <p:txBody>
          <a:bodyPr/>
          <a:lstStyle/>
          <a:p>
            <a:endParaRPr lang="ko-KR" altLang="en-US"/>
          </a:p>
        </p:txBody>
      </p:sp>
      <p:sp>
        <p:nvSpPr>
          <p:cNvPr id="33" name="Text 31"/>
          <p:cNvSpPr/>
          <p:nvPr/>
        </p:nvSpPr>
        <p:spPr>
          <a:xfrm>
            <a:off x="2438400" y="8837613"/>
            <a:ext cx="1781175"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8A9AB8"/>
                </a:solidFill>
                <a:latin typeface="Noto Sans KR" pitchFamily="34" charset="0"/>
                <a:ea typeface="Noto Sans KR" pitchFamily="34" charset="-122"/>
                <a:cs typeface="Noto Sans KR" pitchFamily="34" charset="-120"/>
              </a:rPr>
              <a:t>데이터 레이어</a:t>
            </a:r>
            <a:endParaRPr lang="en-US" sz="1725" dirty="0"/>
          </a:p>
        </p:txBody>
      </p:sp>
      <p:sp>
        <p:nvSpPr>
          <p:cNvPr id="34" name="Text 32"/>
          <p:cNvSpPr/>
          <p:nvPr/>
        </p:nvSpPr>
        <p:spPr>
          <a:xfrm>
            <a:off x="4362450" y="8815388"/>
            <a:ext cx="11138783"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0EADB"/>
                </a:solidFill>
                <a:latin typeface="JetBrains Mono" pitchFamily="34" charset="0"/>
                <a:ea typeface="JetBrains Mono" pitchFamily="34" charset="-122"/>
                <a:cs typeface="JetBrains Mono" pitchFamily="34" charset="-120"/>
              </a:rPr>
              <a:t>ScriptableObject</a:t>
            </a:r>
            <a:endParaRPr lang="en-US" sz="1800" dirty="0"/>
          </a:p>
        </p:txBody>
      </p:sp>
      <p:sp>
        <p:nvSpPr>
          <p:cNvPr id="35" name="Text 33"/>
          <p:cNvSpPr/>
          <p:nvPr/>
        </p:nvSpPr>
        <p:spPr>
          <a:xfrm>
            <a:off x="14793417" y="8843963"/>
            <a:ext cx="1132384" cy="285750"/>
          </a:xfrm>
          <a:prstGeom prst="rect">
            <a:avLst/>
          </a:prstGeom>
          <a:noFill/>
          <a:ln/>
        </p:spPr>
        <p:txBody>
          <a:bodyPr wrap="square" lIns="25400" tIns="25400" rIns="25400" bIns="25400" rtlCol="0" anchor="t">
            <a:normAutofit/>
          </a:bodyPr>
          <a:lstStyle/>
          <a:p>
            <a:pPr marL="0" indent="0" algn="l">
              <a:buNone/>
            </a:pPr>
            <a:r>
              <a:rPr lang="en-US" sz="1350" dirty="0">
                <a:solidFill>
                  <a:srgbClr val="8A9AB8"/>
                </a:solidFill>
                <a:latin typeface="Noto Sans KR" pitchFamily="34" charset="0"/>
                <a:ea typeface="Noto Sans KR" pitchFamily="34" charset="-122"/>
                <a:cs typeface="Noto Sans KR" pitchFamily="34" charset="-120"/>
              </a:rPr>
              <a:t>← 정적 데이터</a:t>
            </a:r>
            <a:endParaRPr lang="en-US" sz="1350" dirty="0"/>
          </a:p>
        </p:txBody>
      </p:sp>
      <p:sp>
        <p:nvSpPr>
          <p:cNvPr id="36" name="Shape 34"/>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38" name="Text 0">
            <a:extLst>
              <a:ext uri="{FF2B5EF4-FFF2-40B4-BE49-F238E27FC236}">
                <a16:creationId xmlns:a16="http://schemas.microsoft.com/office/drawing/2014/main" id="{8CC74474-8153-0DFB-A80C-280840BB6B20}"/>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16 / 22</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nvSpPr>
        <p:spPr>
          <a:xfrm>
            <a:off x="8301038" y="609600"/>
            <a:ext cx="1730970"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WHAT I LEARNED</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57300"/>
            <a:ext cx="18105120" cy="628650"/>
          </a:xfrm>
          <a:prstGeom prst="rect">
            <a:avLst/>
          </a:prstGeom>
          <a:noFill/>
          <a:ln/>
        </p:spPr>
        <p:txBody>
          <a:bodyPr wrap="square" lIns="25400" tIns="25400" rIns="25400" bIns="25400" rtlCol="0" anchor="t">
            <a:normAutofit lnSpcReduction="10000"/>
          </a:bodyPr>
          <a:lstStyle/>
          <a:p>
            <a:pPr marL="0" indent="0" algn="l">
              <a:buNone/>
            </a:pPr>
            <a:r>
              <a:rPr lang="en-US" sz="3900" b="1" kern="0" spc="-75" dirty="0">
                <a:solidFill>
                  <a:srgbClr val="F0EADB"/>
                </a:solidFill>
                <a:latin typeface="Noto Sans KR" pitchFamily="34" charset="0"/>
                <a:ea typeface="Noto Sans KR" pitchFamily="34" charset="-122"/>
                <a:cs typeface="Noto Sans KR" pitchFamily="34" charset="-120"/>
              </a:rPr>
              <a:t>시행착오 3선</a:t>
            </a:r>
            <a:endParaRPr lang="en-US" sz="3900" dirty="0"/>
          </a:p>
        </p:txBody>
      </p:sp>
      <p:sp>
        <p:nvSpPr>
          <p:cNvPr id="6" name="Shape 4"/>
          <p:cNvSpPr/>
          <p:nvPr/>
        </p:nvSpPr>
        <p:spPr>
          <a:xfrm>
            <a:off x="914400" y="3138488"/>
            <a:ext cx="16459200" cy="1644650"/>
          </a:xfrm>
          <a:prstGeom prst="roundRect">
            <a:avLst>
              <a:gd name="adj" fmla="val 4633"/>
            </a:avLst>
          </a:prstGeom>
          <a:solidFill>
            <a:srgbClr val="1A2236"/>
          </a:solidFill>
          <a:ln/>
        </p:spPr>
        <p:txBody>
          <a:bodyPr/>
          <a:lstStyle/>
          <a:p>
            <a:endParaRPr lang="ko-KR" altLang="en-US"/>
          </a:p>
        </p:txBody>
      </p:sp>
      <p:sp>
        <p:nvSpPr>
          <p:cNvPr id="7" name="Text 5"/>
          <p:cNvSpPr/>
          <p:nvPr/>
        </p:nvSpPr>
        <p:spPr>
          <a:xfrm>
            <a:off x="1257300" y="3671888"/>
            <a:ext cx="522982" cy="615950"/>
          </a:xfrm>
          <a:prstGeom prst="rect">
            <a:avLst/>
          </a:prstGeom>
          <a:noFill/>
          <a:ln/>
        </p:spPr>
        <p:txBody>
          <a:bodyPr wrap="square" lIns="25400" tIns="25400" rIns="25400" bIns="25400" rtlCol="0" anchor="t">
            <a:normAutofit/>
          </a:bodyPr>
          <a:lstStyle/>
          <a:p>
            <a:pPr marL="0" indent="0" algn="l">
              <a:buNone/>
            </a:pPr>
            <a:r>
              <a:rPr lang="en-US" sz="3450" b="1" dirty="0">
                <a:solidFill>
                  <a:srgbClr val="D97757"/>
                </a:solidFill>
                <a:latin typeface="JetBrains Mono" pitchFamily="34" charset="0"/>
                <a:ea typeface="JetBrains Mono" pitchFamily="34" charset="-122"/>
                <a:cs typeface="JetBrains Mono" pitchFamily="34" charset="-120"/>
              </a:rPr>
              <a:t>①</a:t>
            </a:r>
            <a:endParaRPr lang="en-US" sz="3450" dirty="0"/>
          </a:p>
        </p:txBody>
      </p:sp>
      <p:sp>
        <p:nvSpPr>
          <p:cNvPr id="8" name="Text 6"/>
          <p:cNvSpPr/>
          <p:nvPr/>
        </p:nvSpPr>
        <p:spPr>
          <a:xfrm>
            <a:off x="2046982" y="3424238"/>
            <a:ext cx="16482090" cy="34925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F0EADB"/>
                </a:solidFill>
                <a:latin typeface="Noto Sans KR" pitchFamily="34" charset="0"/>
                <a:ea typeface="Noto Sans KR" pitchFamily="34" charset="-122"/>
                <a:cs typeface="Noto Sans KR" pitchFamily="34" charset="-120"/>
              </a:rPr>
              <a:t>코루틴 → 고정 틱</a:t>
            </a:r>
            <a:endParaRPr lang="en-US" sz="2025" dirty="0"/>
          </a:p>
        </p:txBody>
      </p:sp>
      <p:sp>
        <p:nvSpPr>
          <p:cNvPr id="9" name="Shape 7"/>
          <p:cNvSpPr/>
          <p:nvPr/>
        </p:nvSpPr>
        <p:spPr>
          <a:xfrm>
            <a:off x="2046982" y="3868738"/>
            <a:ext cx="742950" cy="266700"/>
          </a:xfrm>
          <a:prstGeom prst="roundRect">
            <a:avLst>
              <a:gd name="adj" fmla="val 21429"/>
            </a:avLst>
          </a:prstGeom>
          <a:solidFill>
            <a:srgbClr val="232D42"/>
          </a:solidFill>
          <a:ln/>
        </p:spPr>
        <p:txBody>
          <a:bodyPr/>
          <a:lstStyle/>
          <a:p>
            <a:endParaRPr lang="ko-KR" altLang="en-US"/>
          </a:p>
        </p:txBody>
      </p:sp>
      <p:sp>
        <p:nvSpPr>
          <p:cNvPr id="10" name="Text 8"/>
          <p:cNvSpPr/>
          <p:nvPr/>
        </p:nvSpPr>
        <p:spPr>
          <a:xfrm>
            <a:off x="2161282" y="3906838"/>
            <a:ext cx="59055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8A9AB8"/>
                </a:solidFill>
                <a:latin typeface="JetBrains Mono" pitchFamily="34" charset="0"/>
                <a:ea typeface="JetBrains Mono" pitchFamily="34" charset="-122"/>
                <a:cs typeface="JetBrains Mono" pitchFamily="34" charset="-120"/>
              </a:rPr>
              <a:t>BEFORE</a:t>
            </a:r>
            <a:endParaRPr lang="en-US" sz="1125" dirty="0"/>
          </a:p>
        </p:txBody>
      </p:sp>
      <p:sp>
        <p:nvSpPr>
          <p:cNvPr id="11" name="Text 9"/>
          <p:cNvSpPr/>
          <p:nvPr/>
        </p:nvSpPr>
        <p:spPr>
          <a:xfrm>
            <a:off x="2961382" y="3871913"/>
            <a:ext cx="5453866" cy="298450"/>
          </a:xfrm>
          <a:prstGeom prst="rect">
            <a:avLst/>
          </a:prstGeom>
          <a:noFill/>
          <a:ln/>
        </p:spPr>
        <p:txBody>
          <a:bodyPr wrap="square" lIns="25400" tIns="25400" rIns="25400" bIns="25400" rtlCol="0" anchor="t">
            <a:normAutofit/>
          </a:bodyPr>
          <a:lstStyle/>
          <a:p>
            <a:pPr marL="0" indent="0" algn="l">
              <a:buNone/>
            </a:pPr>
            <a:r>
              <a:rPr lang="en-US" sz="1425" dirty="0">
                <a:solidFill>
                  <a:srgbClr val="8A9AB8"/>
                </a:solidFill>
                <a:latin typeface="Noto Sans KR" pitchFamily="34" charset="0"/>
                <a:ea typeface="Noto Sans KR" pitchFamily="34" charset="-122"/>
                <a:cs typeface="Noto Sans KR" pitchFamily="34" charset="-120"/>
              </a:rPr>
              <a:t>WaitForSeconds → sc-camel-time-scale=0 → UI/오디오 동결</a:t>
            </a:r>
            <a:endParaRPr lang="en-US" sz="1425" dirty="0"/>
          </a:p>
        </p:txBody>
      </p:sp>
      <p:sp>
        <p:nvSpPr>
          <p:cNvPr id="12" name="Shape 10"/>
          <p:cNvSpPr/>
          <p:nvPr/>
        </p:nvSpPr>
        <p:spPr>
          <a:xfrm>
            <a:off x="2046982" y="4230688"/>
            <a:ext cx="657225" cy="266700"/>
          </a:xfrm>
          <a:prstGeom prst="roundRect">
            <a:avLst>
              <a:gd name="adj" fmla="val 21429"/>
            </a:avLst>
          </a:prstGeom>
          <a:solidFill>
            <a:srgbClr val="163A31"/>
          </a:solidFill>
          <a:ln/>
        </p:spPr>
        <p:txBody>
          <a:bodyPr/>
          <a:lstStyle/>
          <a:p>
            <a:endParaRPr lang="ko-KR" altLang="en-US"/>
          </a:p>
        </p:txBody>
      </p:sp>
      <p:sp>
        <p:nvSpPr>
          <p:cNvPr id="13" name="Text 11"/>
          <p:cNvSpPr/>
          <p:nvPr/>
        </p:nvSpPr>
        <p:spPr>
          <a:xfrm>
            <a:off x="2161282" y="4268788"/>
            <a:ext cx="50482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5BC8A8"/>
                </a:solidFill>
                <a:latin typeface="JetBrains Mono" pitchFamily="34" charset="0"/>
                <a:ea typeface="JetBrains Mono" pitchFamily="34" charset="-122"/>
                <a:cs typeface="JetBrains Mono" pitchFamily="34" charset="-120"/>
              </a:rPr>
              <a:t>AFTER</a:t>
            </a:r>
            <a:endParaRPr lang="en-US" sz="1125" dirty="0"/>
          </a:p>
        </p:txBody>
      </p:sp>
      <p:sp>
        <p:nvSpPr>
          <p:cNvPr id="14" name="Text 12"/>
          <p:cNvSpPr/>
          <p:nvPr/>
        </p:nvSpPr>
        <p:spPr>
          <a:xfrm>
            <a:off x="2875657" y="4233863"/>
            <a:ext cx="5132447" cy="298450"/>
          </a:xfrm>
          <a:prstGeom prst="rect">
            <a:avLst/>
          </a:prstGeom>
          <a:noFill/>
          <a:ln/>
        </p:spPr>
        <p:txBody>
          <a:bodyPr wrap="square" lIns="25400" tIns="25400" rIns="25400" bIns="25400" rtlCol="0" anchor="t">
            <a:normAutofit/>
          </a:bodyPr>
          <a:lstStyle/>
          <a:p>
            <a:pPr marL="0" indent="0" algn="l">
              <a:buNone/>
            </a:pPr>
            <a:r>
              <a:rPr lang="en-US" sz="1425" dirty="0">
                <a:solidFill>
                  <a:srgbClr val="F0EADB"/>
                </a:solidFill>
                <a:latin typeface="Noto Sans KR" pitchFamily="34" charset="0"/>
                <a:ea typeface="Noto Sans KR" pitchFamily="34" charset="-122"/>
                <a:cs typeface="Noto Sans KR" pitchFamily="34" charset="-120"/>
              </a:rPr>
              <a:t>unscaledDeltaTime accumulator 20 TPS → 독립 제어 ✅</a:t>
            </a:r>
            <a:endParaRPr lang="en-US" sz="1425" dirty="0"/>
          </a:p>
        </p:txBody>
      </p:sp>
      <p:sp>
        <p:nvSpPr>
          <p:cNvPr id="15" name="Shape 13"/>
          <p:cNvSpPr/>
          <p:nvPr/>
        </p:nvSpPr>
        <p:spPr>
          <a:xfrm>
            <a:off x="914400" y="5011738"/>
            <a:ext cx="16459200" cy="1644650"/>
          </a:xfrm>
          <a:prstGeom prst="roundRect">
            <a:avLst>
              <a:gd name="adj" fmla="val 4633"/>
            </a:avLst>
          </a:prstGeom>
          <a:solidFill>
            <a:srgbClr val="1A2236"/>
          </a:solidFill>
          <a:ln/>
        </p:spPr>
        <p:txBody>
          <a:bodyPr/>
          <a:lstStyle/>
          <a:p>
            <a:endParaRPr lang="ko-KR" altLang="en-US"/>
          </a:p>
        </p:txBody>
      </p:sp>
      <p:sp>
        <p:nvSpPr>
          <p:cNvPr id="16" name="Text 14"/>
          <p:cNvSpPr/>
          <p:nvPr/>
        </p:nvSpPr>
        <p:spPr>
          <a:xfrm>
            <a:off x="1257300" y="5545138"/>
            <a:ext cx="522982" cy="615950"/>
          </a:xfrm>
          <a:prstGeom prst="rect">
            <a:avLst/>
          </a:prstGeom>
          <a:noFill/>
          <a:ln/>
        </p:spPr>
        <p:txBody>
          <a:bodyPr wrap="square" lIns="25400" tIns="25400" rIns="25400" bIns="25400" rtlCol="0" anchor="t">
            <a:normAutofit/>
          </a:bodyPr>
          <a:lstStyle/>
          <a:p>
            <a:pPr marL="0" indent="0" algn="l">
              <a:buNone/>
            </a:pPr>
            <a:r>
              <a:rPr lang="en-US" sz="3450" b="1" dirty="0">
                <a:solidFill>
                  <a:srgbClr val="D97757"/>
                </a:solidFill>
                <a:latin typeface="JetBrains Mono" pitchFamily="34" charset="0"/>
                <a:ea typeface="JetBrains Mono" pitchFamily="34" charset="-122"/>
                <a:cs typeface="JetBrains Mono" pitchFamily="34" charset="-120"/>
              </a:rPr>
              <a:t>②</a:t>
            </a:r>
            <a:endParaRPr lang="en-US" sz="3450" dirty="0"/>
          </a:p>
        </p:txBody>
      </p:sp>
      <p:sp>
        <p:nvSpPr>
          <p:cNvPr id="17" name="Text 15"/>
          <p:cNvSpPr/>
          <p:nvPr/>
        </p:nvSpPr>
        <p:spPr>
          <a:xfrm>
            <a:off x="2046982" y="5297488"/>
            <a:ext cx="16482090" cy="34925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F0EADB"/>
                </a:solidFill>
                <a:latin typeface="Noto Sans KR" pitchFamily="34" charset="0"/>
                <a:ea typeface="Noto Sans KR" pitchFamily="34" charset="-122"/>
                <a:cs typeface="Noto Sans KR" pitchFamily="34" charset="-120"/>
              </a:rPr>
              <a:t>Animator → TickSpriteAnimator</a:t>
            </a:r>
            <a:endParaRPr lang="en-US" sz="2025" dirty="0"/>
          </a:p>
        </p:txBody>
      </p:sp>
      <p:sp>
        <p:nvSpPr>
          <p:cNvPr id="18" name="Shape 16"/>
          <p:cNvSpPr/>
          <p:nvPr/>
        </p:nvSpPr>
        <p:spPr>
          <a:xfrm>
            <a:off x="2046982" y="5741988"/>
            <a:ext cx="742950" cy="266700"/>
          </a:xfrm>
          <a:prstGeom prst="roundRect">
            <a:avLst>
              <a:gd name="adj" fmla="val 21429"/>
            </a:avLst>
          </a:prstGeom>
          <a:solidFill>
            <a:srgbClr val="232D42"/>
          </a:solidFill>
          <a:ln/>
        </p:spPr>
        <p:txBody>
          <a:bodyPr/>
          <a:lstStyle/>
          <a:p>
            <a:endParaRPr lang="ko-KR" altLang="en-US"/>
          </a:p>
        </p:txBody>
      </p:sp>
      <p:sp>
        <p:nvSpPr>
          <p:cNvPr id="19" name="Text 17"/>
          <p:cNvSpPr/>
          <p:nvPr/>
        </p:nvSpPr>
        <p:spPr>
          <a:xfrm>
            <a:off x="2161282" y="5780088"/>
            <a:ext cx="59055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8A9AB8"/>
                </a:solidFill>
                <a:latin typeface="JetBrains Mono" pitchFamily="34" charset="0"/>
                <a:ea typeface="JetBrains Mono" pitchFamily="34" charset="-122"/>
                <a:cs typeface="JetBrains Mono" pitchFamily="34" charset="-120"/>
              </a:rPr>
              <a:t>BEFORE</a:t>
            </a:r>
            <a:endParaRPr lang="en-US" sz="1125" dirty="0"/>
          </a:p>
        </p:txBody>
      </p:sp>
      <p:sp>
        <p:nvSpPr>
          <p:cNvPr id="20" name="Text 18"/>
          <p:cNvSpPr/>
          <p:nvPr/>
        </p:nvSpPr>
        <p:spPr>
          <a:xfrm>
            <a:off x="2961382" y="5745163"/>
            <a:ext cx="5138122" cy="298450"/>
          </a:xfrm>
          <a:prstGeom prst="rect">
            <a:avLst/>
          </a:prstGeom>
          <a:noFill/>
          <a:ln/>
        </p:spPr>
        <p:txBody>
          <a:bodyPr wrap="square" lIns="25400" tIns="25400" rIns="25400" bIns="25400" rtlCol="0" anchor="t">
            <a:normAutofit/>
          </a:bodyPr>
          <a:lstStyle/>
          <a:p>
            <a:pPr marL="0" indent="0" algn="l">
              <a:buNone/>
            </a:pPr>
            <a:r>
              <a:rPr lang="en-US" sz="1425" dirty="0">
                <a:solidFill>
                  <a:srgbClr val="8A9AB8"/>
                </a:solidFill>
                <a:latin typeface="Noto Sans KR" pitchFamily="34" charset="0"/>
                <a:ea typeface="Noto Sans KR" pitchFamily="34" charset="-122"/>
                <a:cs typeface="Noto Sans KR" pitchFamily="34" charset="-120"/>
              </a:rPr>
              <a:t>AnimatorUpdateMode.Manual → Unity 6 미동작 · 깜박임</a:t>
            </a:r>
            <a:endParaRPr lang="en-US" sz="1425" dirty="0"/>
          </a:p>
        </p:txBody>
      </p:sp>
      <p:sp>
        <p:nvSpPr>
          <p:cNvPr id="21" name="Shape 19"/>
          <p:cNvSpPr/>
          <p:nvPr/>
        </p:nvSpPr>
        <p:spPr>
          <a:xfrm>
            <a:off x="2046982" y="6103938"/>
            <a:ext cx="657225" cy="266700"/>
          </a:xfrm>
          <a:prstGeom prst="roundRect">
            <a:avLst>
              <a:gd name="adj" fmla="val 21429"/>
            </a:avLst>
          </a:prstGeom>
          <a:solidFill>
            <a:srgbClr val="163A31"/>
          </a:solidFill>
          <a:ln/>
        </p:spPr>
        <p:txBody>
          <a:bodyPr/>
          <a:lstStyle/>
          <a:p>
            <a:endParaRPr lang="ko-KR" altLang="en-US"/>
          </a:p>
        </p:txBody>
      </p:sp>
      <p:sp>
        <p:nvSpPr>
          <p:cNvPr id="22" name="Text 20"/>
          <p:cNvSpPr/>
          <p:nvPr/>
        </p:nvSpPr>
        <p:spPr>
          <a:xfrm>
            <a:off x="2161282" y="6142038"/>
            <a:ext cx="50482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5BC8A8"/>
                </a:solidFill>
                <a:latin typeface="JetBrains Mono" pitchFamily="34" charset="0"/>
                <a:ea typeface="JetBrains Mono" pitchFamily="34" charset="-122"/>
                <a:cs typeface="JetBrains Mono" pitchFamily="34" charset="-120"/>
              </a:rPr>
              <a:t>AFTER</a:t>
            </a:r>
            <a:endParaRPr lang="en-US" sz="1125" dirty="0"/>
          </a:p>
        </p:txBody>
      </p:sp>
      <p:sp>
        <p:nvSpPr>
          <p:cNvPr id="23" name="Text 21"/>
          <p:cNvSpPr/>
          <p:nvPr/>
        </p:nvSpPr>
        <p:spPr>
          <a:xfrm>
            <a:off x="2875657" y="6107113"/>
            <a:ext cx="5452993" cy="298450"/>
          </a:xfrm>
          <a:prstGeom prst="rect">
            <a:avLst/>
          </a:prstGeom>
          <a:noFill/>
          <a:ln/>
        </p:spPr>
        <p:txBody>
          <a:bodyPr wrap="square" lIns="25400" tIns="25400" rIns="25400" bIns="25400" rtlCol="0" anchor="t">
            <a:normAutofit/>
          </a:bodyPr>
          <a:lstStyle/>
          <a:p>
            <a:pPr marL="0" indent="0" algn="l">
              <a:buNone/>
            </a:pPr>
            <a:r>
              <a:rPr lang="en-US" sz="1425" dirty="0">
                <a:solidFill>
                  <a:srgbClr val="F0EADB"/>
                </a:solidFill>
                <a:latin typeface="Noto Sans KR" pitchFamily="34" charset="0"/>
                <a:ea typeface="Noto Sans KR" pitchFamily="34" charset="-122"/>
                <a:cs typeface="Noto Sans KR" pitchFamily="34" charset="-120"/>
              </a:rPr>
              <a:t>AnimationClip.SampleAnimation() 직접 호출 → 틱 동기화 ✅</a:t>
            </a:r>
            <a:endParaRPr lang="en-US" sz="1425" dirty="0"/>
          </a:p>
        </p:txBody>
      </p:sp>
      <p:sp>
        <p:nvSpPr>
          <p:cNvPr id="24" name="Shape 22"/>
          <p:cNvSpPr/>
          <p:nvPr/>
        </p:nvSpPr>
        <p:spPr>
          <a:xfrm>
            <a:off x="914400" y="6884988"/>
            <a:ext cx="16459200" cy="1644650"/>
          </a:xfrm>
          <a:prstGeom prst="roundRect">
            <a:avLst>
              <a:gd name="adj" fmla="val 4633"/>
            </a:avLst>
          </a:prstGeom>
          <a:solidFill>
            <a:srgbClr val="1A2236"/>
          </a:solidFill>
          <a:ln/>
        </p:spPr>
        <p:txBody>
          <a:bodyPr/>
          <a:lstStyle/>
          <a:p>
            <a:endParaRPr lang="ko-KR" altLang="en-US"/>
          </a:p>
        </p:txBody>
      </p:sp>
      <p:sp>
        <p:nvSpPr>
          <p:cNvPr id="25" name="Text 23"/>
          <p:cNvSpPr/>
          <p:nvPr/>
        </p:nvSpPr>
        <p:spPr>
          <a:xfrm>
            <a:off x="1257300" y="7418388"/>
            <a:ext cx="522982" cy="615950"/>
          </a:xfrm>
          <a:prstGeom prst="rect">
            <a:avLst/>
          </a:prstGeom>
          <a:noFill/>
          <a:ln/>
        </p:spPr>
        <p:txBody>
          <a:bodyPr wrap="square" lIns="25400" tIns="25400" rIns="25400" bIns="25400" rtlCol="0" anchor="t">
            <a:normAutofit/>
          </a:bodyPr>
          <a:lstStyle/>
          <a:p>
            <a:pPr marL="0" indent="0" algn="l">
              <a:buNone/>
            </a:pPr>
            <a:r>
              <a:rPr lang="en-US" sz="3450" b="1" dirty="0">
                <a:solidFill>
                  <a:srgbClr val="D97757"/>
                </a:solidFill>
                <a:latin typeface="JetBrains Mono" pitchFamily="34" charset="0"/>
                <a:ea typeface="JetBrains Mono" pitchFamily="34" charset="-122"/>
                <a:cs typeface="JetBrains Mono" pitchFamily="34" charset="-120"/>
              </a:rPr>
              <a:t>③</a:t>
            </a:r>
            <a:endParaRPr lang="en-US" sz="3450" dirty="0"/>
          </a:p>
        </p:txBody>
      </p:sp>
      <p:sp>
        <p:nvSpPr>
          <p:cNvPr id="26" name="Text 24"/>
          <p:cNvSpPr/>
          <p:nvPr/>
        </p:nvSpPr>
        <p:spPr>
          <a:xfrm>
            <a:off x="2046982" y="7170738"/>
            <a:ext cx="16482090" cy="34925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F0EADB"/>
                </a:solidFill>
                <a:latin typeface="Noto Sans KR" pitchFamily="34" charset="0"/>
                <a:ea typeface="Noto Sans KR" pitchFamily="34" charset="-122"/>
                <a:cs typeface="Noto Sans KR" pitchFamily="34" charset="-120"/>
              </a:rPr>
              <a:t>EventBus 리스너 누적</a:t>
            </a:r>
            <a:endParaRPr lang="en-US" sz="2025" dirty="0"/>
          </a:p>
        </p:txBody>
      </p:sp>
      <p:sp>
        <p:nvSpPr>
          <p:cNvPr id="27" name="Shape 25"/>
          <p:cNvSpPr/>
          <p:nvPr/>
        </p:nvSpPr>
        <p:spPr>
          <a:xfrm>
            <a:off x="2046982" y="7615238"/>
            <a:ext cx="742950" cy="266700"/>
          </a:xfrm>
          <a:prstGeom prst="roundRect">
            <a:avLst>
              <a:gd name="adj" fmla="val 21429"/>
            </a:avLst>
          </a:prstGeom>
          <a:solidFill>
            <a:srgbClr val="232D42"/>
          </a:solidFill>
          <a:ln/>
        </p:spPr>
        <p:txBody>
          <a:bodyPr/>
          <a:lstStyle/>
          <a:p>
            <a:endParaRPr lang="ko-KR" altLang="en-US"/>
          </a:p>
        </p:txBody>
      </p:sp>
      <p:sp>
        <p:nvSpPr>
          <p:cNvPr id="28" name="Text 26"/>
          <p:cNvSpPr/>
          <p:nvPr/>
        </p:nvSpPr>
        <p:spPr>
          <a:xfrm>
            <a:off x="2161282" y="7653337"/>
            <a:ext cx="59055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8A9AB8"/>
                </a:solidFill>
                <a:latin typeface="JetBrains Mono" pitchFamily="34" charset="0"/>
                <a:ea typeface="JetBrains Mono" pitchFamily="34" charset="-122"/>
                <a:cs typeface="JetBrains Mono" pitchFamily="34" charset="-120"/>
              </a:rPr>
              <a:t>BEFORE</a:t>
            </a:r>
            <a:endParaRPr lang="en-US" sz="1125" dirty="0"/>
          </a:p>
        </p:txBody>
      </p:sp>
      <p:sp>
        <p:nvSpPr>
          <p:cNvPr id="29" name="Text 27"/>
          <p:cNvSpPr/>
          <p:nvPr/>
        </p:nvSpPr>
        <p:spPr>
          <a:xfrm>
            <a:off x="2961382" y="7618413"/>
            <a:ext cx="5297140" cy="298450"/>
          </a:xfrm>
          <a:prstGeom prst="rect">
            <a:avLst/>
          </a:prstGeom>
          <a:noFill/>
          <a:ln/>
        </p:spPr>
        <p:txBody>
          <a:bodyPr wrap="square" lIns="25400" tIns="25400" rIns="25400" bIns="25400" rtlCol="0" anchor="t">
            <a:normAutofit/>
          </a:bodyPr>
          <a:lstStyle/>
          <a:p>
            <a:pPr marL="0" indent="0" algn="l">
              <a:buNone/>
            </a:pPr>
            <a:r>
              <a:rPr lang="en-US" sz="1425" dirty="0">
                <a:solidFill>
                  <a:srgbClr val="8A9AB8"/>
                </a:solidFill>
                <a:latin typeface="Noto Sans KR" pitchFamily="34" charset="0"/>
                <a:ea typeface="Noto Sans KR" pitchFamily="34" charset="-122"/>
                <a:cs typeface="Noto Sans KR" pitchFamily="34" charset="-120"/>
              </a:rPr>
              <a:t>씬 전환 후 DontDestroyOnLoad 중복 구독 → 이벤트 N배 발행</a:t>
            </a:r>
            <a:endParaRPr lang="en-US" sz="1425" dirty="0"/>
          </a:p>
        </p:txBody>
      </p:sp>
      <p:sp>
        <p:nvSpPr>
          <p:cNvPr id="30" name="Shape 28"/>
          <p:cNvSpPr/>
          <p:nvPr/>
        </p:nvSpPr>
        <p:spPr>
          <a:xfrm>
            <a:off x="2046982" y="7977188"/>
            <a:ext cx="657225" cy="266700"/>
          </a:xfrm>
          <a:prstGeom prst="roundRect">
            <a:avLst>
              <a:gd name="adj" fmla="val 21429"/>
            </a:avLst>
          </a:prstGeom>
          <a:solidFill>
            <a:srgbClr val="163A31"/>
          </a:solidFill>
          <a:ln/>
        </p:spPr>
        <p:txBody>
          <a:bodyPr/>
          <a:lstStyle/>
          <a:p>
            <a:endParaRPr lang="ko-KR" altLang="en-US"/>
          </a:p>
        </p:txBody>
      </p:sp>
      <p:sp>
        <p:nvSpPr>
          <p:cNvPr id="31" name="Text 29"/>
          <p:cNvSpPr/>
          <p:nvPr/>
        </p:nvSpPr>
        <p:spPr>
          <a:xfrm>
            <a:off x="2161282" y="8015288"/>
            <a:ext cx="50482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5BC8A8"/>
                </a:solidFill>
                <a:latin typeface="JetBrains Mono" pitchFamily="34" charset="0"/>
                <a:ea typeface="JetBrains Mono" pitchFamily="34" charset="-122"/>
                <a:cs typeface="JetBrains Mono" pitchFamily="34" charset="-120"/>
              </a:rPr>
              <a:t>AFTER</a:t>
            </a:r>
            <a:endParaRPr lang="en-US" sz="1125" dirty="0"/>
          </a:p>
        </p:txBody>
      </p:sp>
      <p:sp>
        <p:nvSpPr>
          <p:cNvPr id="32" name="Text 30"/>
          <p:cNvSpPr/>
          <p:nvPr/>
        </p:nvSpPr>
        <p:spPr>
          <a:xfrm>
            <a:off x="2875657" y="7980363"/>
            <a:ext cx="4864944" cy="298450"/>
          </a:xfrm>
          <a:prstGeom prst="rect">
            <a:avLst/>
          </a:prstGeom>
          <a:noFill/>
          <a:ln/>
        </p:spPr>
        <p:txBody>
          <a:bodyPr wrap="square" lIns="25400" tIns="25400" rIns="25400" bIns="25400" rtlCol="0" anchor="t">
            <a:normAutofit/>
          </a:bodyPr>
          <a:lstStyle/>
          <a:p>
            <a:pPr marL="0" indent="0" algn="l">
              <a:buNone/>
            </a:pPr>
            <a:r>
              <a:rPr lang="en-US" sz="1425" dirty="0">
                <a:solidFill>
                  <a:srgbClr val="F0EADB"/>
                </a:solidFill>
                <a:latin typeface="Noto Sans KR" pitchFamily="34" charset="0"/>
                <a:ea typeface="Noto Sans KR" pitchFamily="34" charset="-122"/>
                <a:cs typeface="Noto Sans KR" pitchFamily="34" charset="-120"/>
              </a:rPr>
              <a:t>FadeAndLoad() → EventBus.Clear() → 재구독 패턴 ✅</a:t>
            </a:r>
            <a:endParaRPr lang="en-US" sz="1425" dirty="0"/>
          </a:p>
        </p:txBody>
      </p:sp>
      <p:sp>
        <p:nvSpPr>
          <p:cNvPr id="33" name="Shape 31"/>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37" name="Text 0">
            <a:extLst>
              <a:ext uri="{FF2B5EF4-FFF2-40B4-BE49-F238E27FC236}">
                <a16:creationId xmlns:a16="http://schemas.microsoft.com/office/drawing/2014/main" id="{4FD3A92A-821C-BE5A-C462-C8F84FCCDBCA}"/>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17 / 22</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nvSpPr>
        <p:spPr>
          <a:xfrm>
            <a:off x="7851478" y="609600"/>
            <a:ext cx="2623631"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PERFORMANCE · 소양 3-4</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19200"/>
            <a:ext cx="18105120" cy="584200"/>
          </a:xfrm>
          <a:prstGeom prst="rect">
            <a:avLst/>
          </a:prstGeom>
          <a:noFill/>
          <a:ln/>
        </p:spPr>
        <p:txBody>
          <a:bodyPr wrap="square" lIns="25400" tIns="25400" rIns="25400" bIns="25400" rtlCol="0" anchor="t">
            <a:normAutofit lnSpcReduction="10000"/>
          </a:bodyPr>
          <a:lstStyle/>
          <a:p>
            <a:pPr marL="0" indent="0" algn="l">
              <a:buNone/>
            </a:pPr>
            <a:r>
              <a:rPr lang="en-US" sz="3600" b="1" kern="0" spc="-75" dirty="0">
                <a:solidFill>
                  <a:srgbClr val="F0EADB"/>
                </a:solidFill>
                <a:latin typeface="Noto Sans KR" pitchFamily="34" charset="0"/>
                <a:ea typeface="Noto Sans KR" pitchFamily="34" charset="-122"/>
                <a:cs typeface="Noto Sans KR" pitchFamily="34" charset="-120"/>
              </a:rPr>
              <a:t>성능 최적화</a:t>
            </a:r>
            <a:endParaRPr lang="en-US" sz="3600" dirty="0"/>
          </a:p>
        </p:txBody>
      </p:sp>
      <p:sp>
        <p:nvSpPr>
          <p:cNvPr id="6" name="Shape 4"/>
          <p:cNvSpPr/>
          <p:nvPr/>
        </p:nvSpPr>
        <p:spPr>
          <a:xfrm>
            <a:off x="914400" y="4141788"/>
            <a:ext cx="16459200" cy="9525"/>
          </a:xfrm>
          <a:prstGeom prst="rect">
            <a:avLst/>
          </a:prstGeom>
          <a:solidFill>
            <a:srgbClr val="2E3C55"/>
          </a:solidFill>
          <a:ln/>
        </p:spPr>
        <p:txBody>
          <a:bodyPr/>
          <a:lstStyle/>
          <a:p>
            <a:endParaRPr lang="ko-KR" altLang="en-US"/>
          </a:p>
        </p:txBody>
      </p:sp>
      <p:sp>
        <p:nvSpPr>
          <p:cNvPr id="7" name="Text 5"/>
          <p:cNvSpPr/>
          <p:nvPr/>
        </p:nvSpPr>
        <p:spPr>
          <a:xfrm>
            <a:off x="1181100" y="3792538"/>
            <a:ext cx="4074001" cy="254000"/>
          </a:xfrm>
          <a:prstGeom prst="rect">
            <a:avLst/>
          </a:prstGeom>
          <a:noFill/>
          <a:ln/>
        </p:spPr>
        <p:txBody>
          <a:bodyPr wrap="square" lIns="25400" tIns="25400" rIns="25400" bIns="25400" rtlCol="0" anchor="t">
            <a:normAutofit/>
          </a:bodyPr>
          <a:lstStyle/>
          <a:p>
            <a:pPr marL="0" indent="0" algn="l">
              <a:buNone/>
            </a:pPr>
            <a:r>
              <a:rPr lang="en-US" sz="1275" kern="0" spc="75" dirty="0">
                <a:solidFill>
                  <a:srgbClr val="8A9AB8"/>
                </a:solidFill>
                <a:latin typeface="JetBrains Mono" pitchFamily="34" charset="0"/>
                <a:ea typeface="JetBrains Mono" pitchFamily="34" charset="-122"/>
                <a:cs typeface="JetBrains Mono" pitchFamily="34" charset="-120"/>
              </a:rPr>
              <a:t>항목</a:t>
            </a:r>
            <a:endParaRPr lang="en-US" sz="1275" dirty="0"/>
          </a:p>
        </p:txBody>
      </p:sp>
      <p:sp>
        <p:nvSpPr>
          <p:cNvPr id="8" name="Text 6"/>
          <p:cNvSpPr/>
          <p:nvPr/>
        </p:nvSpPr>
        <p:spPr>
          <a:xfrm>
            <a:off x="4884738" y="3792538"/>
            <a:ext cx="8148112" cy="254000"/>
          </a:xfrm>
          <a:prstGeom prst="rect">
            <a:avLst/>
          </a:prstGeom>
          <a:noFill/>
          <a:ln/>
        </p:spPr>
        <p:txBody>
          <a:bodyPr wrap="square" lIns="25400" tIns="25400" rIns="25400" bIns="25400" rtlCol="0" anchor="t">
            <a:normAutofit/>
          </a:bodyPr>
          <a:lstStyle/>
          <a:p>
            <a:pPr marL="0" indent="0" algn="l">
              <a:buNone/>
            </a:pPr>
            <a:r>
              <a:rPr lang="en-US" sz="1275" kern="0" spc="75" dirty="0">
                <a:solidFill>
                  <a:srgbClr val="8A9AB8"/>
                </a:solidFill>
                <a:latin typeface="JetBrains Mono" pitchFamily="34" charset="0"/>
                <a:ea typeface="JetBrains Mono" pitchFamily="34" charset="-122"/>
                <a:cs typeface="JetBrains Mono" pitchFamily="34" charset="-120"/>
              </a:rPr>
              <a:t>방법</a:t>
            </a:r>
            <a:endParaRPr lang="en-US" sz="1275" dirty="0"/>
          </a:p>
        </p:txBody>
      </p:sp>
      <p:sp>
        <p:nvSpPr>
          <p:cNvPr id="9" name="Text 7"/>
          <p:cNvSpPr/>
          <p:nvPr/>
        </p:nvSpPr>
        <p:spPr>
          <a:xfrm>
            <a:off x="12292112" y="3792538"/>
            <a:ext cx="5296158" cy="254000"/>
          </a:xfrm>
          <a:prstGeom prst="rect">
            <a:avLst/>
          </a:prstGeom>
          <a:noFill/>
          <a:ln/>
        </p:spPr>
        <p:txBody>
          <a:bodyPr wrap="square" lIns="25400" tIns="25400" rIns="25400" bIns="25400" rtlCol="0" anchor="t">
            <a:normAutofit/>
          </a:bodyPr>
          <a:lstStyle/>
          <a:p>
            <a:pPr marL="0" indent="0" algn="l">
              <a:buNone/>
            </a:pPr>
            <a:r>
              <a:rPr lang="en-US" sz="1275" kern="0" spc="75" dirty="0">
                <a:solidFill>
                  <a:srgbClr val="8A9AB8"/>
                </a:solidFill>
                <a:latin typeface="JetBrains Mono" pitchFamily="34" charset="0"/>
                <a:ea typeface="JetBrains Mono" pitchFamily="34" charset="-122"/>
                <a:cs typeface="JetBrains Mono" pitchFamily="34" charset="-120"/>
              </a:rPr>
              <a:t>효과</a:t>
            </a:r>
            <a:endParaRPr lang="en-US" sz="1275" dirty="0"/>
          </a:p>
        </p:txBody>
      </p:sp>
      <p:sp>
        <p:nvSpPr>
          <p:cNvPr id="10" name="Shape 8"/>
          <p:cNvSpPr/>
          <p:nvPr/>
        </p:nvSpPr>
        <p:spPr>
          <a:xfrm>
            <a:off x="914400" y="4262438"/>
            <a:ext cx="16459200" cy="641350"/>
          </a:xfrm>
          <a:prstGeom prst="roundRect">
            <a:avLst>
              <a:gd name="adj" fmla="val 11881"/>
            </a:avLst>
          </a:prstGeom>
          <a:solidFill>
            <a:srgbClr val="1A2236"/>
          </a:solidFill>
          <a:ln/>
        </p:spPr>
        <p:txBody>
          <a:bodyPr/>
          <a:lstStyle/>
          <a:p>
            <a:endParaRPr lang="ko-KR" altLang="en-US"/>
          </a:p>
        </p:txBody>
      </p:sp>
      <p:sp>
        <p:nvSpPr>
          <p:cNvPr id="11" name="Text 9"/>
          <p:cNvSpPr/>
          <p:nvPr/>
        </p:nvSpPr>
        <p:spPr>
          <a:xfrm>
            <a:off x="1181100" y="4462463"/>
            <a:ext cx="4074001" cy="279400"/>
          </a:xfrm>
          <a:prstGeom prst="rect">
            <a:avLst/>
          </a:prstGeom>
          <a:noFill/>
          <a:ln/>
        </p:spPr>
        <p:txBody>
          <a:bodyPr wrap="square" lIns="25400" tIns="25400" rIns="25400" bIns="25400" rtlCol="0" anchor="t">
            <a:normAutofit lnSpcReduction="10000"/>
          </a:bodyPr>
          <a:lstStyle/>
          <a:p>
            <a:pPr marL="0" indent="0" algn="l">
              <a:buNone/>
            </a:pPr>
            <a:r>
              <a:rPr lang="en-US" sz="1575" b="1" dirty="0">
                <a:solidFill>
                  <a:srgbClr val="F0EADB"/>
                </a:solidFill>
                <a:latin typeface="Noto Sans KR" pitchFamily="34" charset="0"/>
                <a:ea typeface="Noto Sans KR" pitchFamily="34" charset="-122"/>
                <a:cs typeface="Noto Sans KR" pitchFamily="34" charset="-120"/>
              </a:rPr>
              <a:t>GC alloc 방지</a:t>
            </a:r>
            <a:endParaRPr lang="en-US" sz="1575" dirty="0"/>
          </a:p>
        </p:txBody>
      </p:sp>
      <p:sp>
        <p:nvSpPr>
          <p:cNvPr id="12" name="Text 10"/>
          <p:cNvSpPr/>
          <p:nvPr/>
        </p:nvSpPr>
        <p:spPr>
          <a:xfrm>
            <a:off x="4884738" y="4452938"/>
            <a:ext cx="8148112" cy="298450"/>
          </a:xfrm>
          <a:prstGeom prst="rect">
            <a:avLst/>
          </a:prstGeom>
          <a:noFill/>
          <a:ln/>
        </p:spPr>
        <p:txBody>
          <a:bodyPr wrap="square" lIns="25400" tIns="25400" rIns="25400" bIns="25400" rtlCol="0" anchor="t">
            <a:normAutofit/>
          </a:bodyPr>
          <a:lstStyle/>
          <a:p>
            <a:pPr marL="0" indent="0" algn="l">
              <a:buNone/>
            </a:pPr>
            <a:r>
              <a:rPr lang="en-US" sz="1425" dirty="0">
                <a:solidFill>
                  <a:srgbClr val="8A9AB8"/>
                </a:solidFill>
                <a:latin typeface="Noto Sans KR" pitchFamily="34" charset="0"/>
                <a:ea typeface="Noto Sans KR" pitchFamily="34" charset="-122"/>
                <a:cs typeface="Noto Sans KR" pitchFamily="34" charset="-120"/>
              </a:rPr>
              <a:t>Queue&lt;T&gt; 오브젝트 풀 · DamagePopup·VFX·스냅샷</a:t>
            </a:r>
            <a:endParaRPr lang="en-US" sz="1425" dirty="0"/>
          </a:p>
        </p:txBody>
      </p:sp>
      <p:sp>
        <p:nvSpPr>
          <p:cNvPr id="13" name="Text 11"/>
          <p:cNvSpPr/>
          <p:nvPr/>
        </p:nvSpPr>
        <p:spPr>
          <a:xfrm>
            <a:off x="12292112" y="4452938"/>
            <a:ext cx="5296158" cy="298450"/>
          </a:xfrm>
          <a:prstGeom prst="rect">
            <a:avLst/>
          </a:prstGeom>
          <a:noFill/>
          <a:ln/>
        </p:spPr>
        <p:txBody>
          <a:bodyPr wrap="square" lIns="25400" tIns="25400" rIns="25400" bIns="25400" rtlCol="0" anchor="t">
            <a:normAutofit/>
          </a:bodyPr>
          <a:lstStyle/>
          <a:p>
            <a:pPr marL="0" indent="0" algn="l">
              <a:buNone/>
            </a:pPr>
            <a:r>
              <a:rPr lang="en-US" sz="1425" dirty="0">
                <a:solidFill>
                  <a:srgbClr val="5BC8A8"/>
                </a:solidFill>
                <a:latin typeface="Noto Sans KR" pitchFamily="34" charset="0"/>
                <a:ea typeface="Noto Sans KR" pitchFamily="34" charset="-122"/>
                <a:cs typeface="Noto Sans KR" pitchFamily="34" charset="-120"/>
              </a:rPr>
              <a:t>GC 스파이크 제거</a:t>
            </a:r>
            <a:endParaRPr lang="en-US" sz="1425" dirty="0"/>
          </a:p>
        </p:txBody>
      </p:sp>
      <p:sp>
        <p:nvSpPr>
          <p:cNvPr id="14" name="Shape 12"/>
          <p:cNvSpPr/>
          <p:nvPr/>
        </p:nvSpPr>
        <p:spPr>
          <a:xfrm>
            <a:off x="914400" y="5018088"/>
            <a:ext cx="16459200" cy="641350"/>
          </a:xfrm>
          <a:prstGeom prst="roundRect">
            <a:avLst>
              <a:gd name="adj" fmla="val 11881"/>
            </a:avLst>
          </a:prstGeom>
          <a:solidFill>
            <a:srgbClr val="1A2236"/>
          </a:solidFill>
          <a:ln/>
        </p:spPr>
        <p:txBody>
          <a:bodyPr/>
          <a:lstStyle/>
          <a:p>
            <a:endParaRPr lang="ko-KR" altLang="en-US"/>
          </a:p>
        </p:txBody>
      </p:sp>
      <p:sp>
        <p:nvSpPr>
          <p:cNvPr id="15" name="Text 13"/>
          <p:cNvSpPr/>
          <p:nvPr/>
        </p:nvSpPr>
        <p:spPr>
          <a:xfrm>
            <a:off x="1181100" y="5218113"/>
            <a:ext cx="4074001" cy="279400"/>
          </a:xfrm>
          <a:prstGeom prst="rect">
            <a:avLst/>
          </a:prstGeom>
          <a:noFill/>
          <a:ln/>
        </p:spPr>
        <p:txBody>
          <a:bodyPr wrap="square" lIns="25400" tIns="25400" rIns="25400" bIns="25400" rtlCol="0" anchor="t">
            <a:normAutofit lnSpcReduction="10000"/>
          </a:bodyPr>
          <a:lstStyle/>
          <a:p>
            <a:pPr marL="0" indent="0" algn="l">
              <a:buNone/>
            </a:pPr>
            <a:r>
              <a:rPr lang="en-US" sz="1575" b="1" dirty="0">
                <a:solidFill>
                  <a:srgbClr val="F0EADB"/>
                </a:solidFill>
                <a:latin typeface="Noto Sans KR" pitchFamily="34" charset="0"/>
                <a:ea typeface="Noto Sans KR" pitchFamily="34" charset="-122"/>
                <a:cs typeface="Noto Sans KR" pitchFamily="34" charset="-120"/>
              </a:rPr>
              <a:t>AI 틱 최적화</a:t>
            </a:r>
            <a:endParaRPr lang="en-US" sz="1575" dirty="0"/>
          </a:p>
        </p:txBody>
      </p:sp>
      <p:sp>
        <p:nvSpPr>
          <p:cNvPr id="16" name="Text 14"/>
          <p:cNvSpPr/>
          <p:nvPr/>
        </p:nvSpPr>
        <p:spPr>
          <a:xfrm>
            <a:off x="4884738" y="5208588"/>
            <a:ext cx="8148112" cy="298450"/>
          </a:xfrm>
          <a:prstGeom prst="rect">
            <a:avLst/>
          </a:prstGeom>
          <a:noFill/>
          <a:ln/>
        </p:spPr>
        <p:txBody>
          <a:bodyPr wrap="square" lIns="25400" tIns="25400" rIns="25400" bIns="25400" rtlCol="0" anchor="t">
            <a:normAutofit/>
          </a:bodyPr>
          <a:lstStyle/>
          <a:p>
            <a:pPr marL="0" indent="0" algn="l">
              <a:buNone/>
            </a:pPr>
            <a:r>
              <a:rPr lang="en-US" sz="1425" dirty="0">
                <a:solidFill>
                  <a:srgbClr val="8A9AB8"/>
                </a:solidFill>
                <a:latin typeface="Noto Sans KR" pitchFamily="34" charset="0"/>
                <a:ea typeface="Noto Sans KR" pitchFamily="34" charset="-122"/>
                <a:cs typeface="Noto Sans KR" pitchFamily="34" charset="-120"/>
              </a:rPr>
              <a:t>EnemyGroupCoordinator — 그룹 전략 일괄 계산</a:t>
            </a:r>
            <a:endParaRPr lang="en-US" sz="1425" dirty="0"/>
          </a:p>
        </p:txBody>
      </p:sp>
      <p:sp>
        <p:nvSpPr>
          <p:cNvPr id="17" name="Text 15"/>
          <p:cNvSpPr/>
          <p:nvPr/>
        </p:nvSpPr>
        <p:spPr>
          <a:xfrm>
            <a:off x="12292112" y="5208588"/>
            <a:ext cx="5296158" cy="298450"/>
          </a:xfrm>
          <a:prstGeom prst="rect">
            <a:avLst/>
          </a:prstGeom>
          <a:noFill/>
          <a:ln/>
        </p:spPr>
        <p:txBody>
          <a:bodyPr wrap="square" lIns="25400" tIns="25400" rIns="25400" bIns="25400" rtlCol="0" anchor="t">
            <a:normAutofit/>
          </a:bodyPr>
          <a:lstStyle/>
          <a:p>
            <a:pPr marL="0" indent="0" algn="l">
              <a:buNone/>
            </a:pPr>
            <a:r>
              <a:rPr lang="en-US" sz="1425" dirty="0">
                <a:solidFill>
                  <a:srgbClr val="5BC8A8"/>
                </a:solidFill>
                <a:latin typeface="Noto Sans KR" pitchFamily="34" charset="0"/>
                <a:ea typeface="Noto Sans KR" pitchFamily="34" charset="-122"/>
                <a:cs typeface="Noto Sans KR" pitchFamily="34" charset="-120"/>
              </a:rPr>
              <a:t>유닛별 비용 절감</a:t>
            </a:r>
            <a:endParaRPr lang="en-US" sz="1425" dirty="0"/>
          </a:p>
        </p:txBody>
      </p:sp>
      <p:sp>
        <p:nvSpPr>
          <p:cNvPr id="18" name="Shape 16"/>
          <p:cNvSpPr/>
          <p:nvPr/>
        </p:nvSpPr>
        <p:spPr>
          <a:xfrm>
            <a:off x="914400" y="5773738"/>
            <a:ext cx="16459200" cy="641350"/>
          </a:xfrm>
          <a:prstGeom prst="roundRect">
            <a:avLst>
              <a:gd name="adj" fmla="val 11881"/>
            </a:avLst>
          </a:prstGeom>
          <a:solidFill>
            <a:srgbClr val="1A2236"/>
          </a:solidFill>
          <a:ln/>
        </p:spPr>
        <p:txBody>
          <a:bodyPr/>
          <a:lstStyle/>
          <a:p>
            <a:endParaRPr lang="ko-KR" altLang="en-US"/>
          </a:p>
        </p:txBody>
      </p:sp>
      <p:sp>
        <p:nvSpPr>
          <p:cNvPr id="19" name="Text 17"/>
          <p:cNvSpPr/>
          <p:nvPr/>
        </p:nvSpPr>
        <p:spPr>
          <a:xfrm>
            <a:off x="1181100" y="5973763"/>
            <a:ext cx="4074001" cy="279400"/>
          </a:xfrm>
          <a:prstGeom prst="rect">
            <a:avLst/>
          </a:prstGeom>
          <a:noFill/>
          <a:ln/>
        </p:spPr>
        <p:txBody>
          <a:bodyPr wrap="square" lIns="25400" tIns="25400" rIns="25400" bIns="25400" rtlCol="0" anchor="t">
            <a:normAutofit lnSpcReduction="10000"/>
          </a:bodyPr>
          <a:lstStyle/>
          <a:p>
            <a:pPr marL="0" indent="0" algn="l">
              <a:buNone/>
            </a:pPr>
            <a:r>
              <a:rPr lang="en-US" sz="1575" b="1" dirty="0">
                <a:solidFill>
                  <a:srgbClr val="F0EADB"/>
                </a:solidFill>
                <a:latin typeface="Noto Sans KR" pitchFamily="34" charset="0"/>
                <a:ea typeface="Noto Sans KR" pitchFamily="34" charset="-122"/>
                <a:cs typeface="Noto Sans KR" pitchFamily="34" charset="-120"/>
              </a:rPr>
              <a:t>애니메이션</a:t>
            </a:r>
            <a:endParaRPr lang="en-US" sz="1575" dirty="0"/>
          </a:p>
        </p:txBody>
      </p:sp>
      <p:sp>
        <p:nvSpPr>
          <p:cNvPr id="20" name="Text 18"/>
          <p:cNvSpPr/>
          <p:nvPr/>
        </p:nvSpPr>
        <p:spPr>
          <a:xfrm>
            <a:off x="4884738" y="5964238"/>
            <a:ext cx="8148112" cy="298450"/>
          </a:xfrm>
          <a:prstGeom prst="rect">
            <a:avLst/>
          </a:prstGeom>
          <a:noFill/>
          <a:ln/>
        </p:spPr>
        <p:txBody>
          <a:bodyPr wrap="square" lIns="25400" tIns="25400" rIns="25400" bIns="25400" rtlCol="0" anchor="t">
            <a:normAutofit/>
          </a:bodyPr>
          <a:lstStyle/>
          <a:p>
            <a:pPr marL="0" indent="0" algn="l">
              <a:buNone/>
            </a:pPr>
            <a:r>
              <a:rPr lang="en-US" sz="1425" dirty="0">
                <a:solidFill>
                  <a:srgbClr val="8A9AB8"/>
                </a:solidFill>
                <a:latin typeface="Noto Sans KR" pitchFamily="34" charset="0"/>
                <a:ea typeface="Noto Sans KR" pitchFamily="34" charset="-122"/>
                <a:cs typeface="Noto Sans KR" pitchFamily="34" charset="-120"/>
              </a:rPr>
              <a:t>Animator off · SampleAnimation() SimTick 단위</a:t>
            </a:r>
            <a:endParaRPr lang="en-US" sz="1425" dirty="0"/>
          </a:p>
        </p:txBody>
      </p:sp>
      <p:sp>
        <p:nvSpPr>
          <p:cNvPr id="21" name="Text 19"/>
          <p:cNvSpPr/>
          <p:nvPr/>
        </p:nvSpPr>
        <p:spPr>
          <a:xfrm>
            <a:off x="12292112" y="5964238"/>
            <a:ext cx="5296158" cy="298450"/>
          </a:xfrm>
          <a:prstGeom prst="rect">
            <a:avLst/>
          </a:prstGeom>
          <a:noFill/>
          <a:ln/>
        </p:spPr>
        <p:txBody>
          <a:bodyPr wrap="square" lIns="25400" tIns="25400" rIns="25400" bIns="25400" rtlCol="0" anchor="t">
            <a:normAutofit/>
          </a:bodyPr>
          <a:lstStyle/>
          <a:p>
            <a:pPr marL="0" indent="0" algn="l">
              <a:buNone/>
            </a:pPr>
            <a:r>
              <a:rPr lang="en-US" sz="1425" dirty="0">
                <a:solidFill>
                  <a:srgbClr val="5BC8A8"/>
                </a:solidFill>
                <a:latin typeface="Noto Sans KR" pitchFamily="34" charset="0"/>
                <a:ea typeface="Noto Sans KR" pitchFamily="34" charset="-122"/>
                <a:cs typeface="Noto Sans KR" pitchFamily="34" charset="-120"/>
              </a:rPr>
              <a:t>CPU 절감</a:t>
            </a:r>
            <a:endParaRPr lang="en-US" sz="1425" dirty="0"/>
          </a:p>
        </p:txBody>
      </p:sp>
      <p:sp>
        <p:nvSpPr>
          <p:cNvPr id="22" name="Shape 20"/>
          <p:cNvSpPr/>
          <p:nvPr/>
        </p:nvSpPr>
        <p:spPr>
          <a:xfrm>
            <a:off x="914400" y="6529388"/>
            <a:ext cx="16459200" cy="641350"/>
          </a:xfrm>
          <a:prstGeom prst="roundRect">
            <a:avLst>
              <a:gd name="adj" fmla="val 11881"/>
            </a:avLst>
          </a:prstGeom>
          <a:solidFill>
            <a:srgbClr val="1A2236"/>
          </a:solidFill>
          <a:ln/>
        </p:spPr>
        <p:txBody>
          <a:bodyPr/>
          <a:lstStyle/>
          <a:p>
            <a:endParaRPr lang="ko-KR" altLang="en-US"/>
          </a:p>
        </p:txBody>
      </p:sp>
      <p:sp>
        <p:nvSpPr>
          <p:cNvPr id="23" name="Text 21"/>
          <p:cNvSpPr/>
          <p:nvPr/>
        </p:nvSpPr>
        <p:spPr>
          <a:xfrm>
            <a:off x="1181100" y="6729413"/>
            <a:ext cx="4074001" cy="279400"/>
          </a:xfrm>
          <a:prstGeom prst="rect">
            <a:avLst/>
          </a:prstGeom>
          <a:noFill/>
          <a:ln/>
        </p:spPr>
        <p:txBody>
          <a:bodyPr wrap="square" lIns="25400" tIns="25400" rIns="25400" bIns="25400" rtlCol="0" anchor="t">
            <a:normAutofit lnSpcReduction="10000"/>
          </a:bodyPr>
          <a:lstStyle/>
          <a:p>
            <a:pPr marL="0" indent="0" algn="l">
              <a:buNone/>
            </a:pPr>
            <a:r>
              <a:rPr lang="en-US" sz="1575" b="1" dirty="0">
                <a:solidFill>
                  <a:srgbClr val="F0EADB"/>
                </a:solidFill>
                <a:latin typeface="Noto Sans KR" pitchFamily="34" charset="0"/>
                <a:ea typeface="Noto Sans KR" pitchFamily="34" charset="-122"/>
                <a:cs typeface="Noto Sans KR" pitchFamily="34" charset="-120"/>
              </a:rPr>
              <a:t>정렬 캐싱</a:t>
            </a:r>
            <a:endParaRPr lang="en-US" sz="1575" dirty="0"/>
          </a:p>
        </p:txBody>
      </p:sp>
      <p:sp>
        <p:nvSpPr>
          <p:cNvPr id="24" name="Text 22"/>
          <p:cNvSpPr/>
          <p:nvPr/>
        </p:nvSpPr>
        <p:spPr>
          <a:xfrm>
            <a:off x="4884738" y="6719888"/>
            <a:ext cx="8148112" cy="298450"/>
          </a:xfrm>
          <a:prstGeom prst="rect">
            <a:avLst/>
          </a:prstGeom>
          <a:noFill/>
          <a:ln/>
        </p:spPr>
        <p:txBody>
          <a:bodyPr wrap="square" lIns="25400" tIns="25400" rIns="25400" bIns="25400" rtlCol="0" anchor="t">
            <a:normAutofit/>
          </a:bodyPr>
          <a:lstStyle/>
          <a:p>
            <a:pPr marL="0" indent="0" algn="l">
              <a:buNone/>
            </a:pPr>
            <a:r>
              <a:rPr lang="en-US" sz="1425" dirty="0">
                <a:solidFill>
                  <a:srgbClr val="8A9AB8"/>
                </a:solidFill>
                <a:latin typeface="Noto Sans KR" pitchFamily="34" charset="0"/>
                <a:ea typeface="Noto Sans KR" pitchFamily="34" charset="-122"/>
                <a:cs typeface="Noto Sans KR" pitchFamily="34" charset="-120"/>
              </a:rPr>
              <a:t>InitiativeQueue._dirty — 변화 시에만 재정렬</a:t>
            </a:r>
            <a:endParaRPr lang="en-US" sz="1425" dirty="0"/>
          </a:p>
        </p:txBody>
      </p:sp>
      <p:sp>
        <p:nvSpPr>
          <p:cNvPr id="25" name="Text 23"/>
          <p:cNvSpPr/>
          <p:nvPr/>
        </p:nvSpPr>
        <p:spPr>
          <a:xfrm>
            <a:off x="12292112" y="6719888"/>
            <a:ext cx="5296158" cy="298450"/>
          </a:xfrm>
          <a:prstGeom prst="rect">
            <a:avLst/>
          </a:prstGeom>
          <a:noFill/>
          <a:ln/>
        </p:spPr>
        <p:txBody>
          <a:bodyPr wrap="square" lIns="25400" tIns="25400" rIns="25400" bIns="25400" rtlCol="0" anchor="t">
            <a:normAutofit/>
          </a:bodyPr>
          <a:lstStyle/>
          <a:p>
            <a:pPr marL="0" indent="0" algn="l">
              <a:buNone/>
            </a:pPr>
            <a:r>
              <a:rPr lang="en-US" sz="1425" dirty="0">
                <a:solidFill>
                  <a:srgbClr val="5BC8A8"/>
                </a:solidFill>
                <a:latin typeface="Noto Sans KR" pitchFamily="34" charset="0"/>
                <a:ea typeface="Noto Sans KR" pitchFamily="34" charset="-122"/>
                <a:cs typeface="Noto Sans KR" pitchFamily="34" charset="-120"/>
              </a:rPr>
              <a:t>매 프레임 정렬 제거</a:t>
            </a:r>
            <a:endParaRPr lang="en-US" sz="1425" dirty="0"/>
          </a:p>
        </p:txBody>
      </p:sp>
      <p:sp>
        <p:nvSpPr>
          <p:cNvPr id="26" name="Shape 24"/>
          <p:cNvSpPr/>
          <p:nvPr/>
        </p:nvSpPr>
        <p:spPr>
          <a:xfrm>
            <a:off x="914400" y="7285038"/>
            <a:ext cx="16459200" cy="641350"/>
          </a:xfrm>
          <a:prstGeom prst="roundRect">
            <a:avLst>
              <a:gd name="adj" fmla="val 11881"/>
            </a:avLst>
          </a:prstGeom>
          <a:solidFill>
            <a:srgbClr val="1A2236"/>
          </a:solidFill>
          <a:ln/>
        </p:spPr>
        <p:txBody>
          <a:bodyPr/>
          <a:lstStyle/>
          <a:p>
            <a:endParaRPr lang="ko-KR" altLang="en-US"/>
          </a:p>
        </p:txBody>
      </p:sp>
      <p:sp>
        <p:nvSpPr>
          <p:cNvPr id="27" name="Text 25"/>
          <p:cNvSpPr/>
          <p:nvPr/>
        </p:nvSpPr>
        <p:spPr>
          <a:xfrm>
            <a:off x="1181100" y="7485063"/>
            <a:ext cx="4074001" cy="279400"/>
          </a:xfrm>
          <a:prstGeom prst="rect">
            <a:avLst/>
          </a:prstGeom>
          <a:noFill/>
          <a:ln/>
        </p:spPr>
        <p:txBody>
          <a:bodyPr wrap="square" lIns="25400" tIns="25400" rIns="25400" bIns="25400" rtlCol="0" anchor="t">
            <a:normAutofit lnSpcReduction="10000"/>
          </a:bodyPr>
          <a:lstStyle/>
          <a:p>
            <a:pPr marL="0" indent="0" algn="l">
              <a:buNone/>
            </a:pPr>
            <a:r>
              <a:rPr lang="en-US" sz="1575" b="1" dirty="0">
                <a:solidFill>
                  <a:srgbClr val="F0EADB"/>
                </a:solidFill>
                <a:latin typeface="Noto Sans KR" pitchFamily="34" charset="0"/>
                <a:ea typeface="Noto Sans KR" pitchFamily="34" charset="-122"/>
                <a:cs typeface="Noto Sans KR" pitchFamily="34" charset="-120"/>
              </a:rPr>
              <a:t>씬 로드</a:t>
            </a:r>
            <a:endParaRPr lang="en-US" sz="1575" dirty="0"/>
          </a:p>
        </p:txBody>
      </p:sp>
      <p:sp>
        <p:nvSpPr>
          <p:cNvPr id="28" name="Text 26"/>
          <p:cNvSpPr/>
          <p:nvPr/>
        </p:nvSpPr>
        <p:spPr>
          <a:xfrm>
            <a:off x="4884738" y="7475538"/>
            <a:ext cx="8148112" cy="298450"/>
          </a:xfrm>
          <a:prstGeom prst="rect">
            <a:avLst/>
          </a:prstGeom>
          <a:noFill/>
          <a:ln/>
        </p:spPr>
        <p:txBody>
          <a:bodyPr wrap="square" lIns="25400" tIns="25400" rIns="25400" bIns="25400" rtlCol="0" anchor="t">
            <a:normAutofit/>
          </a:bodyPr>
          <a:lstStyle/>
          <a:p>
            <a:pPr marL="0" indent="0" algn="l">
              <a:buNone/>
            </a:pPr>
            <a:r>
              <a:rPr lang="en-US" sz="1425" dirty="0">
                <a:solidFill>
                  <a:srgbClr val="8A9AB8"/>
                </a:solidFill>
                <a:latin typeface="Noto Sans KR" pitchFamily="34" charset="0"/>
                <a:ea typeface="Noto Sans KR" pitchFamily="34" charset="-122"/>
                <a:cs typeface="Noto Sans KR" pitchFamily="34" charset="-120"/>
              </a:rPr>
              <a:t>ScreenFader 페이드 중 씬 로드</a:t>
            </a:r>
            <a:endParaRPr lang="en-US" sz="1425" dirty="0"/>
          </a:p>
        </p:txBody>
      </p:sp>
      <p:sp>
        <p:nvSpPr>
          <p:cNvPr id="29" name="Text 27"/>
          <p:cNvSpPr/>
          <p:nvPr/>
        </p:nvSpPr>
        <p:spPr>
          <a:xfrm>
            <a:off x="12292112" y="7475538"/>
            <a:ext cx="5296158" cy="298450"/>
          </a:xfrm>
          <a:prstGeom prst="rect">
            <a:avLst/>
          </a:prstGeom>
          <a:noFill/>
          <a:ln/>
        </p:spPr>
        <p:txBody>
          <a:bodyPr wrap="square" lIns="25400" tIns="25400" rIns="25400" bIns="25400" rtlCol="0" anchor="t">
            <a:normAutofit/>
          </a:bodyPr>
          <a:lstStyle/>
          <a:p>
            <a:pPr marL="0" indent="0" algn="l">
              <a:buNone/>
            </a:pPr>
            <a:r>
              <a:rPr lang="en-US" sz="1425" dirty="0">
                <a:solidFill>
                  <a:srgbClr val="5BC8A8"/>
                </a:solidFill>
                <a:latin typeface="Noto Sans KR" pitchFamily="34" charset="0"/>
                <a:ea typeface="Noto Sans KR" pitchFamily="34" charset="-122"/>
                <a:cs typeface="Noto Sans KR" pitchFamily="34" charset="-120"/>
              </a:rPr>
              <a:t>체감 로딩 개선</a:t>
            </a:r>
            <a:endParaRPr lang="en-US" sz="1425" dirty="0"/>
          </a:p>
        </p:txBody>
      </p:sp>
      <p:sp>
        <p:nvSpPr>
          <p:cNvPr id="30" name="Shape 28"/>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32" name="Text 0">
            <a:extLst>
              <a:ext uri="{FF2B5EF4-FFF2-40B4-BE49-F238E27FC236}">
                <a16:creationId xmlns:a16="http://schemas.microsoft.com/office/drawing/2014/main" id="{A80D0C25-9886-2F82-890D-8BE46104978C}"/>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18 / 22</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795221" y="609600"/>
            <a:ext cx="2747288"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CODE QUALITY · 소양 3-5</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19200"/>
            <a:ext cx="18105120" cy="584200"/>
          </a:xfrm>
          <a:prstGeom prst="rect">
            <a:avLst/>
          </a:prstGeom>
          <a:noFill/>
          <a:ln/>
        </p:spPr>
        <p:txBody>
          <a:bodyPr wrap="square" lIns="25400" tIns="25400" rIns="25400" bIns="25400" rtlCol="0" anchor="t">
            <a:normAutofit lnSpcReduction="10000"/>
          </a:bodyPr>
          <a:lstStyle/>
          <a:p>
            <a:pPr marL="0" indent="0" algn="l">
              <a:buNone/>
            </a:pPr>
            <a:r>
              <a:rPr lang="en-US" sz="3600" b="1" kern="0" spc="-75" dirty="0">
                <a:solidFill>
                  <a:srgbClr val="F0EADB"/>
                </a:solidFill>
                <a:latin typeface="Noto Sans KR" pitchFamily="34" charset="0"/>
                <a:ea typeface="Noto Sans KR" pitchFamily="34" charset="-122"/>
                <a:cs typeface="Noto Sans KR" pitchFamily="34" charset="-120"/>
              </a:rPr>
              <a:t>코드 품질 관리 — </a:t>
            </a:r>
            <a:r>
              <a:rPr lang="en-US" sz="2250" b="1" kern="0" spc="-75" dirty="0">
                <a:solidFill>
                  <a:srgbClr val="8A9AB8"/>
                </a:solidFill>
                <a:latin typeface="Noto Sans KR" pitchFamily="34" charset="0"/>
                <a:ea typeface="Noto Sans KR" pitchFamily="34" charset="-122"/>
                <a:cs typeface="Noto Sans KR" pitchFamily="34" charset="-120"/>
              </a:rPr>
              <a:t>AI 도구로 강제한 규율</a:t>
            </a:r>
            <a:endParaRPr lang="en-US" sz="3600" dirty="0"/>
          </a:p>
        </p:txBody>
      </p:sp>
      <p:sp>
        <p:nvSpPr>
          <p:cNvPr id="6" name="Shape 4"/>
          <p:cNvSpPr/>
          <p:nvPr/>
        </p:nvSpPr>
        <p:spPr>
          <a:xfrm>
            <a:off x="914400" y="2032000"/>
            <a:ext cx="6409531" cy="6594475"/>
          </a:xfrm>
          <a:prstGeom prst="roundRect">
            <a:avLst>
              <a:gd name="adj" fmla="val 1189"/>
            </a:avLst>
          </a:prstGeom>
          <a:solidFill>
            <a:srgbClr val="1A2236"/>
          </a:solidFill>
          <a:ln/>
        </p:spPr>
        <p:txBody>
          <a:bodyPr/>
          <a:lstStyle/>
          <a:p>
            <a:endParaRPr lang="ko-KR" altLang="en-US"/>
          </a:p>
        </p:txBody>
      </p:sp>
      <p:sp>
        <p:nvSpPr>
          <p:cNvPr id="7" name="Shape 5"/>
          <p:cNvSpPr/>
          <p:nvPr/>
        </p:nvSpPr>
        <p:spPr>
          <a:xfrm>
            <a:off x="914400" y="2032000"/>
            <a:ext cx="6409531" cy="25400"/>
          </a:xfrm>
          <a:prstGeom prst="rect">
            <a:avLst/>
          </a:prstGeom>
          <a:solidFill>
            <a:srgbClr val="D97757"/>
          </a:solidFill>
          <a:ln/>
        </p:spPr>
        <p:txBody>
          <a:bodyPr/>
          <a:lstStyle/>
          <a:p>
            <a:endParaRPr lang="ko-KR" altLang="en-US"/>
          </a:p>
        </p:txBody>
      </p:sp>
      <p:sp>
        <p:nvSpPr>
          <p:cNvPr id="8" name="Text 6"/>
          <p:cNvSpPr/>
          <p:nvPr/>
        </p:nvSpPr>
        <p:spPr>
          <a:xfrm>
            <a:off x="1238250" y="2362200"/>
            <a:ext cx="6338015"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D97757"/>
                </a:solidFill>
                <a:latin typeface="Noto Sans KR" pitchFamily="34" charset="0"/>
                <a:ea typeface="Noto Sans KR" pitchFamily="34" charset="-122"/>
                <a:cs typeface="Noto Sans KR" pitchFamily="34" charset="-120"/>
              </a:rPr>
              <a:t>품질 관리 원칙</a:t>
            </a:r>
            <a:endParaRPr lang="en-US" sz="1725" dirty="0"/>
          </a:p>
        </p:txBody>
      </p:sp>
      <p:sp>
        <p:nvSpPr>
          <p:cNvPr id="9" name="Text 7"/>
          <p:cNvSpPr/>
          <p:nvPr/>
        </p:nvSpPr>
        <p:spPr>
          <a:xfrm>
            <a:off x="1238250" y="2813050"/>
            <a:ext cx="5934686" cy="2051050"/>
          </a:xfrm>
          <a:prstGeom prst="rect">
            <a:avLst/>
          </a:prstGeom>
          <a:noFill/>
          <a:ln/>
        </p:spPr>
        <p:txBody>
          <a:bodyPr wrap="square" lIns="25400" tIns="25400" rIns="25400" bIns="25400" rtlCol="0" anchor="t">
            <a:normAutofit/>
          </a:bodyPr>
          <a:lstStyle/>
          <a:p>
            <a:pPr marL="0" indent="0" algn="l">
              <a:lnSpc>
                <a:spcPct val="210000"/>
              </a:lnSpc>
              <a:buNone/>
            </a:pPr>
            <a:r>
              <a:rPr lang="en-US" sz="1500" dirty="0">
                <a:solidFill>
                  <a:srgbClr val="F0EADB"/>
                </a:solidFill>
                <a:latin typeface="Noto Sans KR" pitchFamily="34" charset="0"/>
                <a:ea typeface="Noto Sans KR" pitchFamily="34" charset="-122"/>
                <a:cs typeface="Noto Sans KR" pitchFamily="34" charset="-120"/>
              </a:rPr>
              <a:t>· ADR </a:t>
            </a:r>
            <a:r>
              <a:rPr lang="en-US" sz="1500" b="1" dirty="0">
                <a:solidFill>
                  <a:srgbClr val="F0EADB"/>
                </a:solidFill>
                <a:latin typeface="Noto Sans KR" pitchFamily="34" charset="0"/>
                <a:ea typeface="Noto Sans KR" pitchFamily="34" charset="-122"/>
                <a:cs typeface="Noto Sans KR" pitchFamily="34" charset="-120"/>
              </a:rPr>
              <a:t>17개 </a:t>
            </a:r>
            <a:r>
              <a:rPr lang="en-US" sz="1500" dirty="0">
                <a:solidFill>
                  <a:srgbClr val="F0EADB"/>
                </a:solidFill>
                <a:latin typeface="Noto Sans KR" pitchFamily="34" charset="0"/>
                <a:ea typeface="Noto Sans KR" pitchFamily="34" charset="-122"/>
                <a:cs typeface="Noto Sans KR" pitchFamily="34" charset="-120"/>
              </a:rPr>
              <a:t>설계 사전 문서화 · WBS 자동 갱신 · 주간 보고서 </a:t>
            </a:r>
            <a:r>
              <a:rPr lang="en-US" sz="1200" dirty="0">
                <a:solidFill>
                  <a:srgbClr val="8A9AB8"/>
                </a:solidFill>
                <a:latin typeface="JetBrains Mono" pitchFamily="34" charset="0"/>
                <a:ea typeface="JetBrains Mono" pitchFamily="34" charset="-122"/>
                <a:cs typeface="JetBrains Mono" pitchFamily="34" charset="-120"/>
              </a:rPr>
              <a:t>docs/weekly/ </a:t>
            </a:r>
            <a:r>
              <a:rPr lang="en-US" sz="1500" dirty="0">
                <a:solidFill>
                  <a:srgbClr val="F0EADB"/>
                </a:solidFill>
                <a:latin typeface="Noto Sans KR" pitchFamily="34" charset="0"/>
                <a:ea typeface="Noto Sans KR" pitchFamily="34" charset="-122"/>
                <a:cs typeface="Noto Sans KR" pitchFamily="34" charset="-120"/>
              </a:rPr>
              <a:t>· 인터페이스 기반 설계 · 단일 책임 분리</a:t>
            </a:r>
            <a:endParaRPr lang="en-US" sz="1500" dirty="0"/>
          </a:p>
        </p:txBody>
      </p:sp>
      <p:sp>
        <p:nvSpPr>
          <p:cNvPr id="10" name="Text 8"/>
          <p:cNvSpPr/>
          <p:nvPr/>
        </p:nvSpPr>
        <p:spPr>
          <a:xfrm>
            <a:off x="7590631" y="2032000"/>
            <a:ext cx="10761266" cy="29845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5BC8A8"/>
                </a:solidFill>
                <a:latin typeface="Noto Sans KR" pitchFamily="34" charset="0"/>
                <a:ea typeface="Noto Sans KR" pitchFamily="34" charset="-122"/>
                <a:cs typeface="Noto Sans KR" pitchFamily="34" charset="-120"/>
              </a:rPr>
              <a:t>AI 도구로 유지한 품질</a:t>
            </a:r>
            <a:endParaRPr lang="en-US" sz="1725" dirty="0"/>
          </a:p>
        </p:txBody>
      </p:sp>
      <p:sp>
        <p:nvSpPr>
          <p:cNvPr id="11" name="Shape 9"/>
          <p:cNvSpPr/>
          <p:nvPr/>
        </p:nvSpPr>
        <p:spPr>
          <a:xfrm>
            <a:off x="7590631" y="2416175"/>
            <a:ext cx="9782969" cy="1459706"/>
          </a:xfrm>
          <a:prstGeom prst="roundRect">
            <a:avLst>
              <a:gd name="adj" fmla="val 5220"/>
            </a:avLst>
          </a:prstGeom>
          <a:solidFill>
            <a:srgbClr val="1A2236"/>
          </a:solidFill>
          <a:ln/>
        </p:spPr>
        <p:txBody>
          <a:bodyPr/>
          <a:lstStyle/>
          <a:p>
            <a:endParaRPr lang="ko-KR" altLang="en-US"/>
          </a:p>
        </p:txBody>
      </p:sp>
      <p:sp>
        <p:nvSpPr>
          <p:cNvPr id="12" name="Shape 10"/>
          <p:cNvSpPr/>
          <p:nvPr/>
        </p:nvSpPr>
        <p:spPr>
          <a:xfrm>
            <a:off x="7590631" y="2416175"/>
            <a:ext cx="38100" cy="1459706"/>
          </a:xfrm>
          <a:prstGeom prst="rect">
            <a:avLst/>
          </a:prstGeom>
          <a:solidFill>
            <a:srgbClr val="5BC8A8"/>
          </a:solidFill>
          <a:ln/>
        </p:spPr>
        <p:txBody>
          <a:bodyPr/>
          <a:lstStyle/>
          <a:p>
            <a:endParaRPr lang="ko-KR" altLang="en-US"/>
          </a:p>
        </p:txBody>
      </p:sp>
      <p:sp>
        <p:nvSpPr>
          <p:cNvPr id="13" name="Text 11"/>
          <p:cNvSpPr/>
          <p:nvPr/>
        </p:nvSpPr>
        <p:spPr>
          <a:xfrm>
            <a:off x="7876381" y="3022203"/>
            <a:ext cx="1571625" cy="28575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F0EADB"/>
                </a:solidFill>
                <a:latin typeface="Noto Sans KR" pitchFamily="34" charset="0"/>
                <a:ea typeface="Noto Sans KR" pitchFamily="34" charset="-122"/>
                <a:cs typeface="Noto Sans KR" pitchFamily="34" charset="-120"/>
              </a:rPr>
              <a:t>Superpowers</a:t>
            </a:r>
            <a:endParaRPr lang="en-US" sz="1650" dirty="0"/>
          </a:p>
        </p:txBody>
      </p:sp>
      <p:sp>
        <p:nvSpPr>
          <p:cNvPr id="14" name="Text 12"/>
          <p:cNvSpPr/>
          <p:nvPr/>
        </p:nvSpPr>
        <p:spPr>
          <a:xfrm>
            <a:off x="9533731" y="3017441"/>
            <a:ext cx="8351441" cy="2952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350" dirty="0">
                <a:solidFill>
                  <a:srgbClr val="C2CCDC"/>
                </a:solidFill>
                <a:latin typeface="Noto Sans KR" pitchFamily="34" charset="0"/>
                <a:ea typeface="Noto Sans KR" pitchFamily="34" charset="-122"/>
                <a:cs typeface="Noto Sans KR" pitchFamily="34" charset="-120"/>
              </a:rPr>
              <a:t>코드 작성 전 </a:t>
            </a:r>
            <a:r>
              <a:rPr lang="en-US" sz="1350" dirty="0">
                <a:solidFill>
                  <a:srgbClr val="F0EADB"/>
                </a:solidFill>
                <a:latin typeface="Noto Sans KR" pitchFamily="34" charset="0"/>
                <a:ea typeface="Noto Sans KR" pitchFamily="34" charset="-122"/>
                <a:cs typeface="Noto Sans KR" pitchFamily="34" charset="-120"/>
              </a:rPr>
              <a:t>설계·TDD를 강제</a:t>
            </a:r>
            <a:r>
              <a:rPr lang="en-US" sz="1350" dirty="0">
                <a:solidFill>
                  <a:srgbClr val="C2CCDC"/>
                </a:solidFill>
                <a:latin typeface="Noto Sans KR" pitchFamily="34" charset="0"/>
                <a:ea typeface="Noto Sans KR" pitchFamily="34" charset="-122"/>
                <a:cs typeface="Noto Sans KR" pitchFamily="34" charset="-120"/>
              </a:rPr>
              <a:t>해 결함을 사전 차단</a:t>
            </a:r>
            <a:endParaRPr lang="en-US" sz="1350" dirty="0"/>
          </a:p>
        </p:txBody>
      </p:sp>
      <p:sp>
        <p:nvSpPr>
          <p:cNvPr id="15" name="Shape 13"/>
          <p:cNvSpPr/>
          <p:nvPr/>
        </p:nvSpPr>
        <p:spPr>
          <a:xfrm>
            <a:off x="7590631" y="3999706"/>
            <a:ext cx="9782969" cy="1459706"/>
          </a:xfrm>
          <a:prstGeom prst="roundRect">
            <a:avLst>
              <a:gd name="adj" fmla="val 5220"/>
            </a:avLst>
          </a:prstGeom>
          <a:solidFill>
            <a:srgbClr val="1A2236"/>
          </a:solidFill>
          <a:ln/>
        </p:spPr>
        <p:txBody>
          <a:bodyPr/>
          <a:lstStyle/>
          <a:p>
            <a:endParaRPr lang="ko-KR" altLang="en-US"/>
          </a:p>
        </p:txBody>
      </p:sp>
      <p:sp>
        <p:nvSpPr>
          <p:cNvPr id="16" name="Shape 14"/>
          <p:cNvSpPr/>
          <p:nvPr/>
        </p:nvSpPr>
        <p:spPr>
          <a:xfrm>
            <a:off x="7590631" y="3999706"/>
            <a:ext cx="38100" cy="1459706"/>
          </a:xfrm>
          <a:prstGeom prst="rect">
            <a:avLst/>
          </a:prstGeom>
          <a:solidFill>
            <a:srgbClr val="5BC8A8"/>
          </a:solidFill>
          <a:ln/>
        </p:spPr>
        <p:txBody>
          <a:bodyPr/>
          <a:lstStyle/>
          <a:p>
            <a:endParaRPr lang="ko-KR" altLang="en-US"/>
          </a:p>
        </p:txBody>
      </p:sp>
      <p:sp>
        <p:nvSpPr>
          <p:cNvPr id="17" name="Text 15"/>
          <p:cNvSpPr/>
          <p:nvPr/>
        </p:nvSpPr>
        <p:spPr>
          <a:xfrm>
            <a:off x="7876381" y="4605735"/>
            <a:ext cx="1571625" cy="28575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F0EADB"/>
                </a:solidFill>
                <a:latin typeface="Noto Sans KR" pitchFamily="34" charset="0"/>
                <a:ea typeface="Noto Sans KR" pitchFamily="34" charset="-122"/>
                <a:cs typeface="Noto Sans KR" pitchFamily="34" charset="-120"/>
              </a:rPr>
              <a:t>Agent Skills</a:t>
            </a:r>
            <a:endParaRPr lang="en-US" sz="1650" dirty="0"/>
          </a:p>
        </p:txBody>
      </p:sp>
      <p:sp>
        <p:nvSpPr>
          <p:cNvPr id="18" name="Text 16"/>
          <p:cNvSpPr/>
          <p:nvPr/>
        </p:nvSpPr>
        <p:spPr>
          <a:xfrm>
            <a:off x="9533731" y="4600972"/>
            <a:ext cx="8351441" cy="2952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350" dirty="0">
                <a:solidFill>
                  <a:srgbClr val="C2CCDC"/>
                </a:solidFill>
                <a:latin typeface="Noto Sans KR" pitchFamily="34" charset="0"/>
                <a:ea typeface="Noto Sans KR" pitchFamily="34" charset="-122"/>
                <a:cs typeface="Noto Sans KR" pitchFamily="34" charset="-120"/>
              </a:rPr>
              <a:t>코드 리뷰·보안·단순화 등 </a:t>
            </a:r>
            <a:r>
              <a:rPr lang="en-US" sz="1350" dirty="0">
                <a:solidFill>
                  <a:srgbClr val="F0EADB"/>
                </a:solidFill>
                <a:latin typeface="Noto Sans KR" pitchFamily="34" charset="0"/>
                <a:ea typeface="Noto Sans KR" pitchFamily="34" charset="-122"/>
                <a:cs typeface="Noto Sans KR" pitchFamily="34" charset="-120"/>
              </a:rPr>
              <a:t>시니어 품질 게이트</a:t>
            </a:r>
            <a:r>
              <a:rPr lang="en-US" sz="1350" dirty="0">
                <a:solidFill>
                  <a:srgbClr val="C2CCDC"/>
                </a:solidFill>
                <a:latin typeface="Noto Sans KR" pitchFamily="34" charset="0"/>
                <a:ea typeface="Noto Sans KR" pitchFamily="34" charset="-122"/>
                <a:cs typeface="Noto Sans KR" pitchFamily="34" charset="-120"/>
              </a:rPr>
              <a:t>를 워크플로로 강제</a:t>
            </a:r>
            <a:endParaRPr lang="en-US" sz="1350" dirty="0"/>
          </a:p>
        </p:txBody>
      </p:sp>
      <p:sp>
        <p:nvSpPr>
          <p:cNvPr id="19" name="Shape 17"/>
          <p:cNvSpPr/>
          <p:nvPr/>
        </p:nvSpPr>
        <p:spPr>
          <a:xfrm>
            <a:off x="7590631" y="5583238"/>
            <a:ext cx="9782969" cy="1459706"/>
          </a:xfrm>
          <a:prstGeom prst="roundRect">
            <a:avLst>
              <a:gd name="adj" fmla="val 5220"/>
            </a:avLst>
          </a:prstGeom>
          <a:solidFill>
            <a:srgbClr val="1A2236"/>
          </a:solidFill>
          <a:ln/>
        </p:spPr>
        <p:txBody>
          <a:bodyPr/>
          <a:lstStyle/>
          <a:p>
            <a:endParaRPr lang="ko-KR" altLang="en-US"/>
          </a:p>
        </p:txBody>
      </p:sp>
      <p:sp>
        <p:nvSpPr>
          <p:cNvPr id="20" name="Shape 18"/>
          <p:cNvSpPr/>
          <p:nvPr/>
        </p:nvSpPr>
        <p:spPr>
          <a:xfrm>
            <a:off x="7590631" y="5583238"/>
            <a:ext cx="38100" cy="1459706"/>
          </a:xfrm>
          <a:prstGeom prst="rect">
            <a:avLst/>
          </a:prstGeom>
          <a:solidFill>
            <a:srgbClr val="5BC8A8"/>
          </a:solidFill>
          <a:ln/>
        </p:spPr>
        <p:txBody>
          <a:bodyPr/>
          <a:lstStyle/>
          <a:p>
            <a:endParaRPr lang="ko-KR" altLang="en-US"/>
          </a:p>
        </p:txBody>
      </p:sp>
      <p:sp>
        <p:nvSpPr>
          <p:cNvPr id="21" name="Text 19"/>
          <p:cNvSpPr/>
          <p:nvPr/>
        </p:nvSpPr>
        <p:spPr>
          <a:xfrm>
            <a:off x="7876381" y="6189266"/>
            <a:ext cx="1571625" cy="28575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F0EADB"/>
                </a:solidFill>
                <a:latin typeface="Noto Sans KR" pitchFamily="34" charset="0"/>
                <a:ea typeface="Noto Sans KR" pitchFamily="34" charset="-122"/>
                <a:cs typeface="Noto Sans KR" pitchFamily="34" charset="-120"/>
              </a:rPr>
              <a:t>Unity MCP</a:t>
            </a:r>
            <a:endParaRPr lang="en-US" sz="1650" dirty="0"/>
          </a:p>
        </p:txBody>
      </p:sp>
      <p:sp>
        <p:nvSpPr>
          <p:cNvPr id="22" name="Text 20"/>
          <p:cNvSpPr/>
          <p:nvPr/>
        </p:nvSpPr>
        <p:spPr>
          <a:xfrm>
            <a:off x="9533731" y="6184503"/>
            <a:ext cx="8351441" cy="2952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350" dirty="0">
                <a:solidFill>
                  <a:srgbClr val="C2CCDC"/>
                </a:solidFill>
                <a:latin typeface="Noto Sans KR" pitchFamily="34" charset="0"/>
                <a:ea typeface="Noto Sans KR" pitchFamily="34" charset="-122"/>
                <a:cs typeface="Noto Sans KR" pitchFamily="34" charset="-120"/>
              </a:rPr>
              <a:t>에디터에서 </a:t>
            </a:r>
            <a:r>
              <a:rPr lang="en-US" sz="1350" dirty="0">
                <a:solidFill>
                  <a:srgbClr val="F0EADB"/>
                </a:solidFill>
                <a:latin typeface="Noto Sans KR" pitchFamily="34" charset="0"/>
                <a:ea typeface="Noto Sans KR" pitchFamily="34" charset="-122"/>
                <a:cs typeface="Noto Sans KR" pitchFamily="34" charset="-120"/>
              </a:rPr>
              <a:t>컴파일·검증을 즉시 </a:t>
            </a:r>
            <a:r>
              <a:rPr lang="en-US" sz="1350" dirty="0">
                <a:solidFill>
                  <a:srgbClr val="C2CCDC"/>
                </a:solidFill>
                <a:latin typeface="Noto Sans KR" pitchFamily="34" charset="0"/>
                <a:ea typeface="Noto Sans KR" pitchFamily="34" charset="-122"/>
                <a:cs typeface="Noto Sans KR" pitchFamily="34" charset="-120"/>
              </a:rPr>
              <a:t>실행하고 오류 자가 수정 루프</a:t>
            </a:r>
            <a:endParaRPr lang="en-US" sz="1350" dirty="0"/>
          </a:p>
        </p:txBody>
      </p:sp>
      <p:sp>
        <p:nvSpPr>
          <p:cNvPr id="23" name="Shape 21"/>
          <p:cNvSpPr/>
          <p:nvPr/>
        </p:nvSpPr>
        <p:spPr>
          <a:xfrm>
            <a:off x="7590631" y="7166769"/>
            <a:ext cx="9782969" cy="1459706"/>
          </a:xfrm>
          <a:prstGeom prst="roundRect">
            <a:avLst>
              <a:gd name="adj" fmla="val 5220"/>
            </a:avLst>
          </a:prstGeom>
          <a:solidFill>
            <a:srgbClr val="1A2236"/>
          </a:solidFill>
          <a:ln/>
        </p:spPr>
        <p:txBody>
          <a:bodyPr/>
          <a:lstStyle/>
          <a:p>
            <a:endParaRPr lang="ko-KR" altLang="en-US"/>
          </a:p>
        </p:txBody>
      </p:sp>
      <p:sp>
        <p:nvSpPr>
          <p:cNvPr id="24" name="Shape 22"/>
          <p:cNvSpPr/>
          <p:nvPr/>
        </p:nvSpPr>
        <p:spPr>
          <a:xfrm>
            <a:off x="7590631" y="7166769"/>
            <a:ext cx="38100" cy="1459706"/>
          </a:xfrm>
          <a:prstGeom prst="rect">
            <a:avLst/>
          </a:prstGeom>
          <a:solidFill>
            <a:srgbClr val="5BC8A8"/>
          </a:solidFill>
          <a:ln/>
        </p:spPr>
        <p:txBody>
          <a:bodyPr/>
          <a:lstStyle/>
          <a:p>
            <a:endParaRPr lang="ko-KR" altLang="en-US"/>
          </a:p>
        </p:txBody>
      </p:sp>
      <p:sp>
        <p:nvSpPr>
          <p:cNvPr id="25" name="Text 23"/>
          <p:cNvSpPr/>
          <p:nvPr/>
        </p:nvSpPr>
        <p:spPr>
          <a:xfrm>
            <a:off x="7876381" y="7772797"/>
            <a:ext cx="1571625" cy="28575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F0EADB"/>
                </a:solidFill>
                <a:latin typeface="Noto Sans KR" pitchFamily="34" charset="0"/>
                <a:ea typeface="Noto Sans KR" pitchFamily="34" charset="-122"/>
                <a:cs typeface="Noto Sans KR" pitchFamily="34" charset="-120"/>
              </a:rPr>
              <a:t>Graphify</a:t>
            </a:r>
            <a:endParaRPr lang="en-US" sz="1650" dirty="0"/>
          </a:p>
        </p:txBody>
      </p:sp>
      <p:sp>
        <p:nvSpPr>
          <p:cNvPr id="26" name="Text 24"/>
          <p:cNvSpPr/>
          <p:nvPr/>
        </p:nvSpPr>
        <p:spPr>
          <a:xfrm>
            <a:off x="9533731" y="7768035"/>
            <a:ext cx="8351441" cy="2952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350" dirty="0">
                <a:solidFill>
                  <a:srgbClr val="C2CCDC"/>
                </a:solidFill>
                <a:latin typeface="Noto Sans KR" pitchFamily="34" charset="0"/>
                <a:ea typeface="Noto Sans KR" pitchFamily="34" charset="-122"/>
                <a:cs typeface="Noto Sans KR" pitchFamily="34" charset="-120"/>
              </a:rPr>
              <a:t>코드·문서를 </a:t>
            </a:r>
            <a:r>
              <a:rPr lang="en-US" sz="1350" dirty="0">
                <a:solidFill>
                  <a:srgbClr val="F0EADB"/>
                </a:solidFill>
                <a:latin typeface="Noto Sans KR" pitchFamily="34" charset="0"/>
                <a:ea typeface="Noto Sans KR" pitchFamily="34" charset="-122"/>
                <a:cs typeface="Noto Sans KR" pitchFamily="34" charset="-120"/>
              </a:rPr>
              <a:t>지식 그래프로 연결</a:t>
            </a:r>
            <a:r>
              <a:rPr lang="en-US" sz="1350" dirty="0">
                <a:solidFill>
                  <a:srgbClr val="C2CCDC"/>
                </a:solidFill>
                <a:latin typeface="Noto Sans KR" pitchFamily="34" charset="0"/>
                <a:ea typeface="Noto Sans KR" pitchFamily="34" charset="-122"/>
                <a:cs typeface="Noto Sans KR" pitchFamily="34" charset="-120"/>
              </a:rPr>
              <a:t>해 구조·의존성을 일관되게 파악</a:t>
            </a:r>
            <a:endParaRPr lang="en-US" sz="1350" dirty="0"/>
          </a:p>
        </p:txBody>
      </p:sp>
      <p:sp>
        <p:nvSpPr>
          <p:cNvPr id="27" name="Shape 25"/>
          <p:cNvSpPr/>
          <p:nvPr/>
        </p:nvSpPr>
        <p:spPr>
          <a:xfrm>
            <a:off x="914400" y="8855075"/>
            <a:ext cx="16459200" cy="622300"/>
          </a:xfrm>
          <a:prstGeom prst="roundRect">
            <a:avLst>
              <a:gd name="adj" fmla="val 9184"/>
            </a:avLst>
          </a:prstGeom>
          <a:solidFill>
            <a:srgbClr val="232D42"/>
          </a:solidFill>
          <a:ln/>
        </p:spPr>
        <p:txBody>
          <a:bodyPr/>
          <a:lstStyle/>
          <a:p>
            <a:endParaRPr lang="ko-KR" altLang="en-US"/>
          </a:p>
        </p:txBody>
      </p:sp>
      <p:sp>
        <p:nvSpPr>
          <p:cNvPr id="28" name="Shape 26"/>
          <p:cNvSpPr/>
          <p:nvPr/>
        </p:nvSpPr>
        <p:spPr>
          <a:xfrm>
            <a:off x="914400" y="8855075"/>
            <a:ext cx="38100" cy="622300"/>
          </a:xfrm>
          <a:prstGeom prst="rect">
            <a:avLst/>
          </a:prstGeom>
          <a:solidFill>
            <a:srgbClr val="E8B84B"/>
          </a:solidFill>
          <a:ln/>
        </p:spPr>
        <p:txBody>
          <a:bodyPr/>
          <a:lstStyle/>
          <a:p>
            <a:endParaRPr lang="ko-KR" altLang="en-US"/>
          </a:p>
        </p:txBody>
      </p:sp>
      <p:sp>
        <p:nvSpPr>
          <p:cNvPr id="29" name="Text 27"/>
          <p:cNvSpPr/>
          <p:nvPr/>
        </p:nvSpPr>
        <p:spPr>
          <a:xfrm>
            <a:off x="1200150" y="9026525"/>
            <a:ext cx="337840" cy="317500"/>
          </a:xfrm>
          <a:prstGeom prst="rect">
            <a:avLst/>
          </a:prstGeom>
          <a:noFill/>
          <a:ln/>
        </p:spPr>
        <p:txBody>
          <a:bodyPr wrap="square" lIns="25400" tIns="25400" rIns="25400" bIns="25400" rtlCol="0" anchor="t">
            <a:normAutofit/>
          </a:bodyPr>
          <a:lstStyle/>
          <a:p>
            <a:pPr marL="0" indent="0" algn="l">
              <a:buNone/>
            </a:pPr>
            <a:r>
              <a:rPr lang="en-US" sz="1500" dirty="0">
                <a:solidFill>
                  <a:srgbClr val="F0EADB"/>
                </a:solidFill>
                <a:latin typeface="Noto Sans KR" pitchFamily="34" charset="0"/>
                <a:ea typeface="Noto Sans KR" pitchFamily="34" charset="-122"/>
                <a:cs typeface="Noto Sans KR" pitchFamily="34" charset="-120"/>
              </a:rPr>
              <a:t>🔧</a:t>
            </a:r>
            <a:endParaRPr lang="en-US" sz="1500" dirty="0"/>
          </a:p>
        </p:txBody>
      </p:sp>
      <p:sp>
        <p:nvSpPr>
          <p:cNvPr id="30" name="Text 28"/>
          <p:cNvSpPr/>
          <p:nvPr/>
        </p:nvSpPr>
        <p:spPr>
          <a:xfrm>
            <a:off x="1595140" y="9036050"/>
            <a:ext cx="10987187" cy="298450"/>
          </a:xfrm>
          <a:prstGeom prst="rect">
            <a:avLst/>
          </a:prstGeom>
          <a:noFill/>
          <a:ln/>
        </p:spPr>
        <p:txBody>
          <a:bodyPr wrap="square" lIns="25400" tIns="25400" rIns="25400" bIns="25400" rtlCol="0" anchor="t">
            <a:normAutofit/>
          </a:bodyPr>
          <a:lstStyle/>
          <a:p>
            <a:pPr marL="0" indent="0" algn="l">
              <a:buNone/>
            </a:pPr>
            <a:r>
              <a:rPr lang="en-US" sz="1425" b="1" dirty="0">
                <a:solidFill>
                  <a:srgbClr val="F0EADB"/>
                </a:solidFill>
                <a:latin typeface="Noto Sans KR" pitchFamily="34" charset="0"/>
                <a:ea typeface="Noto Sans KR" pitchFamily="34" charset="-122"/>
                <a:cs typeface="Noto Sans KR" pitchFamily="34" charset="-120"/>
              </a:rPr>
              <a:t>지속적 개선 </a:t>
            </a:r>
            <a:r>
              <a:rPr lang="en-US" sz="1425" dirty="0">
                <a:solidFill>
                  <a:srgbClr val="F0EADB"/>
                </a:solidFill>
                <a:latin typeface="Noto Sans KR" pitchFamily="34" charset="0"/>
                <a:ea typeface="Noto Sans KR" pitchFamily="34" charset="-122"/>
                <a:cs typeface="Noto Sans KR" pitchFamily="34" charset="-120"/>
              </a:rPr>
              <a:t>— 주간 보고서·WBS 자동 갱신·ADR 지속 작성으로 설계를 계속 다듬고, AI 도구 워크플로로 리뷰·리팩토링을 반복 적용 중</a:t>
            </a:r>
            <a:endParaRPr lang="en-US" sz="1425" dirty="0"/>
          </a:p>
        </p:txBody>
      </p:sp>
      <p:sp>
        <p:nvSpPr>
          <p:cNvPr id="31" name="Shape 29"/>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33" name="Text 0">
            <a:extLst>
              <a:ext uri="{FF2B5EF4-FFF2-40B4-BE49-F238E27FC236}">
                <a16:creationId xmlns:a16="http://schemas.microsoft.com/office/drawing/2014/main" id="{C0FAC88C-D3DC-5BCD-4F98-C1DEC057A85F}"/>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19 / 22</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514233" y="609600"/>
            <a:ext cx="3365460"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UNIT TEST RESULTS · 소양 3-5</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fontScale="92500"/>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00150"/>
            <a:ext cx="3174246" cy="584200"/>
          </a:xfrm>
          <a:prstGeom prst="rect">
            <a:avLst/>
          </a:prstGeom>
          <a:noFill/>
          <a:ln/>
        </p:spPr>
        <p:txBody>
          <a:bodyPr wrap="square" lIns="25400" tIns="25400" rIns="25400" bIns="25400" rtlCol="0" anchor="t">
            <a:normAutofit lnSpcReduction="10000"/>
          </a:bodyPr>
          <a:lstStyle/>
          <a:p>
            <a:pPr marL="0" indent="0" algn="l">
              <a:buNone/>
            </a:pPr>
            <a:r>
              <a:rPr lang="en-US" sz="3600" b="1" kern="0" spc="-75" dirty="0">
                <a:solidFill>
                  <a:srgbClr val="F0EADB"/>
                </a:solidFill>
                <a:latin typeface="Noto Sans KR" pitchFamily="34" charset="0"/>
                <a:ea typeface="Noto Sans KR" pitchFamily="34" charset="-122"/>
                <a:cs typeface="Noto Sans KR" pitchFamily="34" charset="-120"/>
              </a:rPr>
              <a:t>단위 테스트 결과</a:t>
            </a:r>
            <a:endParaRPr lang="en-US" sz="3600" dirty="0"/>
          </a:p>
        </p:txBody>
      </p:sp>
      <p:sp>
        <p:nvSpPr>
          <p:cNvPr id="6" name="Text 4"/>
          <p:cNvSpPr/>
          <p:nvPr/>
        </p:nvSpPr>
        <p:spPr>
          <a:xfrm>
            <a:off x="13001625" y="1530350"/>
            <a:ext cx="4809173" cy="254000"/>
          </a:xfrm>
          <a:prstGeom prst="rect">
            <a:avLst/>
          </a:prstGeom>
          <a:noFill/>
          <a:ln/>
        </p:spPr>
        <p:txBody>
          <a:bodyPr wrap="square" lIns="25400" tIns="25400" rIns="25400" bIns="25400" rtlCol="0" anchor="t">
            <a:normAutofit/>
          </a:bodyPr>
          <a:lstStyle/>
          <a:p>
            <a:pPr marL="0" indent="0" algn="l">
              <a:buNone/>
            </a:pPr>
            <a:r>
              <a:rPr lang="en-US" sz="1275" dirty="0">
                <a:solidFill>
                  <a:srgbClr val="8A9AB8"/>
                </a:solidFill>
                <a:latin typeface="JetBrains Mono" pitchFamily="34" charset="0"/>
                <a:ea typeface="JetBrains Mono" pitchFamily="34" charset="-122"/>
                <a:cs typeface="JetBrains Mono" pitchFamily="34" charset="-120"/>
              </a:rPr>
              <a:t>Unity Test Framework 1.6.0 · EditMode · NUnit</a:t>
            </a:r>
            <a:endParaRPr lang="en-US" sz="1275" dirty="0"/>
          </a:p>
        </p:txBody>
      </p:sp>
      <p:sp>
        <p:nvSpPr>
          <p:cNvPr id="7" name="Shape 5"/>
          <p:cNvSpPr/>
          <p:nvPr/>
        </p:nvSpPr>
        <p:spPr>
          <a:xfrm>
            <a:off x="914400" y="1993900"/>
            <a:ext cx="3817640" cy="1041400"/>
          </a:xfrm>
          <a:prstGeom prst="roundRect">
            <a:avLst>
              <a:gd name="adj" fmla="val 9146"/>
            </a:avLst>
          </a:prstGeom>
          <a:solidFill>
            <a:srgbClr val="13261F"/>
          </a:solidFill>
          <a:ln w="6350">
            <a:solidFill>
              <a:srgbClr val="1D3A30"/>
            </a:solidFill>
            <a:prstDash val="solid"/>
          </a:ln>
        </p:spPr>
        <p:txBody>
          <a:bodyPr/>
          <a:lstStyle/>
          <a:p>
            <a:endParaRPr lang="ko-KR" altLang="en-US"/>
          </a:p>
        </p:txBody>
      </p:sp>
      <p:sp>
        <p:nvSpPr>
          <p:cNvPr id="8" name="Text 6"/>
          <p:cNvSpPr/>
          <p:nvPr/>
        </p:nvSpPr>
        <p:spPr>
          <a:xfrm>
            <a:off x="1263650" y="2209800"/>
            <a:ext cx="807740"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dirty="0">
                <a:solidFill>
                  <a:srgbClr val="5BC8A8"/>
                </a:solidFill>
                <a:latin typeface="JetBrains Mono" pitchFamily="34" charset="0"/>
                <a:ea typeface="JetBrains Mono" pitchFamily="34" charset="-122"/>
                <a:cs typeface="JetBrains Mono" pitchFamily="34" charset="-120"/>
              </a:rPr>
              <a:t>24</a:t>
            </a:r>
            <a:endParaRPr lang="en-US" sz="4800" dirty="0"/>
          </a:p>
        </p:txBody>
      </p:sp>
      <p:sp>
        <p:nvSpPr>
          <p:cNvPr id="9" name="Text 7"/>
          <p:cNvSpPr/>
          <p:nvPr/>
        </p:nvSpPr>
        <p:spPr>
          <a:xfrm>
            <a:off x="2071390" y="2438400"/>
            <a:ext cx="590550" cy="419100"/>
          </a:xfrm>
          <a:prstGeom prst="rect">
            <a:avLst/>
          </a:prstGeom>
          <a:noFill/>
          <a:ln/>
        </p:spPr>
        <p:txBody>
          <a:bodyPr wrap="square" lIns="25400" tIns="25400" rIns="25400" bIns="25400" rtlCol="0" anchor="t">
            <a:normAutofit/>
          </a:bodyPr>
          <a:lstStyle/>
          <a:p>
            <a:pPr marL="0" indent="0" algn="l">
              <a:buNone/>
            </a:pPr>
            <a:r>
              <a:rPr lang="en-US" sz="2250" dirty="0">
                <a:solidFill>
                  <a:srgbClr val="5BC8A8"/>
                </a:solidFill>
                <a:latin typeface="JetBrains Mono" pitchFamily="34" charset="0"/>
                <a:ea typeface="JetBrains Mono" pitchFamily="34" charset="-122"/>
                <a:cs typeface="JetBrains Mono" pitchFamily="34" charset="-120"/>
              </a:rPr>
              <a:t>/24</a:t>
            </a:r>
            <a:endParaRPr lang="en-US" sz="2250" dirty="0"/>
          </a:p>
        </p:txBody>
      </p:sp>
      <p:sp>
        <p:nvSpPr>
          <p:cNvPr id="10" name="Text 8"/>
          <p:cNvSpPr/>
          <p:nvPr/>
        </p:nvSpPr>
        <p:spPr>
          <a:xfrm>
            <a:off x="2795290" y="2273300"/>
            <a:ext cx="1746250" cy="311150"/>
          </a:xfrm>
          <a:prstGeom prst="rect">
            <a:avLst/>
          </a:prstGeom>
          <a:noFill/>
          <a:ln/>
        </p:spPr>
        <p:txBody>
          <a:bodyPr wrap="square" lIns="25400" tIns="25400" rIns="25400" bIns="25400" rtlCol="0" anchor="t">
            <a:normAutofit lnSpcReduction="10000"/>
          </a:bodyPr>
          <a:lstStyle/>
          <a:p>
            <a:pPr marL="0" indent="0" algn="l">
              <a:buNone/>
            </a:pPr>
            <a:r>
              <a:rPr lang="en-US" sz="1800" b="1" kern="0" spc="75" dirty="0">
                <a:solidFill>
                  <a:srgbClr val="5BC8A8"/>
                </a:solidFill>
                <a:latin typeface="Noto Sans KR" pitchFamily="34" charset="0"/>
                <a:ea typeface="Noto Sans KR" pitchFamily="34" charset="-122"/>
                <a:cs typeface="Noto Sans KR" pitchFamily="34" charset="-120"/>
              </a:rPr>
              <a:t>PASSED</a:t>
            </a:r>
            <a:endParaRPr lang="en-US" sz="1800" dirty="0"/>
          </a:p>
        </p:txBody>
      </p:sp>
      <p:sp>
        <p:nvSpPr>
          <p:cNvPr id="11" name="Text 9"/>
          <p:cNvSpPr/>
          <p:nvPr/>
        </p:nvSpPr>
        <p:spPr>
          <a:xfrm>
            <a:off x="2795290" y="2565400"/>
            <a:ext cx="174625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8A9AB8"/>
                </a:solidFill>
                <a:latin typeface="JetBrains Mono" pitchFamily="34" charset="0"/>
                <a:ea typeface="JetBrains Mono" pitchFamily="34" charset="-122"/>
                <a:cs typeface="JetBrains Mono" pitchFamily="34" charset="-120"/>
              </a:rPr>
              <a:t>실패 0 · 통과율 100%</a:t>
            </a:r>
            <a:endParaRPr lang="en-US" sz="1125" dirty="0"/>
          </a:p>
        </p:txBody>
      </p:sp>
      <p:sp>
        <p:nvSpPr>
          <p:cNvPr id="12" name="Shape 10"/>
          <p:cNvSpPr/>
          <p:nvPr/>
        </p:nvSpPr>
        <p:spPr>
          <a:xfrm>
            <a:off x="4884440" y="1993900"/>
            <a:ext cx="3036491" cy="1041400"/>
          </a:xfrm>
          <a:prstGeom prst="roundRect">
            <a:avLst>
              <a:gd name="adj" fmla="val 7317"/>
            </a:avLst>
          </a:prstGeom>
          <a:solidFill>
            <a:srgbClr val="1A2236"/>
          </a:solidFill>
          <a:ln/>
        </p:spPr>
        <p:txBody>
          <a:bodyPr/>
          <a:lstStyle/>
          <a:p>
            <a:endParaRPr lang="ko-KR" altLang="en-US"/>
          </a:p>
        </p:txBody>
      </p:sp>
      <p:sp>
        <p:nvSpPr>
          <p:cNvPr id="13" name="Text 11"/>
          <p:cNvSpPr/>
          <p:nvPr/>
        </p:nvSpPr>
        <p:spPr>
          <a:xfrm>
            <a:off x="5093990" y="2193925"/>
            <a:ext cx="287913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7757"/>
                </a:solidFill>
                <a:latin typeface="JetBrains Mono" pitchFamily="34" charset="0"/>
                <a:ea typeface="JetBrains Mono" pitchFamily="34" charset="-122"/>
                <a:cs typeface="JetBrains Mono" pitchFamily="34" charset="-120"/>
              </a:rPr>
              <a:t>4</a:t>
            </a:r>
            <a:endParaRPr lang="en-US" sz="2250" dirty="0"/>
          </a:p>
        </p:txBody>
      </p:sp>
      <p:sp>
        <p:nvSpPr>
          <p:cNvPr id="14" name="Text 12"/>
          <p:cNvSpPr/>
          <p:nvPr/>
        </p:nvSpPr>
        <p:spPr>
          <a:xfrm>
            <a:off x="5093990" y="2613025"/>
            <a:ext cx="2879130"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테스트 파일</a:t>
            </a:r>
            <a:endParaRPr lang="en-US" sz="1200" dirty="0"/>
          </a:p>
        </p:txBody>
      </p:sp>
      <p:sp>
        <p:nvSpPr>
          <p:cNvPr id="15" name="Shape 13"/>
          <p:cNvSpPr/>
          <p:nvPr/>
        </p:nvSpPr>
        <p:spPr>
          <a:xfrm>
            <a:off x="8035230" y="1993900"/>
            <a:ext cx="3036590" cy="1041400"/>
          </a:xfrm>
          <a:prstGeom prst="roundRect">
            <a:avLst>
              <a:gd name="adj" fmla="val 7317"/>
            </a:avLst>
          </a:prstGeom>
          <a:solidFill>
            <a:srgbClr val="1A2236"/>
          </a:solidFill>
          <a:ln/>
        </p:spPr>
        <p:txBody>
          <a:bodyPr/>
          <a:lstStyle/>
          <a:p>
            <a:endParaRPr lang="ko-KR" altLang="en-US"/>
          </a:p>
        </p:txBody>
      </p:sp>
      <p:sp>
        <p:nvSpPr>
          <p:cNvPr id="16" name="Text 14"/>
          <p:cNvSpPr/>
          <p:nvPr/>
        </p:nvSpPr>
        <p:spPr>
          <a:xfrm>
            <a:off x="8244780" y="2193925"/>
            <a:ext cx="2879239"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7757"/>
                </a:solidFill>
                <a:latin typeface="JetBrains Mono" pitchFamily="34" charset="0"/>
                <a:ea typeface="JetBrains Mono" pitchFamily="34" charset="-122"/>
                <a:cs typeface="JetBrains Mono" pitchFamily="34" charset="-120"/>
              </a:rPr>
              <a:t>24</a:t>
            </a:r>
            <a:endParaRPr lang="en-US" sz="2250" dirty="0"/>
          </a:p>
        </p:txBody>
      </p:sp>
      <p:sp>
        <p:nvSpPr>
          <p:cNvPr id="17" name="Text 15"/>
          <p:cNvSpPr/>
          <p:nvPr/>
        </p:nvSpPr>
        <p:spPr>
          <a:xfrm>
            <a:off x="8244780" y="2613025"/>
            <a:ext cx="2879239"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테스트 케이스</a:t>
            </a:r>
            <a:endParaRPr lang="en-US" sz="1200" dirty="0"/>
          </a:p>
        </p:txBody>
      </p:sp>
      <p:sp>
        <p:nvSpPr>
          <p:cNvPr id="18" name="Shape 16"/>
          <p:cNvSpPr/>
          <p:nvPr/>
        </p:nvSpPr>
        <p:spPr>
          <a:xfrm>
            <a:off x="11186121" y="1993900"/>
            <a:ext cx="3036590" cy="1041400"/>
          </a:xfrm>
          <a:prstGeom prst="roundRect">
            <a:avLst>
              <a:gd name="adj" fmla="val 7317"/>
            </a:avLst>
          </a:prstGeom>
          <a:solidFill>
            <a:srgbClr val="1A2236"/>
          </a:solidFill>
          <a:ln/>
        </p:spPr>
        <p:txBody>
          <a:bodyPr/>
          <a:lstStyle/>
          <a:p>
            <a:endParaRPr lang="ko-KR" altLang="en-US"/>
          </a:p>
        </p:txBody>
      </p:sp>
      <p:sp>
        <p:nvSpPr>
          <p:cNvPr id="19" name="Text 17"/>
          <p:cNvSpPr/>
          <p:nvPr/>
        </p:nvSpPr>
        <p:spPr>
          <a:xfrm>
            <a:off x="11395671" y="2193925"/>
            <a:ext cx="2879239"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7757"/>
                </a:solidFill>
                <a:latin typeface="JetBrains Mono" pitchFamily="34" charset="0"/>
                <a:ea typeface="JetBrains Mono" pitchFamily="34" charset="-122"/>
                <a:cs typeface="JetBrains Mono" pitchFamily="34" charset="-120"/>
              </a:rPr>
              <a:t>7</a:t>
            </a:r>
            <a:endParaRPr lang="en-US" sz="2250" dirty="0"/>
          </a:p>
        </p:txBody>
      </p:sp>
      <p:sp>
        <p:nvSpPr>
          <p:cNvPr id="20" name="Text 18"/>
          <p:cNvSpPr/>
          <p:nvPr/>
        </p:nvSpPr>
        <p:spPr>
          <a:xfrm>
            <a:off x="11395671" y="2613025"/>
            <a:ext cx="2879239"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자동화 시스템</a:t>
            </a:r>
            <a:endParaRPr lang="en-US" sz="1200" dirty="0"/>
          </a:p>
        </p:txBody>
      </p:sp>
      <p:sp>
        <p:nvSpPr>
          <p:cNvPr id="21" name="Shape 19"/>
          <p:cNvSpPr/>
          <p:nvPr/>
        </p:nvSpPr>
        <p:spPr>
          <a:xfrm>
            <a:off x="14337011" y="1993900"/>
            <a:ext cx="3036590" cy="1041400"/>
          </a:xfrm>
          <a:prstGeom prst="roundRect">
            <a:avLst>
              <a:gd name="adj" fmla="val 7317"/>
            </a:avLst>
          </a:prstGeom>
          <a:solidFill>
            <a:srgbClr val="1A2236"/>
          </a:solidFill>
          <a:ln/>
        </p:spPr>
        <p:txBody>
          <a:bodyPr/>
          <a:lstStyle/>
          <a:p>
            <a:endParaRPr lang="ko-KR" altLang="en-US"/>
          </a:p>
        </p:txBody>
      </p:sp>
      <p:sp>
        <p:nvSpPr>
          <p:cNvPr id="22" name="Text 20"/>
          <p:cNvSpPr/>
          <p:nvPr/>
        </p:nvSpPr>
        <p:spPr>
          <a:xfrm>
            <a:off x="14546561" y="2193925"/>
            <a:ext cx="2879239"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E8B84B"/>
                </a:solidFill>
                <a:latin typeface="JetBrains Mono" pitchFamily="34" charset="0"/>
                <a:ea typeface="JetBrains Mono" pitchFamily="34" charset="-122"/>
                <a:cs typeface="JetBrains Mono" pitchFamily="34" charset="-120"/>
              </a:rPr>
              <a:t>5</a:t>
            </a:r>
            <a:endParaRPr lang="en-US" sz="2250" dirty="0"/>
          </a:p>
        </p:txBody>
      </p:sp>
      <p:sp>
        <p:nvSpPr>
          <p:cNvPr id="23" name="Text 21"/>
          <p:cNvSpPr/>
          <p:nvPr/>
        </p:nvSpPr>
        <p:spPr>
          <a:xfrm>
            <a:off x="14546561" y="2613025"/>
            <a:ext cx="2879239"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수동 검증 항목</a:t>
            </a:r>
            <a:endParaRPr lang="en-US" sz="1200" dirty="0"/>
          </a:p>
        </p:txBody>
      </p:sp>
      <p:sp>
        <p:nvSpPr>
          <p:cNvPr id="24" name="Shape 22"/>
          <p:cNvSpPr/>
          <p:nvPr/>
        </p:nvSpPr>
        <p:spPr>
          <a:xfrm>
            <a:off x="914400" y="3187700"/>
            <a:ext cx="8162925" cy="2750344"/>
          </a:xfrm>
          <a:prstGeom prst="roundRect">
            <a:avLst>
              <a:gd name="adj" fmla="val 2771"/>
            </a:avLst>
          </a:prstGeom>
          <a:solidFill>
            <a:srgbClr val="1A2236"/>
          </a:solidFill>
          <a:ln/>
        </p:spPr>
        <p:txBody>
          <a:bodyPr/>
          <a:lstStyle/>
          <a:p>
            <a:endParaRPr lang="ko-KR" altLang="en-US"/>
          </a:p>
        </p:txBody>
      </p:sp>
      <p:sp>
        <p:nvSpPr>
          <p:cNvPr id="25" name="Shape 23"/>
          <p:cNvSpPr/>
          <p:nvPr/>
        </p:nvSpPr>
        <p:spPr>
          <a:xfrm>
            <a:off x="914400" y="3187700"/>
            <a:ext cx="38100" cy="2750344"/>
          </a:xfrm>
          <a:prstGeom prst="rect">
            <a:avLst/>
          </a:prstGeom>
          <a:solidFill>
            <a:srgbClr val="5BC8A8"/>
          </a:solidFill>
          <a:ln/>
        </p:spPr>
        <p:txBody>
          <a:bodyPr/>
          <a:lstStyle/>
          <a:p>
            <a:endParaRPr lang="ko-KR" altLang="en-US"/>
          </a:p>
        </p:txBody>
      </p:sp>
      <p:sp>
        <p:nvSpPr>
          <p:cNvPr id="26" name="Text 24"/>
          <p:cNvSpPr/>
          <p:nvPr/>
        </p:nvSpPr>
        <p:spPr>
          <a:xfrm>
            <a:off x="1200150" y="4120753"/>
            <a:ext cx="2388870" cy="292100"/>
          </a:xfrm>
          <a:prstGeom prst="rect">
            <a:avLst/>
          </a:prstGeom>
          <a:noFill/>
          <a:ln/>
        </p:spPr>
        <p:txBody>
          <a:bodyPr wrap="square" lIns="25400" tIns="25400" rIns="25400" bIns="25400" rtlCol="0" anchor="t">
            <a:normAutofit/>
          </a:bodyPr>
          <a:lstStyle/>
          <a:p>
            <a:pPr marL="0" indent="0" algn="l">
              <a:buNone/>
            </a:pPr>
            <a:r>
              <a:rPr lang="en-US" sz="1500" b="1" dirty="0">
                <a:solidFill>
                  <a:srgbClr val="F0EADB"/>
                </a:solidFill>
                <a:latin typeface="JetBrains Mono" pitchFamily="34" charset="0"/>
                <a:ea typeface="JetBrains Mono" pitchFamily="34" charset="-122"/>
                <a:cs typeface="JetBrains Mono" pitchFamily="34" charset="-120"/>
              </a:rPr>
              <a:t>PositioningTests.cs</a:t>
            </a:r>
            <a:endParaRPr lang="en-US" sz="1500" dirty="0"/>
          </a:p>
        </p:txBody>
      </p:sp>
      <p:sp>
        <p:nvSpPr>
          <p:cNvPr id="27" name="Text 25"/>
          <p:cNvSpPr/>
          <p:nvPr/>
        </p:nvSpPr>
        <p:spPr>
          <a:xfrm>
            <a:off x="7954764" y="4142978"/>
            <a:ext cx="951111" cy="247650"/>
          </a:xfrm>
          <a:prstGeom prst="rect">
            <a:avLst/>
          </a:prstGeom>
          <a:noFill/>
          <a:ln/>
        </p:spPr>
        <p:txBody>
          <a:bodyPr wrap="square" lIns="25400" tIns="25400" rIns="25400" bIns="25400" rtlCol="0" anchor="t">
            <a:normAutofit/>
          </a:bodyPr>
          <a:lstStyle/>
          <a:p>
            <a:pPr marL="0" indent="0" algn="l">
              <a:buNone/>
            </a:pPr>
            <a:r>
              <a:rPr lang="en-US" sz="1125" b="1" dirty="0">
                <a:solidFill>
                  <a:srgbClr val="5BC8A8"/>
                </a:solidFill>
                <a:latin typeface="JetBrains Mono" pitchFamily="34" charset="0"/>
                <a:ea typeface="JetBrains Mono" pitchFamily="34" charset="-122"/>
                <a:cs typeface="JetBrains Mono" pitchFamily="34" charset="-120"/>
              </a:rPr>
              <a:t>✓ 6 PASSED</a:t>
            </a:r>
            <a:endParaRPr lang="en-US" sz="1125" dirty="0"/>
          </a:p>
        </p:txBody>
      </p:sp>
      <p:sp>
        <p:nvSpPr>
          <p:cNvPr id="28" name="Text 26"/>
          <p:cNvSpPr/>
          <p:nvPr/>
        </p:nvSpPr>
        <p:spPr>
          <a:xfrm>
            <a:off x="1200150" y="4450953"/>
            <a:ext cx="8392478"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대상 </a:t>
            </a:r>
            <a:r>
              <a:rPr lang="en-US" sz="1200" dirty="0">
                <a:solidFill>
                  <a:srgbClr val="C2CCDC"/>
                </a:solidFill>
                <a:latin typeface="Noto Sans KR" pitchFamily="34" charset="0"/>
                <a:ea typeface="Noto Sans KR" pitchFamily="34" charset="-122"/>
                <a:cs typeface="Noto Sans KR" pitchFamily="34" charset="-120"/>
              </a:rPr>
              <a:t>PositioningCalculator </a:t>
            </a:r>
            <a:r>
              <a:rPr lang="en-US" sz="1200" dirty="0">
                <a:solidFill>
                  <a:srgbClr val="8A9AB8"/>
                </a:solidFill>
                <a:latin typeface="Noto Sans KR" pitchFamily="34" charset="0"/>
                <a:ea typeface="Noto Sans KR" pitchFamily="34" charset="-122"/>
                <a:cs typeface="Noto Sans KR" pitchFamily="34" charset="-120"/>
              </a:rPr>
              <a:t>· 포지셔닝 판정</a:t>
            </a:r>
            <a:endParaRPr lang="en-US" sz="1200" dirty="0"/>
          </a:p>
        </p:txBody>
      </p:sp>
      <p:sp>
        <p:nvSpPr>
          <p:cNvPr id="29" name="Text 27"/>
          <p:cNvSpPr/>
          <p:nvPr/>
        </p:nvSpPr>
        <p:spPr>
          <a:xfrm>
            <a:off x="1200150" y="4749403"/>
            <a:ext cx="8392478" cy="2936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275" dirty="0">
                <a:solidFill>
                  <a:srgbClr val="C2CCDC"/>
                </a:solidFill>
                <a:latin typeface="Noto Sans KR" pitchFamily="34" charset="0"/>
                <a:ea typeface="Noto Sans KR" pitchFamily="34" charset="-122"/>
                <a:cs typeface="Noto Sans KR" pitchFamily="34" charset="-120"/>
              </a:rPr>
              <a:t>배후 </a:t>
            </a:r>
            <a:r>
              <a:rPr lang="en-US" sz="1275" dirty="0">
                <a:solidFill>
                  <a:srgbClr val="5BC8A8"/>
                </a:solidFill>
                <a:latin typeface="JetBrains Mono" pitchFamily="34" charset="0"/>
                <a:ea typeface="JetBrains Mono" pitchFamily="34" charset="-122"/>
                <a:cs typeface="JetBrains Mono" pitchFamily="34" charset="-120"/>
              </a:rPr>
              <a:t>×1.4 </a:t>
            </a:r>
            <a:r>
              <a:rPr lang="en-US" sz="1275" dirty="0">
                <a:solidFill>
                  <a:srgbClr val="C2CCDC"/>
                </a:solidFill>
                <a:latin typeface="Noto Sans KR" pitchFamily="34" charset="0"/>
                <a:ea typeface="Noto Sans KR" pitchFamily="34" charset="-122"/>
                <a:cs typeface="Noto Sans KR" pitchFamily="34" charset="-120"/>
              </a:rPr>
              <a:t>· 측면 </a:t>
            </a:r>
            <a:r>
              <a:rPr lang="en-US" sz="1275" dirty="0">
                <a:solidFill>
                  <a:srgbClr val="5BC8A8"/>
                </a:solidFill>
                <a:latin typeface="JetBrains Mono" pitchFamily="34" charset="0"/>
                <a:ea typeface="JetBrains Mono" pitchFamily="34" charset="-122"/>
                <a:cs typeface="JetBrains Mono" pitchFamily="34" charset="-120"/>
              </a:rPr>
              <a:t>×1.2 </a:t>
            </a:r>
            <a:r>
              <a:rPr lang="en-US" sz="1275" dirty="0">
                <a:solidFill>
                  <a:srgbClr val="C2CCDC"/>
                </a:solidFill>
                <a:latin typeface="Noto Sans KR" pitchFamily="34" charset="0"/>
                <a:ea typeface="Noto Sans KR" pitchFamily="34" charset="-122"/>
                <a:cs typeface="Noto Sans KR" pitchFamily="34" charset="-120"/>
              </a:rPr>
              <a:t>· 정면 </a:t>
            </a:r>
            <a:r>
              <a:rPr lang="en-US" sz="1275" dirty="0">
                <a:solidFill>
                  <a:srgbClr val="C2CCDC"/>
                </a:solidFill>
                <a:latin typeface="JetBrains Mono" pitchFamily="34" charset="0"/>
                <a:ea typeface="JetBrains Mono" pitchFamily="34" charset="-122"/>
                <a:cs typeface="JetBrains Mono" pitchFamily="34" charset="-120"/>
              </a:rPr>
              <a:t>×1.0</a:t>
            </a:r>
            <a:endParaRPr lang="en-US" sz="1275" dirty="0"/>
          </a:p>
        </p:txBody>
      </p:sp>
      <p:sp>
        <p:nvSpPr>
          <p:cNvPr id="30" name="Shape 28"/>
          <p:cNvSpPr/>
          <p:nvPr/>
        </p:nvSpPr>
        <p:spPr>
          <a:xfrm>
            <a:off x="9210675" y="3187700"/>
            <a:ext cx="8162925" cy="2750344"/>
          </a:xfrm>
          <a:prstGeom prst="roundRect">
            <a:avLst>
              <a:gd name="adj" fmla="val 2771"/>
            </a:avLst>
          </a:prstGeom>
          <a:solidFill>
            <a:srgbClr val="1A2236"/>
          </a:solidFill>
          <a:ln/>
        </p:spPr>
        <p:txBody>
          <a:bodyPr/>
          <a:lstStyle/>
          <a:p>
            <a:endParaRPr lang="ko-KR" altLang="en-US"/>
          </a:p>
        </p:txBody>
      </p:sp>
      <p:sp>
        <p:nvSpPr>
          <p:cNvPr id="31" name="Shape 29"/>
          <p:cNvSpPr/>
          <p:nvPr/>
        </p:nvSpPr>
        <p:spPr>
          <a:xfrm>
            <a:off x="9210675" y="3187700"/>
            <a:ext cx="38100" cy="2750344"/>
          </a:xfrm>
          <a:prstGeom prst="rect">
            <a:avLst/>
          </a:prstGeom>
          <a:solidFill>
            <a:srgbClr val="5BC8A8"/>
          </a:solidFill>
          <a:ln/>
        </p:spPr>
        <p:txBody>
          <a:bodyPr/>
          <a:lstStyle/>
          <a:p>
            <a:endParaRPr lang="ko-KR" altLang="en-US"/>
          </a:p>
        </p:txBody>
      </p:sp>
      <p:sp>
        <p:nvSpPr>
          <p:cNvPr id="32" name="Text 30"/>
          <p:cNvSpPr/>
          <p:nvPr/>
        </p:nvSpPr>
        <p:spPr>
          <a:xfrm>
            <a:off x="9496425" y="4127103"/>
            <a:ext cx="3017520" cy="292100"/>
          </a:xfrm>
          <a:prstGeom prst="rect">
            <a:avLst/>
          </a:prstGeom>
          <a:noFill/>
          <a:ln/>
        </p:spPr>
        <p:txBody>
          <a:bodyPr wrap="square" lIns="25400" tIns="25400" rIns="25400" bIns="25400" rtlCol="0" anchor="t">
            <a:normAutofit/>
          </a:bodyPr>
          <a:lstStyle/>
          <a:p>
            <a:pPr marL="0" indent="0" algn="l">
              <a:buNone/>
            </a:pPr>
            <a:r>
              <a:rPr lang="en-US" sz="1500" b="1" dirty="0">
                <a:solidFill>
                  <a:srgbClr val="F0EADB"/>
                </a:solidFill>
                <a:latin typeface="JetBrains Mono" pitchFamily="34" charset="0"/>
                <a:ea typeface="JetBrains Mono" pitchFamily="34" charset="-122"/>
                <a:cs typeface="JetBrains Mono" pitchFamily="34" charset="-120"/>
              </a:rPr>
              <a:t>CombatCalculatorTests.cs</a:t>
            </a:r>
            <a:endParaRPr lang="en-US" sz="1500" dirty="0"/>
          </a:p>
        </p:txBody>
      </p:sp>
      <p:sp>
        <p:nvSpPr>
          <p:cNvPr id="33" name="Text 31"/>
          <p:cNvSpPr/>
          <p:nvPr/>
        </p:nvSpPr>
        <p:spPr>
          <a:xfrm>
            <a:off x="16251039" y="4149328"/>
            <a:ext cx="951111" cy="247650"/>
          </a:xfrm>
          <a:prstGeom prst="rect">
            <a:avLst/>
          </a:prstGeom>
          <a:noFill/>
          <a:ln/>
        </p:spPr>
        <p:txBody>
          <a:bodyPr wrap="square" lIns="25400" tIns="25400" rIns="25400" bIns="25400" rtlCol="0" anchor="t">
            <a:normAutofit/>
          </a:bodyPr>
          <a:lstStyle/>
          <a:p>
            <a:pPr marL="0" indent="0" algn="l">
              <a:buNone/>
            </a:pPr>
            <a:r>
              <a:rPr lang="en-US" sz="1125" b="1" dirty="0">
                <a:solidFill>
                  <a:srgbClr val="5BC8A8"/>
                </a:solidFill>
                <a:latin typeface="JetBrains Mono" pitchFamily="34" charset="0"/>
                <a:ea typeface="JetBrains Mono" pitchFamily="34" charset="-122"/>
                <a:cs typeface="JetBrains Mono" pitchFamily="34" charset="-120"/>
              </a:rPr>
              <a:t>✓ 2 PASSED</a:t>
            </a:r>
            <a:endParaRPr lang="en-US" sz="1125" dirty="0"/>
          </a:p>
        </p:txBody>
      </p:sp>
      <p:sp>
        <p:nvSpPr>
          <p:cNvPr id="34" name="Text 32"/>
          <p:cNvSpPr/>
          <p:nvPr/>
        </p:nvSpPr>
        <p:spPr>
          <a:xfrm>
            <a:off x="9496425" y="4457303"/>
            <a:ext cx="8392478"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대상 </a:t>
            </a:r>
            <a:r>
              <a:rPr lang="en-US" sz="1200" dirty="0">
                <a:solidFill>
                  <a:srgbClr val="C2CCDC"/>
                </a:solidFill>
                <a:latin typeface="Noto Sans KR" pitchFamily="34" charset="0"/>
                <a:ea typeface="Noto Sans KR" pitchFamily="34" charset="-122"/>
                <a:cs typeface="Noto Sans KR" pitchFamily="34" charset="-120"/>
              </a:rPr>
              <a:t>CombatCalculator </a:t>
            </a:r>
            <a:r>
              <a:rPr lang="en-US" sz="1200" dirty="0">
                <a:solidFill>
                  <a:srgbClr val="8A9AB8"/>
                </a:solidFill>
                <a:latin typeface="Noto Sans KR" pitchFamily="34" charset="0"/>
                <a:ea typeface="Noto Sans KR" pitchFamily="34" charset="-122"/>
                <a:cs typeface="Noto Sans KR" pitchFamily="34" charset="-120"/>
              </a:rPr>
              <a:t>· 데미지 계산</a:t>
            </a:r>
            <a:endParaRPr lang="en-US" sz="1200" dirty="0"/>
          </a:p>
        </p:txBody>
      </p:sp>
      <p:sp>
        <p:nvSpPr>
          <p:cNvPr id="35" name="Text 33"/>
          <p:cNvSpPr/>
          <p:nvPr/>
        </p:nvSpPr>
        <p:spPr>
          <a:xfrm>
            <a:off x="9496425" y="4755753"/>
            <a:ext cx="8392478" cy="28098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275" dirty="0">
                <a:solidFill>
                  <a:srgbClr val="C2CCDC"/>
                </a:solidFill>
                <a:latin typeface="JetBrains Mono" pitchFamily="34" charset="0"/>
                <a:ea typeface="JetBrains Mono" pitchFamily="34" charset="-122"/>
                <a:cs typeface="JetBrains Mono" pitchFamily="34" charset="-120"/>
              </a:rPr>
              <a:t>20×1.4 = </a:t>
            </a:r>
            <a:r>
              <a:rPr lang="en-US" sz="1275" dirty="0">
                <a:solidFill>
                  <a:srgbClr val="5BC8A8"/>
                </a:solidFill>
                <a:latin typeface="JetBrains Mono" pitchFamily="34" charset="0"/>
                <a:ea typeface="JetBrains Mono" pitchFamily="34" charset="-122"/>
                <a:cs typeface="JetBrains Mono" pitchFamily="34" charset="-120"/>
              </a:rPr>
              <a:t>28 </a:t>
            </a:r>
            <a:r>
              <a:rPr lang="en-US" sz="1275" dirty="0">
                <a:solidFill>
                  <a:srgbClr val="C2CCDC"/>
                </a:solidFill>
                <a:latin typeface="JetBrains Mono" pitchFamily="34" charset="0"/>
                <a:ea typeface="JetBrains Mono" pitchFamily="34" charset="-122"/>
                <a:cs typeface="JetBrains Mono" pitchFamily="34" charset="-120"/>
              </a:rPr>
              <a:t>· 20×1.2 = </a:t>
            </a:r>
            <a:r>
              <a:rPr lang="en-US" sz="1275" dirty="0">
                <a:solidFill>
                  <a:srgbClr val="5BC8A8"/>
                </a:solidFill>
                <a:latin typeface="JetBrains Mono" pitchFamily="34" charset="0"/>
                <a:ea typeface="JetBrains Mono" pitchFamily="34" charset="-122"/>
                <a:cs typeface="JetBrains Mono" pitchFamily="34" charset="-120"/>
              </a:rPr>
              <a:t>24</a:t>
            </a:r>
            <a:endParaRPr lang="en-US" sz="1275" dirty="0"/>
          </a:p>
        </p:txBody>
      </p:sp>
      <p:sp>
        <p:nvSpPr>
          <p:cNvPr id="36" name="Shape 34"/>
          <p:cNvSpPr/>
          <p:nvPr/>
        </p:nvSpPr>
        <p:spPr>
          <a:xfrm>
            <a:off x="914400" y="6071394"/>
            <a:ext cx="8162925" cy="2750344"/>
          </a:xfrm>
          <a:prstGeom prst="roundRect">
            <a:avLst>
              <a:gd name="adj" fmla="val 2771"/>
            </a:avLst>
          </a:prstGeom>
          <a:solidFill>
            <a:srgbClr val="1A2236"/>
          </a:solidFill>
          <a:ln/>
        </p:spPr>
        <p:txBody>
          <a:bodyPr/>
          <a:lstStyle/>
          <a:p>
            <a:endParaRPr lang="ko-KR" altLang="en-US"/>
          </a:p>
        </p:txBody>
      </p:sp>
      <p:sp>
        <p:nvSpPr>
          <p:cNvPr id="37" name="Shape 35"/>
          <p:cNvSpPr/>
          <p:nvPr/>
        </p:nvSpPr>
        <p:spPr>
          <a:xfrm>
            <a:off x="914400" y="6071394"/>
            <a:ext cx="38100" cy="2750344"/>
          </a:xfrm>
          <a:prstGeom prst="rect">
            <a:avLst/>
          </a:prstGeom>
          <a:solidFill>
            <a:srgbClr val="5BC8A8"/>
          </a:solidFill>
          <a:ln/>
        </p:spPr>
        <p:txBody>
          <a:bodyPr/>
          <a:lstStyle/>
          <a:p>
            <a:endParaRPr lang="ko-KR" altLang="en-US"/>
          </a:p>
        </p:txBody>
      </p:sp>
      <p:sp>
        <p:nvSpPr>
          <p:cNvPr id="38" name="Text 36"/>
          <p:cNvSpPr/>
          <p:nvPr/>
        </p:nvSpPr>
        <p:spPr>
          <a:xfrm>
            <a:off x="1200150" y="7004447"/>
            <a:ext cx="2388870" cy="292100"/>
          </a:xfrm>
          <a:prstGeom prst="rect">
            <a:avLst/>
          </a:prstGeom>
          <a:noFill/>
          <a:ln/>
        </p:spPr>
        <p:txBody>
          <a:bodyPr wrap="square" lIns="25400" tIns="25400" rIns="25400" bIns="25400" rtlCol="0" anchor="t">
            <a:normAutofit/>
          </a:bodyPr>
          <a:lstStyle/>
          <a:p>
            <a:pPr marL="0" indent="0" algn="l">
              <a:buNone/>
            </a:pPr>
            <a:r>
              <a:rPr lang="en-US" sz="1500" b="1" dirty="0">
                <a:solidFill>
                  <a:srgbClr val="F0EADB"/>
                </a:solidFill>
                <a:latin typeface="JetBrains Mono" pitchFamily="34" charset="0"/>
                <a:ea typeface="JetBrains Mono" pitchFamily="34" charset="-122"/>
                <a:cs typeface="JetBrains Mono" pitchFamily="34" charset="-120"/>
              </a:rPr>
              <a:t>Stage2LogicTests.cs</a:t>
            </a:r>
            <a:endParaRPr lang="en-US" sz="1500" dirty="0"/>
          </a:p>
        </p:txBody>
      </p:sp>
      <p:sp>
        <p:nvSpPr>
          <p:cNvPr id="39" name="Text 37"/>
          <p:cNvSpPr/>
          <p:nvPr/>
        </p:nvSpPr>
        <p:spPr>
          <a:xfrm>
            <a:off x="7954764" y="7026672"/>
            <a:ext cx="951111" cy="247650"/>
          </a:xfrm>
          <a:prstGeom prst="rect">
            <a:avLst/>
          </a:prstGeom>
          <a:noFill/>
          <a:ln/>
        </p:spPr>
        <p:txBody>
          <a:bodyPr wrap="square" lIns="25400" tIns="25400" rIns="25400" bIns="25400" rtlCol="0" anchor="t">
            <a:normAutofit/>
          </a:bodyPr>
          <a:lstStyle/>
          <a:p>
            <a:pPr marL="0" indent="0" algn="l">
              <a:buNone/>
            </a:pPr>
            <a:r>
              <a:rPr lang="en-US" sz="1125" b="1" dirty="0">
                <a:solidFill>
                  <a:srgbClr val="5BC8A8"/>
                </a:solidFill>
                <a:latin typeface="JetBrains Mono" pitchFamily="34" charset="0"/>
                <a:ea typeface="JetBrains Mono" pitchFamily="34" charset="-122"/>
                <a:cs typeface="JetBrains Mono" pitchFamily="34" charset="-120"/>
              </a:rPr>
              <a:t>✓ 9 PASSED</a:t>
            </a:r>
            <a:endParaRPr lang="en-US" sz="1125" dirty="0"/>
          </a:p>
        </p:txBody>
      </p:sp>
      <p:sp>
        <p:nvSpPr>
          <p:cNvPr id="40" name="Text 38"/>
          <p:cNvSpPr/>
          <p:nvPr/>
        </p:nvSpPr>
        <p:spPr>
          <a:xfrm>
            <a:off x="1200150" y="7334647"/>
            <a:ext cx="8392478"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대상 </a:t>
            </a:r>
            <a:r>
              <a:rPr lang="en-US" sz="1200" dirty="0">
                <a:solidFill>
                  <a:srgbClr val="C2CCDC"/>
                </a:solidFill>
                <a:latin typeface="Noto Sans KR" pitchFamily="34" charset="0"/>
                <a:ea typeface="Noto Sans KR" pitchFamily="34" charset="-122"/>
                <a:cs typeface="Noto Sans KR" pitchFamily="34" charset="-120"/>
              </a:rPr>
              <a:t>ClassData · SkillTree · StatusEffect</a:t>
            </a:r>
            <a:endParaRPr lang="en-US" sz="1200" dirty="0"/>
          </a:p>
        </p:txBody>
      </p:sp>
      <p:sp>
        <p:nvSpPr>
          <p:cNvPr id="41" name="Text 39"/>
          <p:cNvSpPr/>
          <p:nvPr/>
        </p:nvSpPr>
        <p:spPr>
          <a:xfrm>
            <a:off x="1200150" y="7633097"/>
            <a:ext cx="8392478" cy="2936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275" dirty="0">
                <a:solidFill>
                  <a:srgbClr val="C2CCDC"/>
                </a:solidFill>
                <a:latin typeface="Noto Sans KR" pitchFamily="34" charset="0"/>
                <a:ea typeface="Noto Sans KR" pitchFamily="34" charset="-122"/>
                <a:cs typeface="Noto Sans KR" pitchFamily="34" charset="-120"/>
              </a:rPr>
              <a:t>전직 조건 </a:t>
            </a:r>
            <a:r>
              <a:rPr lang="en-US" sz="1275" b="1" dirty="0">
                <a:solidFill>
                  <a:srgbClr val="C2CCDC"/>
                </a:solidFill>
                <a:latin typeface="Noto Sans KR" pitchFamily="34" charset="0"/>
                <a:ea typeface="Noto Sans KR" pitchFamily="34" charset="-122"/>
                <a:cs typeface="Noto Sans KR" pitchFamily="34" charset="-120"/>
              </a:rPr>
              <a:t>3 </a:t>
            </a:r>
            <a:r>
              <a:rPr lang="en-US" sz="1275" dirty="0">
                <a:solidFill>
                  <a:srgbClr val="C2CCDC"/>
                </a:solidFill>
                <a:latin typeface="Noto Sans KR" pitchFamily="34" charset="0"/>
                <a:ea typeface="Noto Sans KR" pitchFamily="34" charset="-122"/>
                <a:cs typeface="Noto Sans KR" pitchFamily="34" charset="-120"/>
              </a:rPr>
              <a:t>· 스킬 해금 </a:t>
            </a:r>
            <a:r>
              <a:rPr lang="en-US" sz="1275" b="1" dirty="0">
                <a:solidFill>
                  <a:srgbClr val="C2CCDC"/>
                </a:solidFill>
                <a:latin typeface="Noto Sans KR" pitchFamily="34" charset="0"/>
                <a:ea typeface="Noto Sans KR" pitchFamily="34" charset="-122"/>
                <a:cs typeface="Noto Sans KR" pitchFamily="34" charset="-120"/>
              </a:rPr>
              <a:t>4 </a:t>
            </a:r>
            <a:r>
              <a:rPr lang="en-US" sz="1275" dirty="0">
                <a:solidFill>
                  <a:srgbClr val="C2CCDC"/>
                </a:solidFill>
                <a:latin typeface="Noto Sans KR" pitchFamily="34" charset="0"/>
                <a:ea typeface="Noto Sans KR" pitchFamily="34" charset="-122"/>
                <a:cs typeface="Noto Sans KR" pitchFamily="34" charset="-120"/>
              </a:rPr>
              <a:t>· 상태이상 </a:t>
            </a:r>
            <a:r>
              <a:rPr lang="en-US" sz="1275" b="1" dirty="0">
                <a:solidFill>
                  <a:srgbClr val="C2CCDC"/>
                </a:solidFill>
                <a:latin typeface="Noto Sans KR" pitchFamily="34" charset="0"/>
                <a:ea typeface="Noto Sans KR" pitchFamily="34" charset="-122"/>
                <a:cs typeface="Noto Sans KR" pitchFamily="34" charset="-120"/>
              </a:rPr>
              <a:t>2</a:t>
            </a:r>
            <a:endParaRPr lang="en-US" sz="1275" dirty="0"/>
          </a:p>
        </p:txBody>
      </p:sp>
      <p:sp>
        <p:nvSpPr>
          <p:cNvPr id="42" name="Shape 40"/>
          <p:cNvSpPr/>
          <p:nvPr/>
        </p:nvSpPr>
        <p:spPr>
          <a:xfrm>
            <a:off x="9210675" y="6071394"/>
            <a:ext cx="8162925" cy="2750344"/>
          </a:xfrm>
          <a:prstGeom prst="roundRect">
            <a:avLst>
              <a:gd name="adj" fmla="val 2771"/>
            </a:avLst>
          </a:prstGeom>
          <a:solidFill>
            <a:srgbClr val="1A2236"/>
          </a:solidFill>
          <a:ln/>
        </p:spPr>
        <p:txBody>
          <a:bodyPr/>
          <a:lstStyle/>
          <a:p>
            <a:endParaRPr lang="ko-KR" altLang="en-US"/>
          </a:p>
        </p:txBody>
      </p:sp>
      <p:sp>
        <p:nvSpPr>
          <p:cNvPr id="43" name="Shape 41"/>
          <p:cNvSpPr/>
          <p:nvPr/>
        </p:nvSpPr>
        <p:spPr>
          <a:xfrm>
            <a:off x="9210675" y="6071394"/>
            <a:ext cx="38100" cy="2750344"/>
          </a:xfrm>
          <a:prstGeom prst="rect">
            <a:avLst/>
          </a:prstGeom>
          <a:solidFill>
            <a:srgbClr val="5BC8A8"/>
          </a:solidFill>
          <a:ln/>
        </p:spPr>
        <p:txBody>
          <a:bodyPr/>
          <a:lstStyle/>
          <a:p>
            <a:endParaRPr lang="ko-KR" altLang="en-US"/>
          </a:p>
        </p:txBody>
      </p:sp>
      <p:sp>
        <p:nvSpPr>
          <p:cNvPr id="44" name="Text 42"/>
          <p:cNvSpPr/>
          <p:nvPr/>
        </p:nvSpPr>
        <p:spPr>
          <a:xfrm>
            <a:off x="9496425" y="7004447"/>
            <a:ext cx="2388870" cy="292100"/>
          </a:xfrm>
          <a:prstGeom prst="rect">
            <a:avLst/>
          </a:prstGeom>
          <a:noFill/>
          <a:ln/>
        </p:spPr>
        <p:txBody>
          <a:bodyPr wrap="square" lIns="25400" tIns="25400" rIns="25400" bIns="25400" rtlCol="0" anchor="t">
            <a:normAutofit/>
          </a:bodyPr>
          <a:lstStyle/>
          <a:p>
            <a:pPr marL="0" indent="0" algn="l">
              <a:buNone/>
            </a:pPr>
            <a:r>
              <a:rPr lang="en-US" sz="1500" b="1" dirty="0">
                <a:solidFill>
                  <a:srgbClr val="F0EADB"/>
                </a:solidFill>
                <a:latin typeface="JetBrains Mono" pitchFamily="34" charset="0"/>
                <a:ea typeface="JetBrains Mono" pitchFamily="34" charset="-122"/>
                <a:cs typeface="JetBrains Mono" pitchFamily="34" charset="-120"/>
              </a:rPr>
              <a:t>Stage3LogicTests.cs</a:t>
            </a:r>
            <a:endParaRPr lang="en-US" sz="1500" dirty="0"/>
          </a:p>
        </p:txBody>
      </p:sp>
      <p:sp>
        <p:nvSpPr>
          <p:cNvPr id="45" name="Text 43"/>
          <p:cNvSpPr/>
          <p:nvPr/>
        </p:nvSpPr>
        <p:spPr>
          <a:xfrm>
            <a:off x="16251039" y="7026672"/>
            <a:ext cx="951111" cy="247650"/>
          </a:xfrm>
          <a:prstGeom prst="rect">
            <a:avLst/>
          </a:prstGeom>
          <a:noFill/>
          <a:ln/>
        </p:spPr>
        <p:txBody>
          <a:bodyPr wrap="square" lIns="25400" tIns="25400" rIns="25400" bIns="25400" rtlCol="0" anchor="t">
            <a:normAutofit/>
          </a:bodyPr>
          <a:lstStyle/>
          <a:p>
            <a:pPr marL="0" indent="0" algn="l">
              <a:buNone/>
            </a:pPr>
            <a:r>
              <a:rPr lang="en-US" sz="1125" b="1" dirty="0">
                <a:solidFill>
                  <a:srgbClr val="5BC8A8"/>
                </a:solidFill>
                <a:latin typeface="JetBrains Mono" pitchFamily="34" charset="0"/>
                <a:ea typeface="JetBrains Mono" pitchFamily="34" charset="-122"/>
                <a:cs typeface="JetBrains Mono" pitchFamily="34" charset="-120"/>
              </a:rPr>
              <a:t>✓ 7 PASSED</a:t>
            </a:r>
            <a:endParaRPr lang="en-US" sz="1125" dirty="0"/>
          </a:p>
        </p:txBody>
      </p:sp>
      <p:sp>
        <p:nvSpPr>
          <p:cNvPr id="46" name="Text 44"/>
          <p:cNvSpPr/>
          <p:nvPr/>
        </p:nvSpPr>
        <p:spPr>
          <a:xfrm>
            <a:off x="9496425" y="7334647"/>
            <a:ext cx="8392478" cy="260350"/>
          </a:xfrm>
          <a:prstGeom prst="rect">
            <a:avLst/>
          </a:prstGeom>
          <a:noFill/>
          <a:ln/>
        </p:spPr>
        <p:txBody>
          <a:bodyPr wrap="square" lIns="25400" tIns="25400" rIns="25400" bIns="25400" rtlCol="0" anchor="t">
            <a:normAutofit/>
          </a:bodyPr>
          <a:lstStyle/>
          <a:p>
            <a:pPr marL="0" indent="0" algn="l">
              <a:buNone/>
            </a:pPr>
            <a:r>
              <a:rPr lang="en-US" sz="1200" dirty="0">
                <a:solidFill>
                  <a:srgbClr val="8A9AB8"/>
                </a:solidFill>
                <a:latin typeface="Noto Sans KR" pitchFamily="34" charset="0"/>
                <a:ea typeface="Noto Sans KR" pitchFamily="34" charset="-122"/>
                <a:cs typeface="Noto Sans KR" pitchFamily="34" charset="-120"/>
              </a:rPr>
              <a:t>대상 </a:t>
            </a:r>
            <a:r>
              <a:rPr lang="en-US" sz="1200" dirty="0">
                <a:solidFill>
                  <a:srgbClr val="C2CCDC"/>
                </a:solidFill>
                <a:latin typeface="Noto Sans KR" pitchFamily="34" charset="0"/>
                <a:ea typeface="Noto Sans KR" pitchFamily="34" charset="-122"/>
                <a:cs typeface="Noto Sans KR" pitchFamily="34" charset="-120"/>
              </a:rPr>
              <a:t>DifficultyScaler · ChapterProgress</a:t>
            </a:r>
            <a:endParaRPr lang="en-US" sz="1200" dirty="0"/>
          </a:p>
        </p:txBody>
      </p:sp>
      <p:sp>
        <p:nvSpPr>
          <p:cNvPr id="47" name="Text 45"/>
          <p:cNvSpPr/>
          <p:nvPr/>
        </p:nvSpPr>
        <p:spPr>
          <a:xfrm>
            <a:off x="9496425" y="7633097"/>
            <a:ext cx="8392478" cy="2936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275" dirty="0">
                <a:solidFill>
                  <a:srgbClr val="C2CCDC"/>
                </a:solidFill>
                <a:latin typeface="Noto Sans KR" pitchFamily="34" charset="0"/>
                <a:ea typeface="Noto Sans KR" pitchFamily="34" charset="-122"/>
                <a:cs typeface="Noto Sans KR" pitchFamily="34" charset="-120"/>
              </a:rPr>
              <a:t>레벨 스케일링 </a:t>
            </a:r>
            <a:r>
              <a:rPr lang="en-US" sz="1275" b="1" dirty="0">
                <a:solidFill>
                  <a:srgbClr val="C2CCDC"/>
                </a:solidFill>
                <a:latin typeface="Noto Sans KR" pitchFamily="34" charset="0"/>
                <a:ea typeface="Noto Sans KR" pitchFamily="34" charset="-122"/>
                <a:cs typeface="Noto Sans KR" pitchFamily="34" charset="-120"/>
              </a:rPr>
              <a:t>4 </a:t>
            </a:r>
            <a:r>
              <a:rPr lang="en-US" sz="1275" dirty="0">
                <a:solidFill>
                  <a:srgbClr val="C2CCDC"/>
                </a:solidFill>
                <a:latin typeface="Noto Sans KR" pitchFamily="34" charset="0"/>
                <a:ea typeface="Noto Sans KR" pitchFamily="34" charset="-122"/>
                <a:cs typeface="Noto Sans KR" pitchFamily="34" charset="-120"/>
              </a:rPr>
              <a:t>· 단서 게이지 </a:t>
            </a:r>
            <a:r>
              <a:rPr lang="en-US" sz="1275" b="1" dirty="0">
                <a:solidFill>
                  <a:srgbClr val="C2CCDC"/>
                </a:solidFill>
                <a:latin typeface="Noto Sans KR" pitchFamily="34" charset="0"/>
                <a:ea typeface="Noto Sans KR" pitchFamily="34" charset="-122"/>
                <a:cs typeface="Noto Sans KR" pitchFamily="34" charset="-120"/>
              </a:rPr>
              <a:t>3</a:t>
            </a:r>
            <a:endParaRPr lang="en-US" sz="1275" dirty="0"/>
          </a:p>
        </p:txBody>
      </p:sp>
      <p:sp>
        <p:nvSpPr>
          <p:cNvPr id="48" name="Shape 46"/>
          <p:cNvSpPr/>
          <p:nvPr/>
        </p:nvSpPr>
        <p:spPr>
          <a:xfrm>
            <a:off x="914400" y="8974138"/>
            <a:ext cx="16459200" cy="560388"/>
          </a:xfrm>
          <a:prstGeom prst="roundRect">
            <a:avLst>
              <a:gd name="adj" fmla="val 10198"/>
            </a:avLst>
          </a:prstGeom>
          <a:solidFill>
            <a:srgbClr val="232D42"/>
          </a:solidFill>
          <a:ln/>
        </p:spPr>
        <p:txBody>
          <a:bodyPr/>
          <a:lstStyle/>
          <a:p>
            <a:endParaRPr lang="ko-KR" altLang="en-US"/>
          </a:p>
        </p:txBody>
      </p:sp>
      <p:sp>
        <p:nvSpPr>
          <p:cNvPr id="49" name="Shape 47"/>
          <p:cNvSpPr/>
          <p:nvPr/>
        </p:nvSpPr>
        <p:spPr>
          <a:xfrm>
            <a:off x="914400" y="8974138"/>
            <a:ext cx="38100" cy="560388"/>
          </a:xfrm>
          <a:prstGeom prst="rect">
            <a:avLst/>
          </a:prstGeom>
          <a:solidFill>
            <a:srgbClr val="E8B84B"/>
          </a:solidFill>
          <a:ln/>
        </p:spPr>
        <p:txBody>
          <a:bodyPr/>
          <a:lstStyle/>
          <a:p>
            <a:endParaRPr lang="ko-KR" altLang="en-US"/>
          </a:p>
        </p:txBody>
      </p:sp>
      <p:sp>
        <p:nvSpPr>
          <p:cNvPr id="50" name="Text 48"/>
          <p:cNvSpPr/>
          <p:nvPr/>
        </p:nvSpPr>
        <p:spPr>
          <a:xfrm>
            <a:off x="1200150" y="9149557"/>
            <a:ext cx="668933" cy="247650"/>
          </a:xfrm>
          <a:prstGeom prst="rect">
            <a:avLst/>
          </a:prstGeom>
          <a:noFill/>
          <a:ln/>
        </p:spPr>
        <p:txBody>
          <a:bodyPr wrap="none" lIns="25400" tIns="25400" rIns="25400" bIns="25400" rtlCol="0" anchor="t">
            <a:normAutofit lnSpcReduction="10000"/>
          </a:bodyPr>
          <a:lstStyle/>
          <a:p>
            <a:pPr marL="0" indent="0" algn="l">
              <a:buNone/>
            </a:pPr>
            <a:r>
              <a:rPr lang="en-US" sz="1350" b="1" dirty="0">
                <a:solidFill>
                  <a:srgbClr val="E8B84B"/>
                </a:solidFill>
                <a:latin typeface="Noto Sans KR" pitchFamily="34" charset="0"/>
                <a:ea typeface="Noto Sans KR" pitchFamily="34" charset="-122"/>
                <a:cs typeface="Noto Sans KR" pitchFamily="34" charset="-120"/>
              </a:rPr>
              <a:t>커버리지</a:t>
            </a:r>
            <a:endParaRPr lang="en-US" sz="1350" dirty="0"/>
          </a:p>
        </p:txBody>
      </p:sp>
      <p:sp>
        <p:nvSpPr>
          <p:cNvPr id="51" name="Text 49"/>
          <p:cNvSpPr/>
          <p:nvPr/>
        </p:nvSpPr>
        <p:spPr>
          <a:xfrm>
            <a:off x="1964333" y="9126538"/>
            <a:ext cx="10164157" cy="2936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275" dirty="0">
                <a:solidFill>
                  <a:srgbClr val="C2CCDC"/>
                </a:solidFill>
                <a:latin typeface="Noto Sans KR" pitchFamily="34" charset="0"/>
                <a:ea typeface="Noto Sans KR" pitchFamily="34" charset="-122"/>
                <a:cs typeface="Noto Sans KR" pitchFamily="34" charset="-120"/>
              </a:rPr>
              <a:t>순수 로직(수치 계산·데이터 유효성)은 </a:t>
            </a:r>
            <a:r>
              <a:rPr lang="en-US" sz="1275" b="1" dirty="0">
                <a:solidFill>
                  <a:srgbClr val="5BC8A8"/>
                </a:solidFill>
                <a:latin typeface="Noto Sans KR" pitchFamily="34" charset="0"/>
                <a:ea typeface="Noto Sans KR" pitchFamily="34" charset="-122"/>
                <a:cs typeface="Noto Sans KR" pitchFamily="34" charset="-120"/>
              </a:rPr>
              <a:t>자동화 24개</a:t>
            </a:r>
            <a:r>
              <a:rPr lang="en-US" sz="1275" dirty="0">
                <a:solidFill>
                  <a:srgbClr val="C2CCDC"/>
                </a:solidFill>
                <a:latin typeface="Noto Sans KR" pitchFamily="34" charset="0"/>
                <a:ea typeface="Noto Sans KR" pitchFamily="34" charset="-122"/>
                <a:cs typeface="Noto Sans KR" pitchFamily="34" charset="-120"/>
              </a:rPr>
              <a:t>로 커버 · RTwP 자동 정지 타이밍·씬 전환·리플레이·튜토리얼·빌드는 </a:t>
            </a:r>
            <a:r>
              <a:rPr lang="en-US" sz="1275" b="1" dirty="0">
                <a:solidFill>
                  <a:srgbClr val="E8B84B"/>
                </a:solidFill>
                <a:latin typeface="Noto Sans KR" pitchFamily="34" charset="0"/>
                <a:ea typeface="Noto Sans KR" pitchFamily="34" charset="-122"/>
                <a:cs typeface="Noto Sans KR" pitchFamily="34" charset="-120"/>
              </a:rPr>
              <a:t>수동 플레이 검증</a:t>
            </a:r>
            <a:endParaRPr lang="en-US" sz="1275" dirty="0"/>
          </a:p>
        </p:txBody>
      </p:sp>
      <p:sp>
        <p:nvSpPr>
          <p:cNvPr id="52" name="Shape 50"/>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54" name="Text 0">
            <a:extLst>
              <a:ext uri="{FF2B5EF4-FFF2-40B4-BE49-F238E27FC236}">
                <a16:creationId xmlns:a16="http://schemas.microsoft.com/office/drawing/2014/main" id="{8753C08E-88AB-017F-FC22-23CC7197557A}"/>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20 / 22</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nvSpPr>
        <p:spPr>
          <a:xfrm>
            <a:off x="8469610" y="609600"/>
            <a:ext cx="1360001"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WHAT'S NEXT</a:t>
            </a:r>
            <a:endParaRPr lang="en-US" sz="1350" dirty="0"/>
          </a:p>
        </p:txBody>
      </p:sp>
      <p:sp>
        <p:nvSpPr>
          <p:cNvPr id="4" name="Text 2"/>
          <p:cNvSpPr/>
          <p:nvPr/>
        </p:nvSpPr>
        <p:spPr>
          <a:xfrm>
            <a:off x="16474380" y="609600"/>
            <a:ext cx="975420" cy="2667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D97757"/>
                </a:solidFill>
                <a:latin typeface="JetBrains Mono" pitchFamily="34" charset="0"/>
                <a:ea typeface="JetBrains Mono" pitchFamily="34" charset="-122"/>
                <a:cs typeface="JetBrains Mono" pitchFamily="34" charset="-120"/>
              </a:rPr>
              <a:t>RTwP RPG</a:t>
            </a:r>
            <a:endParaRPr lang="en-US" sz="1350" dirty="0"/>
          </a:p>
        </p:txBody>
      </p:sp>
      <p:sp>
        <p:nvSpPr>
          <p:cNvPr id="5" name="Text 3"/>
          <p:cNvSpPr/>
          <p:nvPr/>
        </p:nvSpPr>
        <p:spPr>
          <a:xfrm>
            <a:off x="914400" y="1257300"/>
            <a:ext cx="18105120" cy="628650"/>
          </a:xfrm>
          <a:prstGeom prst="rect">
            <a:avLst/>
          </a:prstGeom>
          <a:noFill/>
          <a:ln/>
        </p:spPr>
        <p:txBody>
          <a:bodyPr wrap="square" lIns="25400" tIns="25400" rIns="25400" bIns="25400" rtlCol="0" anchor="t">
            <a:normAutofit lnSpcReduction="10000"/>
          </a:bodyPr>
          <a:lstStyle/>
          <a:p>
            <a:pPr marL="0" indent="0" algn="l">
              <a:buNone/>
            </a:pPr>
            <a:r>
              <a:rPr lang="en-US" sz="3900" b="1" kern="0" spc="-75" dirty="0">
                <a:solidFill>
                  <a:srgbClr val="F0EADB"/>
                </a:solidFill>
                <a:latin typeface="Noto Sans KR" pitchFamily="34" charset="0"/>
                <a:ea typeface="Noto Sans KR" pitchFamily="34" charset="-122"/>
                <a:cs typeface="Noto Sans KR" pitchFamily="34" charset="-120"/>
              </a:rPr>
              <a:t>활용 방안</a:t>
            </a:r>
            <a:endParaRPr lang="en-US" sz="3900" dirty="0"/>
          </a:p>
        </p:txBody>
      </p:sp>
      <p:sp>
        <p:nvSpPr>
          <p:cNvPr id="6" name="Shape 4"/>
          <p:cNvSpPr/>
          <p:nvPr/>
        </p:nvSpPr>
        <p:spPr>
          <a:xfrm>
            <a:off x="914400" y="2190750"/>
            <a:ext cx="5308600" cy="7210425"/>
          </a:xfrm>
          <a:prstGeom prst="roundRect">
            <a:avLst>
              <a:gd name="adj" fmla="val 1435"/>
            </a:avLst>
          </a:prstGeom>
          <a:solidFill>
            <a:srgbClr val="1A2236"/>
          </a:solidFill>
          <a:ln/>
        </p:spPr>
        <p:txBody>
          <a:bodyPr/>
          <a:lstStyle/>
          <a:p>
            <a:endParaRPr lang="ko-KR" altLang="en-US"/>
          </a:p>
        </p:txBody>
      </p:sp>
      <p:sp>
        <p:nvSpPr>
          <p:cNvPr id="7" name="Shape 5"/>
          <p:cNvSpPr/>
          <p:nvPr/>
        </p:nvSpPr>
        <p:spPr>
          <a:xfrm>
            <a:off x="914400" y="2190750"/>
            <a:ext cx="5308600" cy="38100"/>
          </a:xfrm>
          <a:prstGeom prst="rect">
            <a:avLst/>
          </a:prstGeom>
          <a:solidFill>
            <a:srgbClr val="D97757"/>
          </a:solidFill>
          <a:ln/>
        </p:spPr>
        <p:txBody>
          <a:bodyPr/>
          <a:lstStyle/>
          <a:p>
            <a:endParaRPr lang="ko-KR" altLang="en-US"/>
          </a:p>
        </p:txBody>
      </p:sp>
      <p:sp>
        <p:nvSpPr>
          <p:cNvPr id="8" name="Text 6"/>
          <p:cNvSpPr/>
          <p:nvPr/>
        </p:nvSpPr>
        <p:spPr>
          <a:xfrm>
            <a:off x="1276350" y="2647950"/>
            <a:ext cx="5043170" cy="419100"/>
          </a:xfrm>
          <a:prstGeom prst="rect">
            <a:avLst/>
          </a:prstGeom>
          <a:noFill/>
          <a:ln/>
        </p:spPr>
        <p:txBody>
          <a:bodyPr wrap="square" lIns="25400" tIns="25400" rIns="25400" bIns="25400" rtlCol="0" anchor="t">
            <a:normAutofit/>
          </a:bodyPr>
          <a:lstStyle/>
          <a:p>
            <a:pPr marL="0" indent="0" algn="l">
              <a:buNone/>
            </a:pPr>
            <a:r>
              <a:rPr lang="en-US" sz="2250" dirty="0">
                <a:solidFill>
                  <a:srgbClr val="D97757"/>
                </a:solidFill>
                <a:latin typeface="JetBrains Mono" pitchFamily="34" charset="0"/>
                <a:ea typeface="JetBrains Mono" pitchFamily="34" charset="-122"/>
                <a:cs typeface="JetBrains Mono" pitchFamily="34" charset="-120"/>
              </a:rPr>
              <a:t>01</a:t>
            </a:r>
            <a:endParaRPr lang="en-US" sz="2250" dirty="0"/>
          </a:p>
        </p:txBody>
      </p:sp>
      <p:sp>
        <p:nvSpPr>
          <p:cNvPr id="9" name="Text 7"/>
          <p:cNvSpPr/>
          <p:nvPr/>
        </p:nvSpPr>
        <p:spPr>
          <a:xfrm>
            <a:off x="1276350" y="3257550"/>
            <a:ext cx="5043170" cy="4064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F0EADB"/>
                </a:solidFill>
                <a:latin typeface="Noto Sans KR" pitchFamily="34" charset="0"/>
                <a:ea typeface="Noto Sans KR" pitchFamily="34" charset="-122"/>
                <a:cs typeface="Noto Sans KR" pitchFamily="34" charset="-120"/>
              </a:rPr>
              <a:t>포트폴리오</a:t>
            </a:r>
            <a:endParaRPr lang="en-US" sz="2400" dirty="0"/>
          </a:p>
        </p:txBody>
      </p:sp>
      <p:sp>
        <p:nvSpPr>
          <p:cNvPr id="10" name="Text 8"/>
          <p:cNvSpPr/>
          <p:nvPr/>
        </p:nvSpPr>
        <p:spPr>
          <a:xfrm>
            <a:off x="1276350" y="3816350"/>
            <a:ext cx="4722241" cy="368102"/>
          </a:xfrm>
          <a:prstGeom prst="rect">
            <a:avLst/>
          </a:prstGeom>
          <a:noFill/>
          <a:ln/>
        </p:spPr>
        <p:txBody>
          <a:bodyPr wrap="square" lIns="25400" tIns="25400" rIns="25400" bIns="25400" rtlCol="0" anchor="t">
            <a:normAutofit fontScale="92500" lnSpcReduction="10000"/>
          </a:bodyPr>
          <a:lstStyle/>
          <a:p>
            <a:pPr marL="0" indent="0" algn="l">
              <a:lnSpc>
                <a:spcPct val="165000"/>
              </a:lnSpc>
              <a:buNone/>
            </a:pPr>
            <a:r>
              <a:rPr lang="en-US" sz="1575" dirty="0">
                <a:solidFill>
                  <a:srgbClr val="8A9AB8"/>
                </a:solidFill>
                <a:latin typeface="Noto Sans KR" pitchFamily="34" charset="0"/>
                <a:ea typeface="Noto Sans KR" pitchFamily="34" charset="-122"/>
                <a:cs typeface="Noto Sans KR" pitchFamily="34" charset="-120"/>
              </a:rPr>
              <a:t>완성된 게임으로 GitHub 공개 배포 — 즉시 시연 가능</a:t>
            </a:r>
            <a:endParaRPr lang="en-US" sz="1575" dirty="0"/>
          </a:p>
        </p:txBody>
      </p:sp>
      <p:sp>
        <p:nvSpPr>
          <p:cNvPr id="11" name="Shape 9"/>
          <p:cNvSpPr/>
          <p:nvPr/>
        </p:nvSpPr>
        <p:spPr>
          <a:xfrm>
            <a:off x="6489700" y="2190750"/>
            <a:ext cx="5308600" cy="7210425"/>
          </a:xfrm>
          <a:prstGeom prst="roundRect">
            <a:avLst>
              <a:gd name="adj" fmla="val 1435"/>
            </a:avLst>
          </a:prstGeom>
          <a:solidFill>
            <a:srgbClr val="1A2236"/>
          </a:solidFill>
          <a:ln/>
        </p:spPr>
        <p:txBody>
          <a:bodyPr/>
          <a:lstStyle/>
          <a:p>
            <a:endParaRPr lang="ko-KR" altLang="en-US"/>
          </a:p>
        </p:txBody>
      </p:sp>
      <p:sp>
        <p:nvSpPr>
          <p:cNvPr id="12" name="Shape 10"/>
          <p:cNvSpPr/>
          <p:nvPr/>
        </p:nvSpPr>
        <p:spPr>
          <a:xfrm>
            <a:off x="6489700" y="2190750"/>
            <a:ext cx="5308600" cy="38100"/>
          </a:xfrm>
          <a:prstGeom prst="rect">
            <a:avLst/>
          </a:prstGeom>
          <a:solidFill>
            <a:srgbClr val="E8B84B"/>
          </a:solidFill>
          <a:ln/>
        </p:spPr>
        <p:txBody>
          <a:bodyPr/>
          <a:lstStyle/>
          <a:p>
            <a:endParaRPr lang="ko-KR" altLang="en-US"/>
          </a:p>
        </p:txBody>
      </p:sp>
      <p:sp>
        <p:nvSpPr>
          <p:cNvPr id="13" name="Text 11"/>
          <p:cNvSpPr/>
          <p:nvPr/>
        </p:nvSpPr>
        <p:spPr>
          <a:xfrm>
            <a:off x="6851650" y="2647950"/>
            <a:ext cx="5043170" cy="419100"/>
          </a:xfrm>
          <a:prstGeom prst="rect">
            <a:avLst/>
          </a:prstGeom>
          <a:noFill/>
          <a:ln/>
        </p:spPr>
        <p:txBody>
          <a:bodyPr wrap="square" lIns="25400" tIns="25400" rIns="25400" bIns="25400" rtlCol="0" anchor="t">
            <a:normAutofit/>
          </a:bodyPr>
          <a:lstStyle/>
          <a:p>
            <a:pPr marL="0" indent="0" algn="l">
              <a:buNone/>
            </a:pPr>
            <a:r>
              <a:rPr lang="en-US" sz="2250" dirty="0">
                <a:solidFill>
                  <a:srgbClr val="E8B84B"/>
                </a:solidFill>
                <a:latin typeface="JetBrains Mono" pitchFamily="34" charset="0"/>
                <a:ea typeface="JetBrains Mono" pitchFamily="34" charset="-122"/>
                <a:cs typeface="JetBrains Mono" pitchFamily="34" charset="-120"/>
              </a:rPr>
              <a:t>02</a:t>
            </a:r>
            <a:endParaRPr lang="en-US" sz="2250" dirty="0"/>
          </a:p>
        </p:txBody>
      </p:sp>
      <p:sp>
        <p:nvSpPr>
          <p:cNvPr id="14" name="Text 12"/>
          <p:cNvSpPr/>
          <p:nvPr/>
        </p:nvSpPr>
        <p:spPr>
          <a:xfrm>
            <a:off x="6851650" y="3257550"/>
            <a:ext cx="5043170" cy="4064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F0EADB"/>
                </a:solidFill>
                <a:latin typeface="Noto Sans KR" pitchFamily="34" charset="0"/>
                <a:ea typeface="Noto Sans KR" pitchFamily="34" charset="-122"/>
                <a:cs typeface="Noto Sans KR" pitchFamily="34" charset="-120"/>
              </a:rPr>
              <a:t>엔진 이식</a:t>
            </a:r>
            <a:endParaRPr lang="en-US" sz="2400" dirty="0"/>
          </a:p>
        </p:txBody>
      </p:sp>
      <p:sp>
        <p:nvSpPr>
          <p:cNvPr id="15" name="Text 13"/>
          <p:cNvSpPr/>
          <p:nvPr/>
        </p:nvSpPr>
        <p:spPr>
          <a:xfrm>
            <a:off x="6851650" y="3816350"/>
            <a:ext cx="4722241" cy="368102"/>
          </a:xfrm>
          <a:prstGeom prst="rect">
            <a:avLst/>
          </a:prstGeom>
          <a:noFill/>
          <a:ln/>
        </p:spPr>
        <p:txBody>
          <a:bodyPr wrap="square" lIns="25400" tIns="25400" rIns="25400" bIns="25400" rtlCol="0" anchor="t">
            <a:normAutofit fontScale="92500" lnSpcReduction="10000"/>
          </a:bodyPr>
          <a:lstStyle/>
          <a:p>
            <a:pPr marL="0" indent="0" algn="l">
              <a:lnSpc>
                <a:spcPct val="165000"/>
              </a:lnSpc>
              <a:buNone/>
            </a:pPr>
            <a:r>
              <a:rPr lang="en-US" sz="1575" dirty="0">
                <a:solidFill>
                  <a:srgbClr val="8A9AB8"/>
                </a:solidFill>
                <a:latin typeface="Noto Sans KR" pitchFamily="34" charset="0"/>
                <a:ea typeface="Noto Sans KR" pitchFamily="34" charset="-122"/>
                <a:cs typeface="Noto Sans KR" pitchFamily="34" charset="-120"/>
              </a:rPr>
              <a:t>RTwP 틱 엔진을 다른 규모의 RPG에 그대로 적용 가능</a:t>
            </a:r>
            <a:endParaRPr lang="en-US" sz="1575" dirty="0"/>
          </a:p>
        </p:txBody>
      </p:sp>
      <p:sp>
        <p:nvSpPr>
          <p:cNvPr id="16" name="Shape 14"/>
          <p:cNvSpPr/>
          <p:nvPr/>
        </p:nvSpPr>
        <p:spPr>
          <a:xfrm>
            <a:off x="12065001" y="2190750"/>
            <a:ext cx="5308600" cy="7210425"/>
          </a:xfrm>
          <a:prstGeom prst="roundRect">
            <a:avLst>
              <a:gd name="adj" fmla="val 1435"/>
            </a:avLst>
          </a:prstGeom>
          <a:solidFill>
            <a:srgbClr val="1A2236"/>
          </a:solidFill>
          <a:ln/>
        </p:spPr>
        <p:txBody>
          <a:bodyPr/>
          <a:lstStyle/>
          <a:p>
            <a:endParaRPr lang="ko-KR" altLang="en-US"/>
          </a:p>
        </p:txBody>
      </p:sp>
      <p:sp>
        <p:nvSpPr>
          <p:cNvPr id="17" name="Shape 15"/>
          <p:cNvSpPr/>
          <p:nvPr/>
        </p:nvSpPr>
        <p:spPr>
          <a:xfrm>
            <a:off x="12065001" y="2190750"/>
            <a:ext cx="5308600" cy="38100"/>
          </a:xfrm>
          <a:prstGeom prst="rect">
            <a:avLst/>
          </a:prstGeom>
          <a:solidFill>
            <a:srgbClr val="5BC8A8"/>
          </a:solidFill>
          <a:ln/>
        </p:spPr>
        <p:txBody>
          <a:bodyPr/>
          <a:lstStyle/>
          <a:p>
            <a:endParaRPr lang="ko-KR" altLang="en-US"/>
          </a:p>
        </p:txBody>
      </p:sp>
      <p:sp>
        <p:nvSpPr>
          <p:cNvPr id="18" name="Text 16"/>
          <p:cNvSpPr/>
          <p:nvPr/>
        </p:nvSpPr>
        <p:spPr>
          <a:xfrm>
            <a:off x="12426951" y="2647950"/>
            <a:ext cx="5043170" cy="419100"/>
          </a:xfrm>
          <a:prstGeom prst="rect">
            <a:avLst/>
          </a:prstGeom>
          <a:noFill/>
          <a:ln/>
        </p:spPr>
        <p:txBody>
          <a:bodyPr wrap="square" lIns="25400" tIns="25400" rIns="25400" bIns="25400" rtlCol="0" anchor="t">
            <a:normAutofit/>
          </a:bodyPr>
          <a:lstStyle/>
          <a:p>
            <a:pPr marL="0" indent="0" algn="l">
              <a:buNone/>
            </a:pPr>
            <a:r>
              <a:rPr lang="en-US" sz="2250" dirty="0">
                <a:solidFill>
                  <a:srgbClr val="5BC8A8"/>
                </a:solidFill>
                <a:latin typeface="JetBrains Mono" pitchFamily="34" charset="0"/>
                <a:ea typeface="JetBrains Mono" pitchFamily="34" charset="-122"/>
                <a:cs typeface="JetBrains Mono" pitchFamily="34" charset="-120"/>
              </a:rPr>
              <a:t>03</a:t>
            </a:r>
            <a:endParaRPr lang="en-US" sz="2250" dirty="0"/>
          </a:p>
        </p:txBody>
      </p:sp>
      <p:sp>
        <p:nvSpPr>
          <p:cNvPr id="19" name="Text 17"/>
          <p:cNvSpPr/>
          <p:nvPr/>
        </p:nvSpPr>
        <p:spPr>
          <a:xfrm>
            <a:off x="12426951" y="3257550"/>
            <a:ext cx="5043170" cy="4064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F0EADB"/>
                </a:solidFill>
                <a:latin typeface="Noto Sans KR" pitchFamily="34" charset="0"/>
                <a:ea typeface="Noto Sans KR" pitchFamily="34" charset="-122"/>
                <a:cs typeface="Noto Sans KR" pitchFamily="34" charset="-120"/>
              </a:rPr>
              <a:t>AI 엔지니어링 역량</a:t>
            </a:r>
            <a:endParaRPr lang="en-US" sz="2400" dirty="0"/>
          </a:p>
        </p:txBody>
      </p:sp>
      <p:sp>
        <p:nvSpPr>
          <p:cNvPr id="20" name="Text 18"/>
          <p:cNvSpPr/>
          <p:nvPr/>
        </p:nvSpPr>
        <p:spPr>
          <a:xfrm>
            <a:off x="12426951" y="3816350"/>
            <a:ext cx="4722241" cy="698103"/>
          </a:xfrm>
          <a:prstGeom prst="rect">
            <a:avLst/>
          </a:prstGeom>
          <a:noFill/>
          <a:ln/>
        </p:spPr>
        <p:txBody>
          <a:bodyPr wrap="square" lIns="25400" tIns="25400" rIns="25400" bIns="25400" rtlCol="0" anchor="t">
            <a:normAutofit fontScale="92500" lnSpcReduction="20000"/>
          </a:bodyPr>
          <a:lstStyle/>
          <a:p>
            <a:pPr marL="0" indent="0" algn="l">
              <a:lnSpc>
                <a:spcPct val="165000"/>
              </a:lnSpc>
              <a:buNone/>
            </a:pPr>
            <a:r>
              <a:rPr lang="en-US" sz="1575" dirty="0">
                <a:solidFill>
                  <a:srgbClr val="8A9AB8"/>
                </a:solidFill>
                <a:latin typeface="Noto Sans KR" pitchFamily="34" charset="0"/>
                <a:ea typeface="Noto Sans KR" pitchFamily="34" charset="-122"/>
                <a:cs typeface="Noto Sans KR" pitchFamily="34" charset="-120"/>
              </a:rPr>
              <a:t>복잡한 전투 디버깅 · AI 에이전트 엔지니어링 경험을 다른 프로젝트에도 그대로 적용</a:t>
            </a:r>
            <a:endParaRPr lang="en-US" sz="1575" dirty="0"/>
          </a:p>
        </p:txBody>
      </p:sp>
      <p:sp>
        <p:nvSpPr>
          <p:cNvPr id="21" name="Shape 19"/>
          <p:cNvSpPr/>
          <p:nvPr/>
        </p:nvSpPr>
        <p:spPr>
          <a:xfrm>
            <a:off x="914400" y="9667875"/>
            <a:ext cx="16459200" cy="9525"/>
          </a:xfrm>
          <a:prstGeom prst="rect">
            <a:avLst/>
          </a:prstGeom>
          <a:solidFill>
            <a:srgbClr val="D97757">
              <a:alpha val="30000"/>
            </a:srgbClr>
          </a:solidFill>
          <a:ln/>
        </p:spPr>
        <p:txBody>
          <a:bodyPr/>
          <a:lstStyle/>
          <a:p>
            <a:endParaRPr lang="ko-KR" altLang="en-US"/>
          </a:p>
        </p:txBody>
      </p:sp>
      <p:sp>
        <p:nvSpPr>
          <p:cNvPr id="23" name="Text 0">
            <a:extLst>
              <a:ext uri="{FF2B5EF4-FFF2-40B4-BE49-F238E27FC236}">
                <a16:creationId xmlns:a16="http://schemas.microsoft.com/office/drawing/2014/main" id="{14A8A63E-E2A0-9DA9-0689-5EA26007B4D4}"/>
              </a:ext>
            </a:extLst>
          </p:cNvPr>
          <p:cNvSpPr/>
          <p:nvPr/>
        </p:nvSpPr>
        <p:spPr>
          <a:xfrm>
            <a:off x="914400" y="609600"/>
            <a:ext cx="863005" cy="266700"/>
          </a:xfrm>
          <a:prstGeom prst="rect">
            <a:avLst/>
          </a:prstGeom>
          <a:noFill/>
          <a:ln/>
        </p:spPr>
        <p:txBody>
          <a:bodyPr wrap="square" lIns="25400" tIns="25400" rIns="25400" bIns="25400" rtlCol="0" anchor="t">
            <a:normAutofit/>
          </a:bodyPr>
          <a:lstStyle/>
          <a:p>
            <a:pPr marL="0" indent="0" algn="l">
              <a:buNone/>
            </a:pPr>
            <a:r>
              <a:rPr lang="en-US" sz="1350" kern="0" spc="75" dirty="0">
                <a:solidFill>
                  <a:srgbClr val="8A9AB8"/>
                </a:solidFill>
                <a:latin typeface="JetBrains Mono" pitchFamily="34" charset="0"/>
                <a:ea typeface="JetBrains Mono" pitchFamily="34" charset="-122"/>
                <a:cs typeface="JetBrains Mono" pitchFamily="34" charset="-120"/>
              </a:rPr>
              <a:t>21 / 22</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5" name="Text 3"/>
          <p:cNvSpPr/>
          <p:nvPr/>
        </p:nvSpPr>
        <p:spPr>
          <a:xfrm>
            <a:off x="7457122" y="4594225"/>
            <a:ext cx="3373755" cy="1098550"/>
          </a:xfrm>
          <a:prstGeom prst="rect">
            <a:avLst/>
          </a:prstGeom>
          <a:noFill/>
          <a:ln/>
        </p:spPr>
        <p:txBody>
          <a:bodyPr wrap="square" lIns="25400" tIns="25400" rIns="25400" bIns="25400" rtlCol="0" anchor="t">
            <a:normAutofit/>
          </a:bodyPr>
          <a:lstStyle/>
          <a:p>
            <a:pPr marL="0" indent="0" algn="ctr">
              <a:buNone/>
            </a:pPr>
            <a:r>
              <a:rPr lang="en-US" sz="6300" b="1" kern="0" spc="1050" dirty="0">
                <a:solidFill>
                  <a:srgbClr val="F0EADB"/>
                </a:solidFill>
                <a:latin typeface="JetBrains Mono" pitchFamily="34" charset="0"/>
                <a:ea typeface="JetBrains Mono" pitchFamily="34" charset="-122"/>
                <a:cs typeface="JetBrains Mono" pitchFamily="34" charset="-120"/>
              </a:rPr>
              <a:t>Q &amp; A</a:t>
            </a:r>
            <a:endParaRPr lang="en-US" sz="6300" dirty="0"/>
          </a:p>
        </p:txBody>
      </p:sp>
      <p:sp>
        <p:nvSpPr>
          <p:cNvPr id="6" name="Text 4"/>
          <p:cNvSpPr/>
          <p:nvPr/>
        </p:nvSpPr>
        <p:spPr>
          <a:xfrm>
            <a:off x="1312545" y="9271000"/>
            <a:ext cx="4652010" cy="292100"/>
          </a:xfrm>
          <a:prstGeom prst="rect">
            <a:avLst/>
          </a:prstGeom>
          <a:noFill/>
          <a:ln/>
        </p:spPr>
        <p:txBody>
          <a:bodyPr wrap="square" lIns="25400" tIns="25400" rIns="25400" bIns="25400" rtlCol="0" anchor="t">
            <a:normAutofit/>
          </a:bodyPr>
          <a:lstStyle/>
          <a:p>
            <a:pPr marL="0" indent="0" algn="ctr">
              <a:buNone/>
            </a:pPr>
            <a:r>
              <a:rPr lang="en-US" sz="1500" dirty="0">
                <a:solidFill>
                  <a:srgbClr val="8A9AB8"/>
                </a:solidFill>
                <a:latin typeface="JetBrains Mono" pitchFamily="34" charset="0"/>
                <a:ea typeface="JetBrains Mono" pitchFamily="34" charset="-122"/>
                <a:cs typeface="JetBrains Mono" pitchFamily="34" charset="-120"/>
              </a:rPr>
              <a:t>GitHub </a:t>
            </a:r>
            <a:r>
              <a:rPr lang="en-US" sz="1500" dirty="0">
                <a:solidFill>
                  <a:srgbClr val="79B8FF"/>
                </a:solidFill>
                <a:latin typeface="JetBrains Mono" pitchFamily="34" charset="0"/>
                <a:ea typeface="JetBrains Mono" pitchFamily="34" charset="-122"/>
                <a:cs typeface="JetBrains Mono" pitchFamily="34" charset="-120"/>
              </a:rPr>
              <a:t>github.com/llabrynth/RTwP_RPG</a:t>
            </a:r>
            <a:endParaRPr lang="en-US" sz="1500" dirty="0"/>
          </a:p>
        </p:txBody>
      </p:sp>
      <p:sp>
        <p:nvSpPr>
          <p:cNvPr id="7" name="Text 5"/>
          <p:cNvSpPr/>
          <p:nvPr/>
        </p:nvSpPr>
        <p:spPr>
          <a:xfrm>
            <a:off x="15773400" y="9271000"/>
            <a:ext cx="1028700" cy="292100"/>
          </a:xfrm>
          <a:prstGeom prst="rect">
            <a:avLst/>
          </a:prstGeom>
          <a:noFill/>
          <a:ln/>
        </p:spPr>
        <p:txBody>
          <a:bodyPr wrap="square" lIns="25400" tIns="25400" rIns="25400" bIns="25400" rtlCol="0" anchor="t">
            <a:normAutofit/>
          </a:bodyPr>
          <a:lstStyle/>
          <a:p>
            <a:pPr marL="0" indent="0" algn="ctr">
              <a:buNone/>
            </a:pPr>
            <a:r>
              <a:rPr lang="en-US" sz="1500" dirty="0">
                <a:solidFill>
                  <a:srgbClr val="8A9AB8"/>
                </a:solidFill>
                <a:latin typeface="JetBrains Mono" pitchFamily="34" charset="0"/>
                <a:ea typeface="JetBrains Mono" pitchFamily="34" charset="-122"/>
                <a:cs typeface="JetBrains Mono" pitchFamily="34" charset="-120"/>
              </a:rPr>
              <a:t>감사합니다</a:t>
            </a:r>
            <a:endParaRPr lang="en-US" sz="1500" dirty="0"/>
          </a:p>
        </p:txBody>
      </p:sp>
      <p:sp>
        <p:nvSpPr>
          <p:cNvPr id="8" name="Shape 6"/>
          <p:cNvSpPr/>
          <p:nvPr/>
        </p:nvSpPr>
        <p:spPr>
          <a:xfrm>
            <a:off x="0" y="10229850"/>
            <a:ext cx="18288000" cy="57150"/>
          </a:xfrm>
          <a:prstGeom prst="rect">
            <a:avLst/>
          </a:prstGeom>
          <a:solidFill>
            <a:srgbClr val="D97757">
              <a:alpha val="40000"/>
            </a:srgbClr>
          </a:solidFill>
          <a:ln/>
        </p:spPr>
        <p:txBody>
          <a:bodyPr/>
          <a:lstStyle/>
          <a:p>
            <a:endParaRPr lang="ko-KR"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316</TotalTime>
  <Words>2874</Words>
  <Application>Microsoft Office PowerPoint</Application>
  <PresentationFormat>사용자 지정</PresentationFormat>
  <Paragraphs>529</Paragraphs>
  <Slides>22</Slides>
  <Notes>22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22</vt:i4>
      </vt:variant>
    </vt:vector>
  </HeadingPairs>
  <TitlesOfParts>
    <vt:vector size="26" baseType="lpstr">
      <vt:lpstr>JetBrains Mono</vt:lpstr>
      <vt:lpstr>Noto Sans KR</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유창완</cp:lastModifiedBy>
  <cp:revision>3</cp:revision>
  <dcterms:created xsi:type="dcterms:W3CDTF">2026-06-21T09:27:42Z</dcterms:created>
  <dcterms:modified xsi:type="dcterms:W3CDTF">2026-06-21T14:48:13Z</dcterms:modified>
</cp:coreProperties>
</file>